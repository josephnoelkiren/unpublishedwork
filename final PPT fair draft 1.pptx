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comments/modernComment_148_7FE4B014.xml" ContentType="application/vnd.ms-powerpoint.comments+xml"/>
  <Override PartName="/ppt/comments/modernComment_1DF_CAB82273.xml" ContentType="application/vnd.ms-powerpoint.comments+xml"/>
  <Override PartName="/ppt/comments/modernComment_1B5_B5DF72EE.xml" ContentType="application/vnd.ms-powerpoint.comments+xml"/>
  <Override PartName="/ppt/comments/modernComment_1BE_18238C38.xml" ContentType="application/vnd.ms-powerpoint.comments+xml"/>
  <Override PartName="/ppt/comments/modernComment_1D2_2D602A7E.xml" ContentType="application/vnd.ms-powerpoint.comments+xml"/>
  <Override PartName="/ppt/comments/modernComment_1D4_6874C0D5.xml" ContentType="application/vnd.ms-powerpoint.comments+xml"/>
  <Override PartName="/ppt/comments/modernComment_1DE_FDB940EF.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28" r:id="rId2"/>
    <p:sldId id="479" r:id="rId3"/>
    <p:sldId id="437" r:id="rId4"/>
    <p:sldId id="446" r:id="rId5"/>
    <p:sldId id="466" r:id="rId6"/>
    <p:sldId id="467" r:id="rId7"/>
    <p:sldId id="468" r:id="rId8"/>
    <p:sldId id="478" r:id="rId9"/>
    <p:sldId id="469" r:id="rId10"/>
    <p:sldId id="474" r:id="rId11"/>
    <p:sldId id="471" r:id="rId12"/>
    <p:sldId id="473" r:id="rId13"/>
    <p:sldId id="472" r:id="rId14"/>
    <p:sldId id="480" r:id="rId15"/>
    <p:sldId id="470" r:id="rId16"/>
    <p:sldId id="440" r:id="rId17"/>
    <p:sldId id="441" r:id="rId18"/>
    <p:sldId id="449" r:id="rId19"/>
    <p:sldId id="450" r:id="rId20"/>
    <p:sldId id="451" r:id="rId21"/>
    <p:sldId id="452" r:id="rId22"/>
    <p:sldId id="453" r:id="rId23"/>
    <p:sldId id="454" r:id="rId24"/>
    <p:sldId id="455" r:id="rId25"/>
    <p:sldId id="456" r:id="rId26"/>
    <p:sldId id="457" r:id="rId27"/>
    <p:sldId id="458" r:id="rId28"/>
    <p:sldId id="459" r:id="rId29"/>
    <p:sldId id="461" r:id="rId30"/>
    <p:sldId id="464" r:id="rId31"/>
    <p:sldId id="475" r:id="rId32"/>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2F7938C-164C-A710-564E-C2581F817AE6}" name="Joseph Noel Kiren Robert" initials="JR" userId="S::10974257@polimi.it::b0e11e56-b28e-456e-88f3-7aa58eb194c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9E7A47-FB28-08EE-61A5-A7F2CFEE1BE9}" v="1412" dt="2026-10-19T17:15:13.319"/>
    <p1510:client id="{84E5577B-C7D6-F543-4559-95569CB57465}" v="3" dt="2026-10-20T19:21:30.784"/>
    <p1510:client id="{8DD79416-1E80-2588-CA9F-DF9B2A85DDEF}" v="287" dt="2026-10-19T20:55:50.0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omments/modernComment_1B5_B5DF72EE.xml><?xml version="1.0" encoding="utf-8"?>
<p188:cmLst xmlns:a="http://schemas.openxmlformats.org/drawingml/2006/main" xmlns:r="http://schemas.openxmlformats.org/officeDocument/2006/relationships" xmlns:p188="http://schemas.microsoft.com/office/powerpoint/2018/8/main">
  <p188:cm id="{9FDE07B8-9129-49B1-8674-02C277E9A8BF}" authorId="{52F7938C-164C-A710-564E-C2581F817AE6}" created="2026-10-19T12:34:16.368">
    <pc:sldMkLst xmlns:pc="http://schemas.microsoft.com/office/powerpoint/2013/main/command">
      <pc:docMk/>
      <pc:sldMk cId="3051320046" sldId="437"/>
    </pc:sldMkLst>
    <p188:txBody>
      <a:bodyPr/>
      <a:lstStyle/>
      <a:p>
        <a:r>
          <a:rPr lang="en-GB"/>
          <a:t>H₂ has high flame speed, diffusivity, reactivity and a low ignition energy coupled with a very high heating value that yields an high flame temperature... this  leads to 2 issues, the first being an unstable  (and also unsafe) combustion with flashback and auto-ignition risks, that needs to be stabilized somehow aerodynamically, using swirl that creates  a CRZ to stabilize combustion is the answer (this is a proven and established technique used in gas turbines)
the next issue is the high flame temp that enables teh zeldovish mechanism that leads to Nitrous oxide formation that leads to emission concerns, this needs to be reduced by means of stratification of combustion by means of staging, that is pushing the combustion to proceed from a rich to lean zone to quench the temperature and hence restrict the NOx formation
The dual swirl rapids H burner answers this both.</a:t>
        </a:r>
      </a:p>
    </p188:txBody>
  </p188:cm>
</p188:cmLst>
</file>

<file path=ppt/comments/modernComment_1BE_18238C38.xml><?xml version="1.0" encoding="utf-8"?>
<p188:cmLst xmlns:a="http://schemas.openxmlformats.org/drawingml/2006/main" xmlns:r="http://schemas.openxmlformats.org/officeDocument/2006/relationships" xmlns:p188="http://schemas.microsoft.com/office/powerpoint/2018/8/main">
  <p188:cm id="{EB1C488C-05F0-46A5-88B0-04D7665004EC}" authorId="{52F7938C-164C-A710-564E-C2581F817AE6}" created="2026-10-19T12:37:04.558">
    <pc:sldMkLst xmlns:pc="http://schemas.microsoft.com/office/powerpoint/2013/main/command">
      <pc:docMk/>
      <pc:sldMk cId="404982840" sldId="446"/>
    </pc:sldMkLst>
    <p188:txBody>
      <a:bodyPr/>
      <a:lstStyle/>
      <a:p>
        <a:r>
          <a:rPr lang="en-GB"/>
          <a:t>&lt;i show the image and explain how the RQL occurs in between swirls- the rich inner swirl and quenched by the lean outer swirl, the SR that  governs the swirl intensity and the constant thermal power that we will maintain, as well as explain the inner swirl model A as the base configutration that i will modify in this thesis&gt;</a:t>
        </a:r>
      </a:p>
    </p188:txBody>
  </p188:cm>
</p188:cmLst>
</file>

<file path=ppt/comments/modernComment_1D2_2D602A7E.xml><?xml version="1.0" encoding="utf-8"?>
<p188:cmLst xmlns:a="http://schemas.openxmlformats.org/drawingml/2006/main" xmlns:r="http://schemas.openxmlformats.org/officeDocument/2006/relationships" xmlns:p188="http://schemas.microsoft.com/office/powerpoint/2018/8/main">
  <p188:cm id="{B37E4DCA-8F43-4E6E-8E01-F5B0B69D2B99}" authorId="{52F7938C-164C-A710-564E-C2581F817AE6}" created="2026-10-19T12:57:39.637">
    <pc:sldMkLst xmlns:pc="http://schemas.microsoft.com/office/powerpoint/2013/main/command">
      <pc:docMk/>
      <pc:sldMk cId="761277054" sldId="466"/>
    </pc:sldMkLst>
    <p188:txBody>
      <a:bodyPr/>
      <a:lstStyle/>
      <a:p>
        <a:r>
          <a:rPr lang="en-GB"/>
          <a:t>my original contribution was that i redesigned the inner injector to reverse the swirl, with the idea that the disruption of the unified rotation can amplify the turbulent shear mixing, thereby  1. theoretically reduce the NOx formation but at the cost of 2. weakening the CRZ and reducing the stability of combustion.
my other original contribution was to build a CFD model from scratch &amp; validate with experimental PIV  to simulate the burner operation isothermally to study the aerodynamic effects of the swirl reversal
the last one being an experimental characterization of the counter swirler fkame structure, combsution stability and emissions.</a:t>
        </a:r>
      </a:p>
    </p188:txBody>
  </p188:cm>
</p188:cmLst>
</file>

<file path=ppt/comments/modernComment_1D4_6874C0D5.xml><?xml version="1.0" encoding="utf-8"?>
<p188:cmLst xmlns:a="http://schemas.openxmlformats.org/drawingml/2006/main" xmlns:r="http://schemas.openxmlformats.org/officeDocument/2006/relationships" xmlns:p188="http://schemas.microsoft.com/office/powerpoint/2018/8/main">
  <p188:cm id="{0D937790-FC12-4167-A69C-419D3DC4FE93}" authorId="{52F7938C-164C-A710-564E-C2581F817AE6}" created="2026-10-19T20:49:25.110">
    <pc:sldMkLst xmlns:pc="http://schemas.microsoft.com/office/powerpoint/2013/main/command">
      <pc:docMk/>
      <pc:sldMk cId="1752482005" sldId="468"/>
    </pc:sldMkLst>
    <p188:txBody>
      <a:bodyPr/>
      <a:lstStyle/>
      <a:p>
        <a:r>
          <a:rPr lang="en-GB"/>
          <a:t>-For our computational domain on the left, we generated a 3D polyhedral mesh utilizing a Body of BOI: to restrict aggressive local refinement exclusively to the near-field mixing and Central CRZ. To handle the intense near-wall velocity gradients without blowing up our total cell count, Kader blending was enforced for the wall treatment. (y+ issue)
-Moving to our CFD strategy in ANSYS Fluent, we adopted an isothermal 3D URANS approach using the Shear-Stress Transport k-omega
-Because double-swirl flows are highly anisotropic, standard turbulence models over-predict diffusion. To capture the closest physics, we augmented k-omega with three critical corrections: 
Corner Flow Correction to preserve swirling streamlines; Kato-Launder Limiters to eliminate unphysical turbulence generation near stagnation points; and Curvature Correction to prevent artificial dampening of angular momentum
-to resolve these strong pressure-velocity couplings smoothly, we executed a transient, pressure-based coupled solver using a bounded second-order implicit formulation to keep our global Courant number conservative</a:t>
        </a:r>
      </a:p>
    </p188:txBody>
  </p188:cm>
</p188:cmLst>
</file>

<file path=ppt/comments/modernComment_1DE_FDB940EF.xml><?xml version="1.0" encoding="utf-8"?>
<p188:cmLst xmlns:a="http://schemas.openxmlformats.org/drawingml/2006/main" xmlns:r="http://schemas.openxmlformats.org/officeDocument/2006/relationships" xmlns:p188="http://schemas.microsoft.com/office/powerpoint/2018/8/main">
  <p188:cm id="{BE2F8EFD-154F-48BF-A787-224167AC472B}" authorId="{52F7938C-164C-A710-564E-C2581F817AE6}" created="2026-10-18T21:24:04.313">
    <pc:sldMkLst xmlns:pc="http://schemas.microsoft.com/office/powerpoint/2013/main/command">
      <pc:docMk/>
      <pc:sldMk cId="4256776431" sldId="478"/>
    </pc:sldMkLst>
    <p188:txBody>
      <a:bodyPr/>
      <a:lstStyle/>
      <a:p>
        <a:r>
          <a:rPr lang="en-GB"/>
          <a:t>as previously mentioned, before drawing conclusions from the CFD, we validated the numerical model against existing Stereo-PIV data. The transient CFD profiles successfully reproduced the larger flow structure of the experimental measurements. Specifically, the simulation accurately captured the wide, M-shaped divergent jet trajectory and the robust reverse-flow pocket that characterizes the baseline co-swirl CRZ- though quantitative discrepancies in turbulent diffusion remain due to URANS limitations &amp; PIV-CFD resolution discrepancy.</a:t>
        </a:r>
      </a:p>
    </p188:txBody>
  </p188:cm>
</p188:cmLst>
</file>

<file path=ppt/comments/modernComment_1DF_CAB82273.xml><?xml version="1.0" encoding="utf-8"?>
<p188:cmLst xmlns:a="http://schemas.openxmlformats.org/drawingml/2006/main" xmlns:r="http://schemas.openxmlformats.org/officeDocument/2006/relationships" xmlns:p188="http://schemas.microsoft.com/office/powerpoint/2018/8/main">
  <p188:cm id="{89A75440-2AB2-47A3-BB75-E263D7FE76A4}" authorId="{52F7938C-164C-A710-564E-C2581F817AE6}" created="2026-10-19T12:23:40.750">
    <ac:deMkLst xmlns:ac="http://schemas.microsoft.com/office/drawing/2013/main/command">
      <pc:docMk xmlns:pc="http://schemas.microsoft.com/office/powerpoint/2013/main/command"/>
      <pc:sldMk xmlns:pc="http://schemas.microsoft.com/office/powerpoint/2013/main/command" cId="3401065075" sldId="479"/>
      <ac:spMk id="9" creationId="{DC91021D-2A22-22BF-936C-33E623EA8CDB}"/>
    </ac:deMkLst>
    <p188:txBody>
      <a:bodyPr/>
      <a:lstStyle/>
      <a:p>
        <a:r>
          <a:rPr lang="en-GB"/>
          <a:t>why H₂? a growing future energy demand coupled with a need to de-carbonize energy has caused interest in H₂ as an alternative fuel. (explain the graph quickly)
a correlated growth of aviation sector has caused the same demand, what if H₂ can be used to power aero gas turbines... that is H₂ used in combustion? such a combustion answers decarbonization well as it virtually has no Carbon oxide emissions, however hydrogen is a delicate gas that creates some challenges in combustion.</a:t>
        </a:r>
      </a:p>
    </p188:txBody>
  </p188:cm>
</p188:cmLst>
</file>

<file path=ppt/comments/modernComment_148_7FE4B014.xml><?xml version="1.0" encoding="utf-8"?>
<p188:cmLst xmlns:a="http://schemas.openxmlformats.org/drawingml/2006/main" xmlns:r="http://schemas.openxmlformats.org/officeDocument/2006/relationships" xmlns:p188="http://schemas.microsoft.com/office/powerpoint/2018/8/main">
  <p188:cm id="{BA5EC7C0-79E3-4286-A792-8A699954A86C}" authorId="{52F7938C-164C-A710-564E-C2581F817AE6}" created="2026-10-19T12:19:17.340">
    <pc:sldMkLst xmlns:pc="http://schemas.microsoft.com/office/powerpoint/2013/main/command">
      <pc:docMk/>
      <pc:sldMk cId="2145693716" sldId="328"/>
    </pc:sldMkLst>
    <p188:txBody>
      <a:bodyPr/>
      <a:lstStyle/>
      <a:p>
        <a:r>
          <a:rPr lang="en-GB"/>
          <a:t>greetings, I will be discussing the findings of my thesis work on experimental and numerical combustion of Hydrogen in a Double0swirl burner particularly focussing on the effects of swirl reversal</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21/10/2026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21/10/2026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21/10/2026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21/10/2026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21/10/2026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r="1564" b="42715"/>
          <a:stretch/>
        </p:blipFill>
        <p:spPr>
          <a:xfrm>
            <a:off x="0" y="1485900"/>
            <a:ext cx="12192000" cy="5372100"/>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2400" y="66675"/>
            <a:ext cx="4552632" cy="1348649"/>
          </a:xfrm>
          <a:prstGeom prst="rect">
            <a:avLst/>
          </a:prstGeom>
        </p:spPr>
      </p:pic>
      <p:sp>
        <p:nvSpPr>
          <p:cNvPr id="9" name="Title 8"/>
          <p:cNvSpPr>
            <a:spLocks noGrp="1"/>
          </p:cNvSpPr>
          <p:nvPr>
            <p:ph type="title" hasCustomPrompt="1"/>
          </p:nvPr>
        </p:nvSpPr>
        <p:spPr>
          <a:xfrm>
            <a:off x="838200" y="2441055"/>
            <a:ext cx="10515600" cy="1325563"/>
          </a:xfrm>
        </p:spPr>
        <p:txBody>
          <a:bodyPr/>
          <a:lstStyle>
            <a:lvl1pPr algn="ctr">
              <a:defRPr b="1" baseline="0">
                <a:solidFill>
                  <a:schemeClr val="bg1"/>
                </a:solidFill>
              </a:defRPr>
            </a:lvl1pPr>
          </a:lstStyle>
          <a:p>
            <a:r>
              <a:rPr lang="en-US"/>
              <a:t>Thesis Title</a:t>
            </a:r>
            <a:endParaRPr lang="it-IT"/>
          </a:p>
        </p:txBody>
      </p:sp>
      <p:sp>
        <p:nvSpPr>
          <p:cNvPr id="16" name="Text Placeholder 10"/>
          <p:cNvSpPr>
            <a:spLocks noGrp="1"/>
          </p:cNvSpPr>
          <p:nvPr>
            <p:ph type="body" sz="quarter" idx="11" hasCustomPrompt="1"/>
          </p:nvPr>
        </p:nvSpPr>
        <p:spPr>
          <a:xfrm>
            <a:off x="393353" y="5415995"/>
            <a:ext cx="3527854" cy="319859"/>
          </a:xfrm>
          <a:prstGeom prst="rect">
            <a:avLst/>
          </a:prstGeom>
        </p:spPr>
        <p:txBody>
          <a:bodyPr/>
          <a:lstStyle>
            <a:lvl1pPr marL="0" indent="0">
              <a:buNone/>
              <a:defRPr sz="1600" b="0" baseline="0">
                <a:solidFill>
                  <a:schemeClr val="bg1"/>
                </a:solidFill>
                <a:latin typeface="+mj-lt"/>
              </a:defRPr>
            </a:lvl1pPr>
          </a:lstStyle>
          <a:p>
            <a:pPr lvl="0"/>
            <a:r>
              <a:rPr lang="en-US"/>
              <a:t>Supervisor</a:t>
            </a:r>
            <a:endParaRPr lang="it-IT"/>
          </a:p>
        </p:txBody>
      </p:sp>
      <p:sp>
        <p:nvSpPr>
          <p:cNvPr id="17" name="Text Placeholder 10"/>
          <p:cNvSpPr>
            <a:spLocks noGrp="1"/>
          </p:cNvSpPr>
          <p:nvPr>
            <p:ph type="body" sz="quarter" idx="12" hasCustomPrompt="1"/>
          </p:nvPr>
        </p:nvSpPr>
        <p:spPr>
          <a:xfrm>
            <a:off x="393353" y="5888254"/>
            <a:ext cx="3527854" cy="319859"/>
          </a:xfrm>
          <a:prstGeom prst="rect">
            <a:avLst/>
          </a:prstGeom>
        </p:spPr>
        <p:txBody>
          <a:bodyPr/>
          <a:lstStyle>
            <a:lvl1pPr marL="0" indent="0">
              <a:buNone/>
              <a:defRPr sz="1600" b="0" baseline="0">
                <a:solidFill>
                  <a:schemeClr val="bg1"/>
                </a:solidFill>
                <a:latin typeface="+mj-lt"/>
              </a:defRPr>
            </a:lvl1pPr>
          </a:lstStyle>
          <a:p>
            <a:pPr lvl="0"/>
            <a:r>
              <a:rPr lang="en-US"/>
              <a:t>Co-Supervisor</a:t>
            </a:r>
            <a:endParaRPr lang="it-IT"/>
          </a:p>
        </p:txBody>
      </p:sp>
      <p:sp>
        <p:nvSpPr>
          <p:cNvPr id="20" name="Text Placeholder 10"/>
          <p:cNvSpPr>
            <a:spLocks noGrp="1"/>
          </p:cNvSpPr>
          <p:nvPr>
            <p:ph type="body" sz="quarter" idx="14" hasCustomPrompt="1"/>
          </p:nvPr>
        </p:nvSpPr>
        <p:spPr>
          <a:xfrm>
            <a:off x="8305798" y="5415995"/>
            <a:ext cx="3527854" cy="319859"/>
          </a:xfrm>
          <a:prstGeom prst="rect">
            <a:avLst/>
          </a:prstGeom>
        </p:spPr>
        <p:txBody>
          <a:bodyPr/>
          <a:lstStyle>
            <a:lvl1pPr marL="0" indent="0" algn="r">
              <a:buNone/>
              <a:defRPr sz="1600" b="0" baseline="0">
                <a:solidFill>
                  <a:schemeClr val="bg1"/>
                </a:solidFill>
                <a:latin typeface="+mj-lt"/>
              </a:defRPr>
            </a:lvl1pPr>
          </a:lstStyle>
          <a:p>
            <a:pPr lvl="0"/>
            <a:r>
              <a:rPr lang="en-US"/>
              <a:t>Candidate</a:t>
            </a:r>
            <a:endParaRPr lang="it-IT"/>
          </a:p>
        </p:txBody>
      </p:sp>
      <p:sp>
        <p:nvSpPr>
          <p:cNvPr id="21" name="Text Placeholder 10"/>
          <p:cNvSpPr>
            <a:spLocks noGrp="1"/>
          </p:cNvSpPr>
          <p:nvPr>
            <p:ph type="body" sz="quarter" idx="15" hasCustomPrompt="1"/>
          </p:nvPr>
        </p:nvSpPr>
        <p:spPr>
          <a:xfrm>
            <a:off x="8305798" y="5888254"/>
            <a:ext cx="3527854" cy="319859"/>
          </a:xfrm>
          <a:prstGeom prst="rect">
            <a:avLst/>
          </a:prstGeom>
        </p:spPr>
        <p:txBody>
          <a:bodyPr/>
          <a:lstStyle>
            <a:lvl1pPr marL="0" indent="0" algn="r">
              <a:buNone/>
              <a:defRPr sz="1600" b="0" baseline="0">
                <a:solidFill>
                  <a:schemeClr val="bg1"/>
                </a:solidFill>
                <a:latin typeface="+mj-lt"/>
              </a:defRPr>
            </a:lvl1pPr>
          </a:lstStyle>
          <a:p>
            <a:pPr lvl="0"/>
            <a:r>
              <a:rPr lang="en-US"/>
              <a:t>Academic Year</a:t>
            </a:r>
            <a:endParaRPr lang="it-IT"/>
          </a:p>
        </p:txBody>
      </p:sp>
      <p:sp>
        <p:nvSpPr>
          <p:cNvPr id="22" name="TextBox 21"/>
          <p:cNvSpPr txBox="1"/>
          <p:nvPr userDrawn="1"/>
        </p:nvSpPr>
        <p:spPr>
          <a:xfrm>
            <a:off x="4069090" y="6208113"/>
            <a:ext cx="4053819" cy="523220"/>
          </a:xfrm>
          <a:prstGeom prst="rect">
            <a:avLst/>
          </a:prstGeom>
          <a:noFill/>
        </p:spPr>
        <p:txBody>
          <a:bodyPr wrap="square" rtlCol="0">
            <a:spAutoFit/>
          </a:bodyPr>
          <a:lstStyle/>
          <a:p>
            <a:pPr algn="ctr"/>
            <a:r>
              <a:rPr lang="it-IT" sz="1200" baseline="0">
                <a:solidFill>
                  <a:schemeClr val="bg1"/>
                </a:solidFill>
                <a:latin typeface="+mj-lt"/>
              </a:rPr>
              <a:t>School of Industrial and Information Engineering</a:t>
            </a:r>
          </a:p>
          <a:p>
            <a:pPr algn="ctr"/>
            <a:r>
              <a:rPr lang="it-IT" sz="1600" baseline="0">
                <a:solidFill>
                  <a:schemeClr val="bg1"/>
                </a:solidFill>
                <a:latin typeface="+mj-lt"/>
              </a:rPr>
              <a:t>Master of Science – </a:t>
            </a:r>
            <a:r>
              <a:rPr lang="it-IT" sz="1600" baseline="0" err="1">
                <a:solidFill>
                  <a:schemeClr val="bg1"/>
                </a:solidFill>
                <a:latin typeface="+mj-lt"/>
              </a:rPr>
              <a:t>Aeronautical</a:t>
            </a:r>
            <a:r>
              <a:rPr lang="it-IT" sz="1600" baseline="0">
                <a:solidFill>
                  <a:schemeClr val="bg1"/>
                </a:solidFill>
                <a:latin typeface="+mj-lt"/>
              </a:rPr>
              <a:t>  Engineering</a:t>
            </a:r>
          </a:p>
        </p:txBody>
      </p:sp>
    </p:spTree>
    <p:extLst>
      <p:ext uri="{BB962C8B-B14F-4D97-AF65-F5344CB8AC3E}">
        <p14:creationId xmlns:p14="http://schemas.microsoft.com/office/powerpoint/2010/main" val="8096334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r="891" b="2733"/>
          <a:stretch/>
        </p:blipFill>
        <p:spPr>
          <a:xfrm>
            <a:off x="-1" y="6226218"/>
            <a:ext cx="12191999" cy="631782"/>
          </a:xfrm>
          <a:prstGeom prst="rect">
            <a:avLst/>
          </a:prstGeom>
        </p:spPr>
      </p:pic>
      <p:pic>
        <p:nvPicPr>
          <p:cNvPr id="7" name="Picture 6"/>
          <p:cNvPicPr>
            <a:picLocks noChangeAspect="1"/>
          </p:cNvPicPr>
          <p:nvPr userDrawn="1"/>
        </p:nvPicPr>
        <p:blipFill rotWithShape="1">
          <a:blip r:embed="rId3" cstate="print">
            <a:extLst>
              <a:ext uri="{28A0092B-C50C-407E-A947-70E740481C1C}">
                <a14:useLocalDpi xmlns:a14="http://schemas.microsoft.com/office/drawing/2010/main" val="0"/>
              </a:ext>
            </a:extLst>
          </a:blip>
          <a:srcRect t="61196" r="782"/>
          <a:stretch/>
        </p:blipFill>
        <p:spPr>
          <a:xfrm>
            <a:off x="0" y="0"/>
            <a:ext cx="12191999" cy="1023806"/>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9532" y="6267469"/>
            <a:ext cx="3083718" cy="551728"/>
          </a:xfrm>
          <a:prstGeom prst="rect">
            <a:avLst/>
          </a:prstGeom>
        </p:spPr>
      </p:pic>
      <p:sp>
        <p:nvSpPr>
          <p:cNvPr id="16" name="Slide Number Placeholder 15"/>
          <p:cNvSpPr>
            <a:spLocks noGrp="1"/>
          </p:cNvSpPr>
          <p:nvPr>
            <p:ph type="sldNum" sz="quarter" idx="12"/>
          </p:nvPr>
        </p:nvSpPr>
        <p:spPr>
          <a:xfrm>
            <a:off x="11013988" y="6359546"/>
            <a:ext cx="965887" cy="365125"/>
          </a:xfrm>
        </p:spPr>
        <p:txBody>
          <a:bodyPr/>
          <a:lstStyle>
            <a:lvl1pPr>
              <a:defRPr sz="1600" b="1" i="0" baseline="0">
                <a:solidFill>
                  <a:schemeClr val="bg1"/>
                </a:solidFill>
                <a:latin typeface="+mj-lt"/>
                <a:cs typeface="Calibri" panose="020F0502020204030204" pitchFamily="34" charset="0"/>
              </a:defRPr>
            </a:lvl1pPr>
          </a:lstStyle>
          <a:p>
            <a:fld id="{DCE09022-C08B-4F34-B9F0-43AC160DA04C}" type="slidenum">
              <a:rPr lang="it-IT" smtClean="0"/>
              <a:pPr/>
              <a:t>‹#›</a:t>
            </a:fld>
            <a:endParaRPr lang="it-IT"/>
          </a:p>
        </p:txBody>
      </p:sp>
      <p:sp>
        <p:nvSpPr>
          <p:cNvPr id="18" name="Title 17"/>
          <p:cNvSpPr>
            <a:spLocks noGrp="1"/>
          </p:cNvSpPr>
          <p:nvPr>
            <p:ph type="title"/>
          </p:nvPr>
        </p:nvSpPr>
        <p:spPr>
          <a:xfrm>
            <a:off x="105355" y="90617"/>
            <a:ext cx="6971271" cy="543697"/>
          </a:xfrm>
        </p:spPr>
        <p:txBody>
          <a:bodyPr>
            <a:normAutofit/>
          </a:bodyPr>
          <a:lstStyle>
            <a:lvl1pPr>
              <a:defRPr sz="2800" b="1" i="1" baseline="0">
                <a:solidFill>
                  <a:schemeClr val="bg1"/>
                </a:solidFill>
                <a:latin typeface="+mj-lt"/>
              </a:defRPr>
            </a:lvl1pPr>
          </a:lstStyle>
          <a:p>
            <a:r>
              <a:rPr lang="en-US"/>
              <a:t>Click to edit Master title style</a:t>
            </a:r>
            <a:endParaRPr lang="it-IT"/>
          </a:p>
        </p:txBody>
      </p:sp>
    </p:spTree>
    <p:extLst>
      <p:ext uri="{BB962C8B-B14F-4D97-AF65-F5344CB8AC3E}">
        <p14:creationId xmlns:p14="http://schemas.microsoft.com/office/powerpoint/2010/main" val="474678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21/10/2026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8/10/relationships/comments" Target="../comments/modernComment_148_7FE4B014.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8/10/relationships/comments" Target="../comments/modernComment_1DF_CAB82273.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microsoft.com/office/2018/10/relationships/comments" Target="../comments/modernComment_1B5_B5DF72EE.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microsoft.com/office/2018/10/relationships/comments" Target="../comments/modernComment_1BE_18238C38.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1D2_2D602A7E.xml"/><Relationship Id="rId1" Type="http://schemas.openxmlformats.org/officeDocument/2006/relationships/slideLayout" Target="../slideLayouts/slideLayout13.xml"/><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microsoft.com/office/2018/10/relationships/comments" Target="../comments/modernComment_1D4_6874C0D5.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microsoft.com/office/2018/10/relationships/comments" Target="../comments/modernComment_1DE_FDB940EF.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4.jpeg"/><Relationship Id="rId7" Type="http://schemas.openxmlformats.org/officeDocument/2006/relationships/image" Target="../media/image38.gif"/><Relationship Id="rId2" Type="http://schemas.openxmlformats.org/officeDocument/2006/relationships/image" Target="../media/image33.jpeg"/><Relationship Id="rId1" Type="http://schemas.openxmlformats.org/officeDocument/2006/relationships/slideLayout" Target="../slideLayouts/slideLayout13.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3.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23.png"/><Relationship Id="rId1" Type="http://schemas.openxmlformats.org/officeDocument/2006/relationships/slideLayout" Target="../slideLayouts/slideLayout13.xml"/><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1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3.xml"/><Relationship Id="rId4" Type="http://schemas.openxmlformats.org/officeDocument/2006/relationships/image" Target="../media/image71.png"/></Relationships>
</file>

<file path=ppt/slides/_rels/slide31.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BA6CA9-4D1B-27F9-743E-B1386B20FDE8}"/>
              </a:ext>
            </a:extLst>
          </p:cNvPr>
          <p:cNvSpPr>
            <a:spLocks noGrp="1"/>
          </p:cNvSpPr>
          <p:nvPr>
            <p:ph type="title"/>
          </p:nvPr>
        </p:nvSpPr>
        <p:spPr/>
        <p:txBody>
          <a:bodyPr vert="horz" lIns="91440" tIns="45720" rIns="91440" bIns="45720" rtlCol="0" anchor="ctr">
            <a:noAutofit/>
          </a:bodyPr>
          <a:lstStyle/>
          <a:p>
            <a:r>
              <a:rPr lang="en-GB" sz="3200" dirty="0">
                <a:ea typeface="+mj-lt"/>
                <a:cs typeface="+mj-lt"/>
              </a:rPr>
              <a:t>Experimental &amp; Numerical Analysis of Flow Dynamics, Flame </a:t>
            </a:r>
            <a:r>
              <a:rPr lang="en-GB" sz="3200">
                <a:ea typeface="+mj-lt"/>
                <a:cs typeface="+mj-lt"/>
              </a:rPr>
              <a:t>Morphology and Emissions in a 100% Hydrogen Double-</a:t>
            </a:r>
            <a:r>
              <a:rPr lang="en-GB" sz="3200" dirty="0">
                <a:ea typeface="+mj-lt"/>
                <a:cs typeface="+mj-lt"/>
              </a:rPr>
              <a:t>Swirl Burner under Co- &amp; Counter- Swirl Configurations</a:t>
            </a:r>
            <a:endParaRPr lang="en-US" sz="3200" dirty="0"/>
          </a:p>
        </p:txBody>
      </p:sp>
      <p:sp>
        <p:nvSpPr>
          <p:cNvPr id="4" name="Text Placeholder 3">
            <a:extLst>
              <a:ext uri="{FF2B5EF4-FFF2-40B4-BE49-F238E27FC236}">
                <a16:creationId xmlns:a16="http://schemas.microsoft.com/office/drawing/2014/main" id="{188481B1-95B5-9575-6195-A378BEC37A9F}"/>
              </a:ext>
            </a:extLst>
          </p:cNvPr>
          <p:cNvSpPr>
            <a:spLocks noGrp="1"/>
          </p:cNvSpPr>
          <p:nvPr>
            <p:ph type="body" sz="quarter" idx="11"/>
          </p:nvPr>
        </p:nvSpPr>
        <p:spPr/>
        <p:txBody>
          <a:bodyPr vert="horz" lIns="91440" tIns="45720" rIns="91440" bIns="45720" rtlCol="0" anchor="t">
            <a:normAutofit/>
          </a:bodyPr>
          <a:lstStyle/>
          <a:p>
            <a:r>
              <a:rPr lang="en-GB"/>
              <a:t>Prof. Fabio Cozzi</a:t>
            </a:r>
          </a:p>
        </p:txBody>
      </p:sp>
      <p:sp>
        <p:nvSpPr>
          <p:cNvPr id="6" name="Text Placeholder 5">
            <a:extLst>
              <a:ext uri="{FF2B5EF4-FFF2-40B4-BE49-F238E27FC236}">
                <a16:creationId xmlns:a16="http://schemas.microsoft.com/office/drawing/2014/main" id="{77191A36-C40F-0FFA-3A5B-F2A3762CDF8D}"/>
              </a:ext>
            </a:extLst>
          </p:cNvPr>
          <p:cNvSpPr>
            <a:spLocks noGrp="1"/>
          </p:cNvSpPr>
          <p:nvPr>
            <p:ph type="body" sz="quarter" idx="14"/>
          </p:nvPr>
        </p:nvSpPr>
        <p:spPr/>
        <p:txBody>
          <a:bodyPr vert="horz" lIns="91440" tIns="45720" rIns="91440" bIns="45720" rtlCol="0" anchor="t">
            <a:normAutofit/>
          </a:bodyPr>
          <a:lstStyle/>
          <a:p>
            <a:r>
              <a:rPr lang="en-GB"/>
              <a:t>Joseph Noel Kiren</a:t>
            </a:r>
          </a:p>
        </p:txBody>
      </p:sp>
      <p:sp>
        <p:nvSpPr>
          <p:cNvPr id="7" name="Text Placeholder 6">
            <a:extLst>
              <a:ext uri="{FF2B5EF4-FFF2-40B4-BE49-F238E27FC236}">
                <a16:creationId xmlns:a16="http://schemas.microsoft.com/office/drawing/2014/main" id="{2094B027-B806-8CEF-A8BF-F659976FAD5A}"/>
              </a:ext>
            </a:extLst>
          </p:cNvPr>
          <p:cNvSpPr>
            <a:spLocks noGrp="1"/>
          </p:cNvSpPr>
          <p:nvPr>
            <p:ph type="body" sz="quarter" idx="15"/>
          </p:nvPr>
        </p:nvSpPr>
        <p:spPr/>
        <p:txBody>
          <a:bodyPr vert="horz" lIns="91440" tIns="45720" rIns="91440" bIns="45720" rtlCol="0" anchor="t">
            <a:normAutofit/>
          </a:bodyPr>
          <a:lstStyle/>
          <a:p>
            <a:r>
              <a:rPr lang="en-GB"/>
              <a:t>2026</a:t>
            </a:r>
          </a:p>
        </p:txBody>
      </p:sp>
      <p:sp>
        <p:nvSpPr>
          <p:cNvPr id="2" name="Slide Number Placeholder 1">
            <a:extLst>
              <a:ext uri="{FF2B5EF4-FFF2-40B4-BE49-F238E27FC236}">
                <a16:creationId xmlns:a16="http://schemas.microsoft.com/office/drawing/2014/main" id="{5EED2916-7134-586F-F2B2-C5BF8615EC6C}"/>
              </a:ext>
            </a:extLst>
          </p:cNvPr>
          <p:cNvSpPr>
            <a:spLocks noGrp="1"/>
          </p:cNvSpPr>
          <p:nvPr>
            <p:ph type="sldNum" sz="quarter" idx="4294967295"/>
          </p:nvPr>
        </p:nvSpPr>
        <p:spPr>
          <a:xfrm>
            <a:off x="11226800" y="6359525"/>
            <a:ext cx="965200" cy="365125"/>
          </a:xfrm>
        </p:spPr>
        <p:txBody>
          <a:bodyPr/>
          <a:lstStyle/>
          <a:p>
            <a:fld id="{DCE09022-C08B-4F34-B9F0-43AC160DA04C}" type="slidenum">
              <a:rPr lang="it-IT" smtClean="0"/>
              <a:pPr/>
              <a:t>1</a:t>
            </a:fld>
            <a:endParaRPr lang="it-IT"/>
          </a:p>
        </p:txBody>
      </p:sp>
      <p:pic>
        <p:nvPicPr>
          <p:cNvPr id="8" name="Picture 7">
            <a:extLst>
              <a:ext uri="{FF2B5EF4-FFF2-40B4-BE49-F238E27FC236}">
                <a16:creationId xmlns:a16="http://schemas.microsoft.com/office/drawing/2014/main" id="{7C089E2F-D22B-394D-7A22-E4F454422C23}"/>
              </a:ext>
            </a:extLst>
          </p:cNvPr>
          <p:cNvPicPr>
            <a:picLocks noChangeAspect="1"/>
          </p:cNvPicPr>
          <p:nvPr/>
        </p:nvPicPr>
        <p:blipFill>
          <a:blip r:embed="rId3"/>
          <a:stretch>
            <a:fillRect/>
          </a:stretch>
        </p:blipFill>
        <p:spPr>
          <a:xfrm>
            <a:off x="10699871" y="72659"/>
            <a:ext cx="1294179" cy="1320068"/>
          </a:xfrm>
          <a:prstGeom prst="rect">
            <a:avLst/>
          </a:prstGeom>
        </p:spPr>
      </p:pic>
    </p:spTree>
    <p:extLst>
      <p:ext uri="{BB962C8B-B14F-4D97-AF65-F5344CB8AC3E}">
        <p14:creationId xmlns:p14="http://schemas.microsoft.com/office/powerpoint/2010/main" val="2145693716"/>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23A17-50D9-26DE-D462-3FE4DE2344FE}"/>
              </a:ext>
            </a:extLst>
          </p:cNvPr>
          <p:cNvSpPr>
            <a:spLocks noGrp="1"/>
          </p:cNvSpPr>
          <p:nvPr>
            <p:ph type="title"/>
          </p:nvPr>
        </p:nvSpPr>
        <p:spPr/>
        <p:txBody>
          <a:bodyPr>
            <a:normAutofit fontScale="90000"/>
          </a:bodyPr>
          <a:lstStyle/>
          <a:p>
            <a:r>
              <a:rPr lang="en-GB"/>
              <a:t>Motivation-</a:t>
            </a:r>
            <a:r>
              <a:rPr lang="en-GB" b="0" i="0" dirty="0"/>
              <a:t> </a:t>
            </a:r>
            <a:r>
              <a:rPr lang="en-GB" b="0" i="0">
                <a:ea typeface="+mj-lt"/>
                <a:cs typeface="+mj-lt"/>
              </a:rPr>
              <a:t>Decarbonization &amp; Hydrogen Transition</a:t>
            </a:r>
            <a:endParaRPr lang="en-GB" b="0" i="0">
              <a:solidFill>
                <a:srgbClr val="FFFFFF"/>
              </a:solidFill>
            </a:endParaRPr>
          </a:p>
        </p:txBody>
      </p:sp>
      <p:sp>
        <p:nvSpPr>
          <p:cNvPr id="9" name="TextBox 8">
            <a:extLst>
              <a:ext uri="{FF2B5EF4-FFF2-40B4-BE49-F238E27FC236}">
                <a16:creationId xmlns:a16="http://schemas.microsoft.com/office/drawing/2014/main" id="{DC91021D-2A22-22BF-936C-33E623EA8CDB}"/>
              </a:ext>
            </a:extLst>
          </p:cNvPr>
          <p:cNvSpPr txBox="1"/>
          <p:nvPr/>
        </p:nvSpPr>
        <p:spPr>
          <a:xfrm>
            <a:off x="5926666" y="1121833"/>
            <a:ext cx="6265332"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
            </a:pPr>
            <a:r>
              <a:rPr lang="en-GB" sz="2000" b="1">
                <a:latin typeface="Aptos Display"/>
              </a:rPr>
              <a:t>Decarbonization imperative</a:t>
            </a:r>
            <a:r>
              <a:rPr lang="en-GB" sz="2000">
                <a:latin typeface="Aptos Display"/>
              </a:rPr>
              <a:t>: </a:t>
            </a:r>
            <a:r>
              <a:rPr lang="en-GB" sz="2000">
                <a:latin typeface="Aptos Display"/>
                <a:ea typeface="+mn-lt"/>
                <a:cs typeface="+mn-lt"/>
              </a:rPr>
              <a:t>Reaching Net Zero targets requires replacing fossil fuels in major sectors</a:t>
            </a:r>
            <a:r>
              <a:rPr lang="en-GB" sz="2000">
                <a:latin typeface="Aptos Display"/>
              </a:rPr>
              <a:t>; coupled with growing</a:t>
            </a:r>
            <a:r>
              <a:rPr lang="en-GB" sz="2000" dirty="0">
                <a:latin typeface="Aptos Display"/>
              </a:rPr>
              <a:t> </a:t>
            </a:r>
            <a:r>
              <a:rPr lang="en-GB" sz="2000" b="1" i="1" dirty="0">
                <a:latin typeface="Aptos Display"/>
              </a:rPr>
              <a:t>Global Energy Demand has</a:t>
            </a:r>
            <a:r>
              <a:rPr lang="en-GB" sz="2000" dirty="0">
                <a:latin typeface="Aptos Display"/>
              </a:rPr>
              <a:t> created interest in </a:t>
            </a:r>
            <a:r>
              <a:rPr lang="en-GB" sz="2000" b="1" i="1">
                <a:latin typeface="Aptos Display"/>
              </a:rPr>
              <a:t>Hydrogen as an alternative fuel</a:t>
            </a:r>
            <a:r>
              <a:rPr lang="en-GB" sz="2000">
                <a:latin typeface="Aptos Display"/>
              </a:rPr>
              <a:t>.</a:t>
            </a:r>
          </a:p>
          <a:p>
            <a:endParaRPr lang="en-GB" sz="2000" dirty="0">
              <a:latin typeface="Aptos Display"/>
              <a:ea typeface="+mn-lt"/>
              <a:cs typeface="+mn-lt"/>
            </a:endParaRPr>
          </a:p>
          <a:p>
            <a:pPr marL="285750" indent="-285750">
              <a:buFont typeface="Wingdings"/>
              <a:buChar char="§"/>
            </a:pPr>
            <a:r>
              <a:rPr lang="en-GB" sz="2000" b="1">
                <a:latin typeface="Aptos Display"/>
                <a:ea typeface="+mn-lt"/>
                <a:cs typeface="+mn-lt"/>
              </a:rPr>
              <a:t>Role in Aviation:</a:t>
            </a:r>
            <a:r>
              <a:rPr lang="en-GB" sz="2000">
                <a:latin typeface="Aptos Display"/>
                <a:ea typeface="+mn-lt"/>
                <a:cs typeface="+mn-lt"/>
              </a:rPr>
              <a:t> Rapidly growing aviation demand requires </a:t>
            </a:r>
            <a:r>
              <a:rPr lang="en-GB">
                <a:latin typeface="Aptos Display"/>
                <a:ea typeface="+mn-lt"/>
                <a:cs typeface="+mn-lt"/>
              </a:rPr>
              <a:t>H₂</a:t>
            </a:r>
            <a:r>
              <a:rPr lang="en-GB" sz="2000">
                <a:latin typeface="Aptos Display"/>
                <a:ea typeface="+mn-lt"/>
                <a:cs typeface="+mn-lt"/>
              </a:rPr>
              <a:t>-based fuels to achieve zero-carbon-oxide combustion emissions.</a:t>
            </a:r>
            <a:endParaRPr lang="en-GB" sz="2000">
              <a:latin typeface="Aptos Display"/>
            </a:endParaRPr>
          </a:p>
          <a:p>
            <a:pPr marL="285750" indent="-285750">
              <a:buFont typeface="Wingdings"/>
              <a:buChar char="§"/>
            </a:pPr>
            <a:endParaRPr lang="en-GB" sz="2000" dirty="0">
              <a:latin typeface="Aptos Display"/>
            </a:endParaRPr>
          </a:p>
          <a:p>
            <a:endParaRPr lang="en-GB" sz="2000" dirty="0">
              <a:solidFill>
                <a:srgbClr val="000000"/>
              </a:solidFill>
              <a:latin typeface="Aptos Display"/>
              <a:ea typeface="+mn-lt"/>
              <a:cs typeface="+mn-lt"/>
            </a:endParaRPr>
          </a:p>
          <a:p>
            <a:pPr marL="285750" indent="-285750">
              <a:buFont typeface="Wingdings"/>
              <a:buChar char="§"/>
            </a:pPr>
            <a:endParaRPr lang="en-GB" sz="2000" dirty="0">
              <a:solidFill>
                <a:srgbClr val="000000"/>
              </a:solidFill>
              <a:latin typeface="Aptos Display"/>
              <a:ea typeface="+mn-lt"/>
              <a:cs typeface="+mn-lt"/>
            </a:endParaRPr>
          </a:p>
          <a:p>
            <a:endParaRPr lang="en-GB" sz="2000" dirty="0">
              <a:solidFill>
                <a:srgbClr val="000000"/>
              </a:solidFill>
              <a:latin typeface="Aptos Display"/>
              <a:ea typeface="+mn-lt"/>
              <a:cs typeface="+mn-lt"/>
            </a:endParaRPr>
          </a:p>
          <a:p>
            <a:endParaRPr lang="en-GB" sz="2000" dirty="0">
              <a:solidFill>
                <a:srgbClr val="000000"/>
              </a:solidFill>
              <a:latin typeface="Aptos Display"/>
              <a:ea typeface="+mn-lt"/>
              <a:cs typeface="+mn-lt"/>
            </a:endParaRPr>
          </a:p>
          <a:p>
            <a:pPr marL="285750" indent="-285750">
              <a:buFont typeface="Wingdings"/>
              <a:buChar char="§"/>
            </a:pPr>
            <a:r>
              <a:rPr lang="en-GB" sz="2000" b="1" dirty="0">
                <a:solidFill>
                  <a:srgbClr val="FF0000"/>
                </a:solidFill>
                <a:latin typeface="Aptos Display"/>
                <a:ea typeface="+mn-lt"/>
                <a:cs typeface="+mn-lt"/>
              </a:rPr>
              <a:t>The Technical Challenge:</a:t>
            </a:r>
            <a:r>
              <a:rPr lang="en-GB" sz="2000" dirty="0">
                <a:solidFill>
                  <a:srgbClr val="FF0000"/>
                </a:solidFill>
                <a:latin typeface="Aptos Display"/>
                <a:ea typeface="+mn-lt"/>
                <a:cs typeface="+mn-lt"/>
              </a:rPr>
              <a:t>  </a:t>
            </a:r>
            <a:r>
              <a:rPr lang="en-GB" dirty="0">
                <a:solidFill>
                  <a:srgbClr val="FF0000"/>
                </a:solidFill>
                <a:latin typeface="Aptos Display"/>
                <a:ea typeface="+mn-lt"/>
                <a:cs typeface="+mn-lt"/>
              </a:rPr>
              <a:t>H₂</a:t>
            </a:r>
            <a:r>
              <a:rPr lang="en-GB" dirty="0">
                <a:solidFill>
                  <a:srgbClr val="000000"/>
                </a:solidFill>
                <a:latin typeface="Aptos Display"/>
                <a:ea typeface="+mn-lt"/>
                <a:cs typeface="+mn-lt"/>
              </a:rPr>
              <a:t> </a:t>
            </a:r>
            <a:r>
              <a:rPr lang="en-GB" sz="2000" dirty="0">
                <a:solidFill>
                  <a:srgbClr val="FF0000"/>
                </a:solidFill>
                <a:latin typeface="Aptos Display"/>
                <a:ea typeface="+mn-lt"/>
                <a:cs typeface="+mn-lt"/>
              </a:rPr>
              <a:t>combustion introduces severe operational hurdles in flame stabilization and emission </a:t>
            </a:r>
            <a:r>
              <a:rPr lang="en-GB" sz="2000">
                <a:solidFill>
                  <a:srgbClr val="FF0000"/>
                </a:solidFill>
                <a:latin typeface="Aptos Display"/>
                <a:ea typeface="+mn-lt"/>
                <a:cs typeface="+mn-lt"/>
              </a:rPr>
              <a:t>control.</a:t>
            </a:r>
            <a:endParaRPr lang="en-GB" sz="2000">
              <a:solidFill>
                <a:srgbClr val="FF0000"/>
              </a:solidFill>
              <a:latin typeface="Aptos Display"/>
            </a:endParaRPr>
          </a:p>
        </p:txBody>
      </p:sp>
      <p:pic>
        <p:nvPicPr>
          <p:cNvPr id="10" name="Picture 9" descr="A white airplane flying in the sky&#10;&#10;AI-generated content may be incorrect.">
            <a:extLst>
              <a:ext uri="{FF2B5EF4-FFF2-40B4-BE49-F238E27FC236}">
                <a16:creationId xmlns:a16="http://schemas.microsoft.com/office/drawing/2014/main" id="{166F7ED7-6CE2-4953-00C8-2740879433B9}"/>
              </a:ext>
            </a:extLst>
          </p:cNvPr>
          <p:cNvPicPr>
            <a:picLocks noChangeAspect="1"/>
          </p:cNvPicPr>
          <p:nvPr/>
        </p:nvPicPr>
        <p:blipFill>
          <a:blip r:embed="rId3"/>
          <a:stretch>
            <a:fillRect/>
          </a:stretch>
        </p:blipFill>
        <p:spPr>
          <a:xfrm>
            <a:off x="8906405" y="3429531"/>
            <a:ext cx="2422524" cy="1776941"/>
          </a:xfrm>
          <a:prstGeom prst="rect">
            <a:avLst/>
          </a:prstGeom>
        </p:spPr>
      </p:pic>
      <p:pic>
        <p:nvPicPr>
          <p:cNvPr id="11" name="Picture 10" descr="A graph of energy consumption&#10;&#10;AI-generated content may be incorrect.">
            <a:extLst>
              <a:ext uri="{FF2B5EF4-FFF2-40B4-BE49-F238E27FC236}">
                <a16:creationId xmlns:a16="http://schemas.microsoft.com/office/drawing/2014/main" id="{2B3AF15F-9022-7AF5-98E1-107C0675D6E4}"/>
              </a:ext>
            </a:extLst>
          </p:cNvPr>
          <p:cNvPicPr>
            <a:picLocks noChangeAspect="1"/>
          </p:cNvPicPr>
          <p:nvPr/>
        </p:nvPicPr>
        <p:blipFill>
          <a:blip r:embed="rId4"/>
          <a:stretch>
            <a:fillRect/>
          </a:stretch>
        </p:blipFill>
        <p:spPr>
          <a:xfrm>
            <a:off x="276658" y="1559694"/>
            <a:ext cx="5542685" cy="4149437"/>
          </a:xfrm>
          <a:prstGeom prst="rect">
            <a:avLst/>
          </a:prstGeom>
        </p:spPr>
      </p:pic>
    </p:spTree>
    <p:extLst>
      <p:ext uri="{BB962C8B-B14F-4D97-AF65-F5344CB8AC3E}">
        <p14:creationId xmlns:p14="http://schemas.microsoft.com/office/powerpoint/2010/main" val="3401065075"/>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228FD-09BA-7D41-203B-39251ED18F15}"/>
              </a:ext>
            </a:extLst>
          </p:cNvPr>
          <p:cNvSpPr>
            <a:spLocks noGrp="1"/>
          </p:cNvSpPr>
          <p:nvPr>
            <p:ph type="title"/>
          </p:nvPr>
        </p:nvSpPr>
        <p:spPr>
          <a:xfrm>
            <a:off x="171615" y="90617"/>
            <a:ext cx="11852489" cy="543697"/>
          </a:xfrm>
        </p:spPr>
        <p:txBody>
          <a:bodyPr>
            <a:normAutofit/>
          </a:bodyPr>
          <a:lstStyle/>
          <a:p>
            <a:r>
              <a:rPr lang="en-GB">
                <a:solidFill>
                  <a:srgbClr val="FFFFFF"/>
                </a:solidFill>
                <a:latin typeface="Aptos Display"/>
              </a:rPr>
              <a:t>The Hydrogen Challenge</a:t>
            </a:r>
            <a:endParaRPr lang="en-GB"/>
          </a:p>
        </p:txBody>
      </p:sp>
      <p:sp>
        <p:nvSpPr>
          <p:cNvPr id="9" name="Rectangle 8">
            <a:extLst>
              <a:ext uri="{FF2B5EF4-FFF2-40B4-BE49-F238E27FC236}">
                <a16:creationId xmlns:a16="http://schemas.microsoft.com/office/drawing/2014/main" id="{569A86CB-5694-018B-48FA-0D7B2ABA6B58}"/>
              </a:ext>
            </a:extLst>
          </p:cNvPr>
          <p:cNvSpPr/>
          <p:nvPr/>
        </p:nvSpPr>
        <p:spPr>
          <a:xfrm>
            <a:off x="7423149" y="1862910"/>
            <a:ext cx="3615430" cy="111043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000">
                <a:solidFill>
                  <a:srgbClr val="FF0000"/>
                </a:solidFill>
              </a:rPr>
              <a:t>Flashback &amp; Auto-ignition risk</a:t>
            </a:r>
            <a:endParaRPr lang="en-GB" sz="2000"/>
          </a:p>
        </p:txBody>
      </p:sp>
      <p:sp>
        <p:nvSpPr>
          <p:cNvPr id="14" name="Rectangle: Rounded Corners 13">
            <a:extLst>
              <a:ext uri="{FF2B5EF4-FFF2-40B4-BE49-F238E27FC236}">
                <a16:creationId xmlns:a16="http://schemas.microsoft.com/office/drawing/2014/main" id="{3DCBEE51-7683-EC93-AD4B-3D246257253A}"/>
              </a:ext>
            </a:extLst>
          </p:cNvPr>
          <p:cNvSpPr/>
          <p:nvPr/>
        </p:nvSpPr>
        <p:spPr>
          <a:xfrm>
            <a:off x="383442" y="1588314"/>
            <a:ext cx="6138333" cy="221191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Wingdings,sans-serif"/>
              <a:buChar char="§"/>
            </a:pPr>
            <a:endParaRPr lang="en-GB" b="1">
              <a:solidFill>
                <a:srgbClr val="000000"/>
              </a:solidFill>
            </a:endParaRPr>
          </a:p>
          <a:p>
            <a:pPr marL="285750" indent="-285750">
              <a:buFont typeface="Wingdings,sans-serif"/>
              <a:buChar char="§"/>
            </a:pPr>
            <a:r>
              <a:rPr lang="en-GB" sz="2400" b="1">
                <a:solidFill>
                  <a:srgbClr val="000000"/>
                </a:solidFill>
              </a:rPr>
              <a:t>High Reactivity &amp; Rapid Flame Speed</a:t>
            </a:r>
            <a:r>
              <a:rPr lang="en-GB" sz="2400">
                <a:solidFill>
                  <a:srgbClr val="000000"/>
                </a:solidFill>
              </a:rPr>
              <a:t> </a:t>
            </a:r>
          </a:p>
          <a:p>
            <a:pPr marL="285750" indent="-285750">
              <a:buFont typeface="Wingdings,sans-serif"/>
              <a:buChar char="§"/>
            </a:pPr>
            <a:r>
              <a:rPr lang="en-GB" sz="2400" b="1">
                <a:solidFill>
                  <a:srgbClr val="000000"/>
                </a:solidFill>
              </a:rPr>
              <a:t>High Diffusivity</a:t>
            </a:r>
            <a:r>
              <a:rPr lang="en-GB" sz="2400">
                <a:solidFill>
                  <a:srgbClr val="000000"/>
                </a:solidFill>
              </a:rPr>
              <a:t> </a:t>
            </a:r>
          </a:p>
          <a:p>
            <a:pPr marL="285750" indent="-285750">
              <a:buFont typeface="Wingdings,sans-serif"/>
              <a:buChar char="§"/>
            </a:pPr>
            <a:r>
              <a:rPr lang="en-GB" sz="2400" b="1">
                <a:solidFill>
                  <a:srgbClr val="000000"/>
                </a:solidFill>
              </a:rPr>
              <a:t>Low Volumetric &amp; Ignition Energy</a:t>
            </a:r>
            <a:r>
              <a:rPr lang="en-GB" sz="2400">
                <a:solidFill>
                  <a:srgbClr val="000000"/>
                </a:solidFill>
              </a:rPr>
              <a:t> </a:t>
            </a:r>
            <a:endParaRPr lang="en-US" sz="2400">
              <a:solidFill>
                <a:srgbClr val="000000"/>
              </a:solidFill>
            </a:endParaRPr>
          </a:p>
          <a:p>
            <a:pPr marL="285750" indent="-285750">
              <a:buFont typeface="Wingdings,sans-serif"/>
              <a:buChar char="§"/>
            </a:pPr>
            <a:r>
              <a:rPr lang="en-GB" sz="2400" b="1">
                <a:solidFill>
                  <a:srgbClr val="000000"/>
                </a:solidFill>
              </a:rPr>
              <a:t>High Adiabatic Flame Temperature</a:t>
            </a:r>
            <a:r>
              <a:rPr lang="en-GB" sz="2400">
                <a:solidFill>
                  <a:srgbClr val="000000"/>
                </a:solidFill>
              </a:rPr>
              <a:t> </a:t>
            </a:r>
            <a:endParaRPr lang="en-US" sz="2400">
              <a:solidFill>
                <a:srgbClr val="000000"/>
              </a:solidFill>
            </a:endParaRPr>
          </a:p>
          <a:p>
            <a:pPr algn="ctr"/>
            <a:endParaRPr lang="en-GB" sz="2400">
              <a:solidFill>
                <a:srgbClr val="FFFFFF"/>
              </a:solidFill>
            </a:endParaRPr>
          </a:p>
        </p:txBody>
      </p:sp>
      <p:sp>
        <p:nvSpPr>
          <p:cNvPr id="20" name="Arrow: Right 19">
            <a:extLst>
              <a:ext uri="{FF2B5EF4-FFF2-40B4-BE49-F238E27FC236}">
                <a16:creationId xmlns:a16="http://schemas.microsoft.com/office/drawing/2014/main" id="{190D8F47-DA7B-6F65-6D2A-E402EC69C254}"/>
              </a:ext>
            </a:extLst>
          </p:cNvPr>
          <p:cNvSpPr/>
          <p:nvPr/>
        </p:nvSpPr>
        <p:spPr>
          <a:xfrm>
            <a:off x="6709833" y="2163884"/>
            <a:ext cx="359833" cy="3175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Arrow: Down 2">
            <a:extLst>
              <a:ext uri="{FF2B5EF4-FFF2-40B4-BE49-F238E27FC236}">
                <a16:creationId xmlns:a16="http://schemas.microsoft.com/office/drawing/2014/main" id="{4F448CE4-BFF8-004D-BD60-9222BDA60A05}"/>
              </a:ext>
            </a:extLst>
          </p:cNvPr>
          <p:cNvSpPr/>
          <p:nvPr/>
        </p:nvSpPr>
        <p:spPr>
          <a:xfrm>
            <a:off x="7736416" y="3238499"/>
            <a:ext cx="391583" cy="740833"/>
          </a:xfrm>
          <a:prstGeom prst="downArrow">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Arrow: Right 3">
            <a:extLst>
              <a:ext uri="{FF2B5EF4-FFF2-40B4-BE49-F238E27FC236}">
                <a16:creationId xmlns:a16="http://schemas.microsoft.com/office/drawing/2014/main" id="{3346642C-7AFA-32D5-350F-6019DADF8199}"/>
              </a:ext>
            </a:extLst>
          </p:cNvPr>
          <p:cNvSpPr/>
          <p:nvPr/>
        </p:nvSpPr>
        <p:spPr>
          <a:xfrm>
            <a:off x="8911166" y="4677833"/>
            <a:ext cx="645583" cy="5715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C864A54-4490-1A9B-6EE6-D81478A2A0EE}"/>
              </a:ext>
            </a:extLst>
          </p:cNvPr>
          <p:cNvSpPr txBox="1"/>
          <p:nvPr/>
        </p:nvSpPr>
        <p:spPr>
          <a:xfrm>
            <a:off x="9641417" y="4529666"/>
            <a:ext cx="255058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i="0" u="none" strike="noStrike" baseline="0">
                <a:latin typeface="Aptos"/>
                <a:ea typeface="Segoe UI"/>
                <a:cs typeface="Segoe UI"/>
              </a:rPr>
              <a:t>Dual Swirl RAPIDS-H burner</a:t>
            </a:r>
            <a:r>
              <a:rPr sz="2400" b="1" i="0">
                <a:latin typeface="Aptos"/>
                <a:ea typeface="Aptos"/>
                <a:cs typeface="Aptos"/>
              </a:rPr>
              <a:t>​</a:t>
            </a:r>
            <a:endParaRPr lang="en-US" b="1"/>
          </a:p>
          <a:p>
            <a:pPr algn="ctr"/>
            <a:endParaRPr lang="en-US"/>
          </a:p>
        </p:txBody>
      </p:sp>
      <p:sp>
        <p:nvSpPr>
          <p:cNvPr id="7" name="Rectangle: Rounded Corners 6">
            <a:extLst>
              <a:ext uri="{FF2B5EF4-FFF2-40B4-BE49-F238E27FC236}">
                <a16:creationId xmlns:a16="http://schemas.microsoft.com/office/drawing/2014/main" id="{978A2B47-314E-0E20-91DE-AE1AC0BD496B}"/>
              </a:ext>
            </a:extLst>
          </p:cNvPr>
          <p:cNvSpPr/>
          <p:nvPr/>
        </p:nvSpPr>
        <p:spPr>
          <a:xfrm>
            <a:off x="4583625" y="4163973"/>
            <a:ext cx="4219296" cy="1890703"/>
          </a:xfrm>
          <a:prstGeom prst="round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800" b="1">
                <a:solidFill>
                  <a:srgbClr val="00B050"/>
                </a:solidFill>
              </a:rPr>
              <a:t>Solution?</a:t>
            </a:r>
          </a:p>
          <a:p>
            <a:pPr marL="342900" indent="-342900" algn="ctr">
              <a:buFont typeface="Wingdings"/>
              <a:buChar char="ü"/>
            </a:pPr>
            <a:r>
              <a:rPr lang="en-US" sz="2800">
                <a:solidFill>
                  <a:schemeClr val="tx1"/>
                </a:solidFill>
              </a:rPr>
              <a:t>Stratification &amp; Staging</a:t>
            </a:r>
          </a:p>
          <a:p>
            <a:pPr marL="342900" indent="-342900" algn="ctr">
              <a:buFont typeface="Wingdings"/>
              <a:buChar char="ü"/>
            </a:pPr>
            <a:r>
              <a:rPr lang="en-US" sz="2800">
                <a:solidFill>
                  <a:schemeClr val="tx1"/>
                </a:solidFill>
              </a:rPr>
              <a:t>Swirl Stabilization</a:t>
            </a:r>
          </a:p>
        </p:txBody>
      </p:sp>
      <p:sp>
        <p:nvSpPr>
          <p:cNvPr id="8" name="Arrow: Right 7">
            <a:extLst>
              <a:ext uri="{FF2B5EF4-FFF2-40B4-BE49-F238E27FC236}">
                <a16:creationId xmlns:a16="http://schemas.microsoft.com/office/drawing/2014/main" id="{C6164220-0F23-76B6-BB63-A9ECE8A36F55}"/>
              </a:ext>
            </a:extLst>
          </p:cNvPr>
          <p:cNvSpPr/>
          <p:nvPr/>
        </p:nvSpPr>
        <p:spPr>
          <a:xfrm rot="5400000">
            <a:off x="1989666" y="4005383"/>
            <a:ext cx="359833" cy="3175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Arrow: Down 9">
            <a:extLst>
              <a:ext uri="{FF2B5EF4-FFF2-40B4-BE49-F238E27FC236}">
                <a16:creationId xmlns:a16="http://schemas.microsoft.com/office/drawing/2014/main" id="{39A56DC1-23D2-3C58-26E1-0C5C25C6CA01}"/>
              </a:ext>
            </a:extLst>
          </p:cNvPr>
          <p:cNvSpPr/>
          <p:nvPr/>
        </p:nvSpPr>
        <p:spPr>
          <a:xfrm rot="-5400000">
            <a:off x="3688291" y="4249206"/>
            <a:ext cx="391583" cy="1217082"/>
          </a:xfrm>
          <a:prstGeom prst="downArrow">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0D2B86A7-A823-E782-9832-D8B9621BCC79}"/>
              </a:ext>
            </a:extLst>
          </p:cNvPr>
          <p:cNvSpPr txBox="1"/>
          <p:nvPr/>
        </p:nvSpPr>
        <p:spPr>
          <a:xfrm>
            <a:off x="656167" y="5249333"/>
            <a:ext cx="353695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i="1">
                <a:solidFill>
                  <a:schemeClr val="accent1">
                    <a:lumMod val="60000"/>
                    <a:lumOff val="40000"/>
                  </a:schemeClr>
                </a:solidFill>
              </a:rPr>
              <a:t>By </a:t>
            </a:r>
            <a:r>
              <a:rPr lang="en-US" sz="1600" i="1" err="1">
                <a:solidFill>
                  <a:schemeClr val="accent1">
                    <a:lumMod val="60000"/>
                    <a:lumOff val="40000"/>
                  </a:schemeClr>
                </a:solidFill>
              </a:rPr>
              <a:t>Zeldovich</a:t>
            </a:r>
            <a:r>
              <a:rPr lang="en-US" sz="1600" i="1">
                <a:solidFill>
                  <a:schemeClr val="accent1">
                    <a:lumMod val="60000"/>
                    <a:lumOff val="40000"/>
                  </a:schemeClr>
                </a:solidFill>
              </a:rPr>
              <a:t> Mechanism: Need to control residence time in high temperature stoichiometric regions</a:t>
            </a:r>
            <a:endParaRPr lang="en-US">
              <a:solidFill>
                <a:schemeClr val="accent1">
                  <a:lumMod val="60000"/>
                  <a:lumOff val="40000"/>
                </a:schemeClr>
              </a:solidFill>
            </a:endParaRPr>
          </a:p>
        </p:txBody>
      </p:sp>
      <p:sp>
        <p:nvSpPr>
          <p:cNvPr id="15" name="TextBox 14">
            <a:extLst>
              <a:ext uri="{FF2B5EF4-FFF2-40B4-BE49-F238E27FC236}">
                <a16:creationId xmlns:a16="http://schemas.microsoft.com/office/drawing/2014/main" id="{3131442B-261C-9736-D616-015A348AC4AC}"/>
              </a:ext>
            </a:extLst>
          </p:cNvPr>
          <p:cNvSpPr txBox="1"/>
          <p:nvPr/>
        </p:nvSpPr>
        <p:spPr>
          <a:xfrm>
            <a:off x="8561916" y="3238499"/>
            <a:ext cx="3251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i="1">
                <a:solidFill>
                  <a:schemeClr val="accent1">
                    <a:lumMod val="60000"/>
                    <a:lumOff val="40000"/>
                  </a:schemeClr>
                </a:solidFill>
              </a:rPr>
              <a:t>Complicates Combustion stability, safety and efficiency.</a:t>
            </a:r>
          </a:p>
        </p:txBody>
      </p:sp>
      <p:sp>
        <p:nvSpPr>
          <p:cNvPr id="5" name="Rectangle 4">
            <a:extLst>
              <a:ext uri="{FF2B5EF4-FFF2-40B4-BE49-F238E27FC236}">
                <a16:creationId xmlns:a16="http://schemas.microsoft.com/office/drawing/2014/main" id="{E9ADEF2A-B7E0-2C86-9A75-7EBFB3C3462B}"/>
              </a:ext>
            </a:extLst>
          </p:cNvPr>
          <p:cNvSpPr/>
          <p:nvPr/>
        </p:nvSpPr>
        <p:spPr>
          <a:xfrm>
            <a:off x="1174749" y="4445000"/>
            <a:ext cx="1979083" cy="71966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Thermal </a:t>
            </a:r>
            <a:r>
              <a:rPr lang="en-GB" dirty="0" err="1">
                <a:solidFill>
                  <a:srgbClr val="FF0000"/>
                </a:solidFill>
              </a:rPr>
              <a:t>EINOx</a:t>
            </a:r>
            <a:endParaRPr lang="en-US" dirty="0" err="1">
              <a:solidFill>
                <a:srgbClr val="000000"/>
              </a:solidFill>
            </a:endParaRPr>
          </a:p>
        </p:txBody>
      </p:sp>
    </p:spTree>
    <p:extLst>
      <p:ext uri="{BB962C8B-B14F-4D97-AF65-F5344CB8AC3E}">
        <p14:creationId xmlns:p14="http://schemas.microsoft.com/office/powerpoint/2010/main" val="3051320046"/>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EA544-1DA9-6465-F802-7D7E2301FED0}"/>
              </a:ext>
            </a:extLst>
          </p:cNvPr>
          <p:cNvSpPr>
            <a:spLocks noGrp="1"/>
          </p:cNvSpPr>
          <p:nvPr>
            <p:ph type="title"/>
          </p:nvPr>
        </p:nvSpPr>
        <p:spPr/>
        <p:txBody>
          <a:bodyPr>
            <a:normAutofit fontScale="90000"/>
          </a:bodyPr>
          <a:lstStyle/>
          <a:p>
            <a:r>
              <a:rPr lang="en-GB">
                <a:latin typeface="Aptos"/>
              </a:rPr>
              <a:t>Burner Configuration &amp; Original Contribution</a:t>
            </a:r>
            <a:endParaRPr lang="en-GB" b="0" i="0">
              <a:solidFill>
                <a:srgbClr val="000000"/>
              </a:solidFill>
              <a:latin typeface="Aptos"/>
            </a:endParaRPr>
          </a:p>
        </p:txBody>
      </p:sp>
      <p:pic>
        <p:nvPicPr>
          <p:cNvPr id="5" name="Picture 4">
            <a:extLst>
              <a:ext uri="{FF2B5EF4-FFF2-40B4-BE49-F238E27FC236}">
                <a16:creationId xmlns:a16="http://schemas.microsoft.com/office/drawing/2014/main" id="{A30C33D7-AAD5-02FA-0C4F-9C9DF3A84B7A}"/>
              </a:ext>
            </a:extLst>
          </p:cNvPr>
          <p:cNvPicPr>
            <a:picLocks noChangeAspect="1"/>
          </p:cNvPicPr>
          <p:nvPr/>
        </p:nvPicPr>
        <p:blipFill>
          <a:blip r:embed="rId3"/>
          <a:srcRect r="-221" b="-194"/>
          <a:stretch>
            <a:fillRect/>
          </a:stretch>
        </p:blipFill>
        <p:spPr>
          <a:xfrm>
            <a:off x="3598133" y="997562"/>
            <a:ext cx="4956669" cy="5243891"/>
          </a:xfrm>
          <a:prstGeom prst="rect">
            <a:avLst/>
          </a:prstGeom>
        </p:spPr>
      </p:pic>
      <p:sp>
        <p:nvSpPr>
          <p:cNvPr id="6" name="Oval 5">
            <a:extLst>
              <a:ext uri="{FF2B5EF4-FFF2-40B4-BE49-F238E27FC236}">
                <a16:creationId xmlns:a16="http://schemas.microsoft.com/office/drawing/2014/main" id="{6E2286AC-2984-08F3-85F6-8DCDDE28C17B}"/>
              </a:ext>
            </a:extLst>
          </p:cNvPr>
          <p:cNvSpPr/>
          <p:nvPr/>
        </p:nvSpPr>
        <p:spPr>
          <a:xfrm>
            <a:off x="5502584" y="1511333"/>
            <a:ext cx="575016" cy="59009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Arrow: Right 7">
            <a:extLst>
              <a:ext uri="{FF2B5EF4-FFF2-40B4-BE49-F238E27FC236}">
                <a16:creationId xmlns:a16="http://schemas.microsoft.com/office/drawing/2014/main" id="{6A3EBD4F-D8FD-E9D8-CF80-E0EF88C91A05}"/>
              </a:ext>
            </a:extLst>
          </p:cNvPr>
          <p:cNvSpPr/>
          <p:nvPr/>
        </p:nvSpPr>
        <p:spPr>
          <a:xfrm rot="10800000">
            <a:off x="3244558" y="1701123"/>
            <a:ext cx="2250993" cy="405424"/>
          </a:xfrm>
          <a:prstGeom prst="righ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Arrow: Right 9">
            <a:extLst>
              <a:ext uri="{FF2B5EF4-FFF2-40B4-BE49-F238E27FC236}">
                <a16:creationId xmlns:a16="http://schemas.microsoft.com/office/drawing/2014/main" id="{2F0F6B13-BFD6-8717-CF67-09BA53FE1B16}"/>
              </a:ext>
            </a:extLst>
          </p:cNvPr>
          <p:cNvSpPr/>
          <p:nvPr/>
        </p:nvSpPr>
        <p:spPr>
          <a:xfrm>
            <a:off x="6075928" y="1715162"/>
            <a:ext cx="2480568" cy="389954"/>
          </a:xfrm>
          <a:prstGeom prst="righ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Arrow: Right 10">
            <a:extLst>
              <a:ext uri="{FF2B5EF4-FFF2-40B4-BE49-F238E27FC236}">
                <a16:creationId xmlns:a16="http://schemas.microsoft.com/office/drawing/2014/main" id="{0E05D255-EFB5-F5D4-4DF6-C1EFB3E3A5F5}"/>
              </a:ext>
            </a:extLst>
          </p:cNvPr>
          <p:cNvSpPr/>
          <p:nvPr/>
        </p:nvSpPr>
        <p:spPr>
          <a:xfrm>
            <a:off x="5896696" y="2497106"/>
            <a:ext cx="2665369" cy="325640"/>
          </a:xfrm>
          <a:prstGeom prst="righ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CF161A3B-EC3C-5581-E844-F6DBEC55A9F3}"/>
              </a:ext>
            </a:extLst>
          </p:cNvPr>
          <p:cNvSpPr/>
          <p:nvPr/>
        </p:nvSpPr>
        <p:spPr>
          <a:xfrm>
            <a:off x="8649839" y="2404858"/>
            <a:ext cx="2656416" cy="8255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rgbClr val="000000"/>
                </a:solidFill>
              </a:rPr>
              <a:t>Hydrogen</a:t>
            </a:r>
          </a:p>
          <a:p>
            <a:pPr algn="ctr"/>
            <a:endParaRPr lang="en-GB">
              <a:solidFill>
                <a:srgbClr val="000000"/>
              </a:solidFill>
            </a:endParaRPr>
          </a:p>
          <a:p>
            <a:pPr algn="ctr"/>
            <a:endParaRPr lang="en-GB">
              <a:solidFill>
                <a:srgbClr val="000000"/>
              </a:solidFill>
            </a:endParaRPr>
          </a:p>
        </p:txBody>
      </p:sp>
      <p:sp>
        <p:nvSpPr>
          <p:cNvPr id="14" name="Rectangle: Rounded Corners 13">
            <a:extLst>
              <a:ext uri="{FF2B5EF4-FFF2-40B4-BE49-F238E27FC236}">
                <a16:creationId xmlns:a16="http://schemas.microsoft.com/office/drawing/2014/main" id="{701F2305-1BEB-169F-97EA-F66DADF2117D}"/>
              </a:ext>
            </a:extLst>
          </p:cNvPr>
          <p:cNvSpPr/>
          <p:nvPr/>
        </p:nvSpPr>
        <p:spPr>
          <a:xfrm>
            <a:off x="8581454" y="996461"/>
            <a:ext cx="3371197" cy="124150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rgbClr val="000000"/>
                </a:solidFill>
              </a:rPr>
              <a:t>RAPIDS-H Injector</a:t>
            </a:r>
            <a:endParaRPr lang="en-US" err="1">
              <a:solidFill>
                <a:srgbClr val="000000"/>
              </a:solidFill>
            </a:endParaRPr>
          </a:p>
          <a:p>
            <a:pPr algn="ctr"/>
            <a:r>
              <a:rPr lang="en-GB" b="1">
                <a:solidFill>
                  <a:srgbClr val="000000"/>
                </a:solidFill>
              </a:rPr>
              <a:t>R</a:t>
            </a:r>
            <a:r>
              <a:rPr lang="en-GB">
                <a:solidFill>
                  <a:srgbClr val="000000"/>
                </a:solidFill>
              </a:rPr>
              <a:t>ich-</a:t>
            </a:r>
            <a:r>
              <a:rPr lang="en-GB" b="1">
                <a:solidFill>
                  <a:srgbClr val="000000"/>
                </a:solidFill>
              </a:rPr>
              <a:t>P</a:t>
            </a:r>
            <a:r>
              <a:rPr lang="en-GB">
                <a:solidFill>
                  <a:srgbClr val="000000"/>
                </a:solidFill>
              </a:rPr>
              <a:t>remixed, </a:t>
            </a:r>
            <a:r>
              <a:rPr lang="en-GB" b="1">
                <a:solidFill>
                  <a:srgbClr val="000000"/>
                </a:solidFill>
              </a:rPr>
              <a:t>A</a:t>
            </a:r>
            <a:r>
              <a:rPr lang="en-GB">
                <a:solidFill>
                  <a:srgbClr val="000000"/>
                </a:solidFill>
              </a:rPr>
              <a:t>ir-staged, </a:t>
            </a:r>
            <a:r>
              <a:rPr lang="en-GB" b="1">
                <a:solidFill>
                  <a:srgbClr val="000000"/>
                </a:solidFill>
              </a:rPr>
              <a:t>D</a:t>
            </a:r>
            <a:r>
              <a:rPr lang="en-GB">
                <a:solidFill>
                  <a:srgbClr val="000000"/>
                </a:solidFill>
              </a:rPr>
              <a:t>ual-</a:t>
            </a:r>
            <a:r>
              <a:rPr lang="en-GB" b="1">
                <a:solidFill>
                  <a:srgbClr val="000000"/>
                </a:solidFill>
              </a:rPr>
              <a:t>S</a:t>
            </a:r>
            <a:r>
              <a:rPr lang="en-GB">
                <a:solidFill>
                  <a:srgbClr val="000000"/>
                </a:solidFill>
              </a:rPr>
              <a:t>wirl </a:t>
            </a:r>
            <a:r>
              <a:rPr lang="en-GB" b="1">
                <a:solidFill>
                  <a:srgbClr val="000000"/>
                </a:solidFill>
              </a:rPr>
              <a:t>I</a:t>
            </a:r>
            <a:r>
              <a:rPr lang="en-GB">
                <a:solidFill>
                  <a:srgbClr val="000000"/>
                </a:solidFill>
              </a:rPr>
              <a:t>njector for </a:t>
            </a:r>
            <a:r>
              <a:rPr lang="en-GB" b="1">
                <a:solidFill>
                  <a:srgbClr val="000000"/>
                </a:solidFill>
              </a:rPr>
              <a:t>H</a:t>
            </a:r>
            <a:r>
              <a:rPr lang="en-GB" err="1">
                <a:solidFill>
                  <a:srgbClr val="000000"/>
                </a:solidFill>
              </a:rPr>
              <a:t>ydrogen</a:t>
            </a:r>
            <a:endParaRPr lang="en-US">
              <a:solidFill>
                <a:srgbClr val="000000"/>
              </a:solidFill>
            </a:endParaRPr>
          </a:p>
        </p:txBody>
      </p:sp>
      <p:sp>
        <p:nvSpPr>
          <p:cNvPr id="15" name="Rectangle: Rounded Corners 14">
            <a:extLst>
              <a:ext uri="{FF2B5EF4-FFF2-40B4-BE49-F238E27FC236}">
                <a16:creationId xmlns:a16="http://schemas.microsoft.com/office/drawing/2014/main" id="{9858495E-E1A4-ED6F-F67A-2C69B495C09D}"/>
              </a:ext>
            </a:extLst>
          </p:cNvPr>
          <p:cNvSpPr/>
          <p:nvPr/>
        </p:nvSpPr>
        <p:spPr>
          <a:xfrm>
            <a:off x="8636000" y="3342704"/>
            <a:ext cx="3228730" cy="112346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rgbClr val="000000"/>
                </a:solidFill>
              </a:rPr>
              <a:t>Premixing Air</a:t>
            </a:r>
          </a:p>
          <a:p>
            <a:pPr algn="ctr"/>
            <a:endParaRPr lang="en-GB" b="1">
              <a:solidFill>
                <a:srgbClr val="000000"/>
              </a:solidFill>
            </a:endParaRPr>
          </a:p>
          <a:p>
            <a:pPr algn="ctr"/>
            <a:endParaRPr lang="en-GB" b="1">
              <a:solidFill>
                <a:srgbClr val="000000"/>
              </a:solidFill>
            </a:endParaRPr>
          </a:p>
          <a:p>
            <a:pPr algn="ctr"/>
            <a:endParaRPr lang="en-GB" b="1">
              <a:solidFill>
                <a:srgbClr val="000000"/>
              </a:solidFill>
            </a:endParaRPr>
          </a:p>
        </p:txBody>
      </p:sp>
      <p:sp>
        <p:nvSpPr>
          <p:cNvPr id="16" name="Arrow: Right 15">
            <a:extLst>
              <a:ext uri="{FF2B5EF4-FFF2-40B4-BE49-F238E27FC236}">
                <a16:creationId xmlns:a16="http://schemas.microsoft.com/office/drawing/2014/main" id="{F3D7F45F-CAA6-B03C-80C0-82712727FBFD}"/>
              </a:ext>
            </a:extLst>
          </p:cNvPr>
          <p:cNvSpPr/>
          <p:nvPr/>
        </p:nvSpPr>
        <p:spPr>
          <a:xfrm>
            <a:off x="5800384" y="3434321"/>
            <a:ext cx="2684094" cy="188872"/>
          </a:xfrm>
          <a:prstGeom prst="rightArrow">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Rounded Corners 16">
            <a:extLst>
              <a:ext uri="{FF2B5EF4-FFF2-40B4-BE49-F238E27FC236}">
                <a16:creationId xmlns:a16="http://schemas.microsoft.com/office/drawing/2014/main" id="{F4AE4D16-FB5D-5DC5-441F-0871AA68D34C}"/>
              </a:ext>
            </a:extLst>
          </p:cNvPr>
          <p:cNvSpPr/>
          <p:nvPr/>
        </p:nvSpPr>
        <p:spPr>
          <a:xfrm>
            <a:off x="9031655" y="4655853"/>
            <a:ext cx="2838937" cy="152009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Secondary Swirl Air:</a:t>
            </a:r>
          </a:p>
          <a:p>
            <a:pPr algn="ctr"/>
            <a:endParaRPr lang="en-GB"/>
          </a:p>
          <a:p>
            <a:pPr algn="ctr"/>
            <a:endParaRPr lang="en-GB"/>
          </a:p>
          <a:p>
            <a:pPr algn="ctr"/>
            <a:endParaRPr lang="en-GB"/>
          </a:p>
          <a:p>
            <a:pPr algn="ctr"/>
            <a:endParaRPr lang="en-GB"/>
          </a:p>
        </p:txBody>
      </p:sp>
      <p:pic>
        <p:nvPicPr>
          <p:cNvPr id="24" name="Picture 23" descr="A black text with black letters&#10;&#10;AI-generated content may be incorrect.">
            <a:extLst>
              <a:ext uri="{FF2B5EF4-FFF2-40B4-BE49-F238E27FC236}">
                <a16:creationId xmlns:a16="http://schemas.microsoft.com/office/drawing/2014/main" id="{60845BBB-4865-6A01-F54A-67743B24C392}"/>
              </a:ext>
            </a:extLst>
          </p:cNvPr>
          <p:cNvPicPr>
            <a:picLocks noChangeAspect="1"/>
          </p:cNvPicPr>
          <p:nvPr/>
        </p:nvPicPr>
        <p:blipFill>
          <a:blip r:embed="rId4"/>
          <a:stretch>
            <a:fillRect/>
          </a:stretch>
        </p:blipFill>
        <p:spPr>
          <a:xfrm>
            <a:off x="9514254" y="5523887"/>
            <a:ext cx="1799494" cy="636223"/>
          </a:xfrm>
          <a:prstGeom prst="rect">
            <a:avLst/>
          </a:prstGeom>
        </p:spPr>
      </p:pic>
      <p:pic>
        <p:nvPicPr>
          <p:cNvPr id="25" name="Picture 24">
            <a:extLst>
              <a:ext uri="{FF2B5EF4-FFF2-40B4-BE49-F238E27FC236}">
                <a16:creationId xmlns:a16="http://schemas.microsoft.com/office/drawing/2014/main" id="{F6879DF9-40AD-9758-D3DC-97EFC428EA8D}"/>
              </a:ext>
            </a:extLst>
          </p:cNvPr>
          <p:cNvPicPr>
            <a:picLocks noChangeAspect="1"/>
          </p:cNvPicPr>
          <p:nvPr/>
        </p:nvPicPr>
        <p:blipFill>
          <a:blip r:embed="rId5"/>
          <a:stretch>
            <a:fillRect/>
          </a:stretch>
        </p:blipFill>
        <p:spPr>
          <a:xfrm>
            <a:off x="9655662" y="5077068"/>
            <a:ext cx="1575289" cy="435708"/>
          </a:xfrm>
          <a:prstGeom prst="rect">
            <a:avLst/>
          </a:prstGeom>
        </p:spPr>
      </p:pic>
      <p:pic>
        <p:nvPicPr>
          <p:cNvPr id="26" name="Picture 25" descr="A black text on a white background&#10;&#10;AI-generated content may be incorrect.">
            <a:extLst>
              <a:ext uri="{FF2B5EF4-FFF2-40B4-BE49-F238E27FC236}">
                <a16:creationId xmlns:a16="http://schemas.microsoft.com/office/drawing/2014/main" id="{2DF696A3-1258-CBAD-6241-0A6B683BBDA8}"/>
              </a:ext>
            </a:extLst>
          </p:cNvPr>
          <p:cNvPicPr>
            <a:picLocks noChangeAspect="1"/>
          </p:cNvPicPr>
          <p:nvPr/>
        </p:nvPicPr>
        <p:blipFill>
          <a:blip r:embed="rId6"/>
          <a:stretch>
            <a:fillRect/>
          </a:stretch>
        </p:blipFill>
        <p:spPr>
          <a:xfrm>
            <a:off x="9178193" y="3667736"/>
            <a:ext cx="2129692" cy="792528"/>
          </a:xfrm>
          <a:prstGeom prst="rect">
            <a:avLst/>
          </a:prstGeom>
        </p:spPr>
      </p:pic>
      <p:pic>
        <p:nvPicPr>
          <p:cNvPr id="27" name="Picture 26">
            <a:extLst>
              <a:ext uri="{FF2B5EF4-FFF2-40B4-BE49-F238E27FC236}">
                <a16:creationId xmlns:a16="http://schemas.microsoft.com/office/drawing/2014/main" id="{9712FFA4-C5AE-3A9A-3518-57D8DC253044}"/>
              </a:ext>
            </a:extLst>
          </p:cNvPr>
          <p:cNvPicPr>
            <a:picLocks noChangeAspect="1"/>
          </p:cNvPicPr>
          <p:nvPr/>
        </p:nvPicPr>
        <p:blipFill>
          <a:blip r:embed="rId7"/>
          <a:stretch>
            <a:fillRect/>
          </a:stretch>
        </p:blipFill>
        <p:spPr>
          <a:xfrm>
            <a:off x="8815713" y="2774503"/>
            <a:ext cx="2333625" cy="447675"/>
          </a:xfrm>
          <a:prstGeom prst="rect">
            <a:avLst/>
          </a:prstGeom>
        </p:spPr>
      </p:pic>
      <p:sp>
        <p:nvSpPr>
          <p:cNvPr id="7" name="TextBox 2">
            <a:extLst>
              <a:ext uri="{FF2B5EF4-FFF2-40B4-BE49-F238E27FC236}">
                <a16:creationId xmlns:a16="http://schemas.microsoft.com/office/drawing/2014/main" id="{7EB9EBC0-C8BD-7396-C8AF-2BFA3F8DEE14}"/>
              </a:ext>
            </a:extLst>
          </p:cNvPr>
          <p:cNvSpPr txBox="1"/>
          <p:nvPr/>
        </p:nvSpPr>
        <p:spPr>
          <a:xfrm>
            <a:off x="107852" y="3232444"/>
            <a:ext cx="3332871" cy="165075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latin typeface="Google Sans Text"/>
                <a:ea typeface="Google Sans Text"/>
                <a:cs typeface="Google Sans Text"/>
              </a:rPr>
              <a:t>Baseline Configuration:</a:t>
            </a:r>
            <a:r>
              <a:rPr lang="en-US" sz="2000">
                <a:latin typeface="Google Sans Text"/>
                <a:ea typeface="Google Sans Text"/>
                <a:cs typeface="Google Sans Text"/>
              </a:rPr>
              <a:t> The existing Model A co-swirl injector, which establishes a unified Central Recirculation Zone (CRZ).</a:t>
            </a:r>
            <a:r>
              <a:rPr lang="en-US" sz="1600">
                <a:latin typeface="Google Sans Text"/>
                <a:ea typeface="Google Sans Text"/>
                <a:cs typeface="Google Sans Text"/>
              </a:rPr>
              <a:t> </a:t>
            </a:r>
            <a:endParaRPr lang="en-US" sz="1600"/>
          </a:p>
        </p:txBody>
      </p:sp>
      <p:pic>
        <p:nvPicPr>
          <p:cNvPr id="9" name="Picture 8">
            <a:extLst>
              <a:ext uri="{FF2B5EF4-FFF2-40B4-BE49-F238E27FC236}">
                <a16:creationId xmlns:a16="http://schemas.microsoft.com/office/drawing/2014/main" id="{6CB21244-E5EE-F4C6-6880-933AE7DB0D8A}"/>
              </a:ext>
            </a:extLst>
          </p:cNvPr>
          <p:cNvPicPr>
            <a:picLocks noChangeAspect="1"/>
          </p:cNvPicPr>
          <p:nvPr/>
        </p:nvPicPr>
        <p:blipFill>
          <a:blip r:embed="rId8"/>
          <a:stretch>
            <a:fillRect/>
          </a:stretch>
        </p:blipFill>
        <p:spPr>
          <a:xfrm>
            <a:off x="107218" y="1223230"/>
            <a:ext cx="3136412" cy="1783617"/>
          </a:xfrm>
          <a:prstGeom prst="rect">
            <a:avLst/>
          </a:prstGeom>
        </p:spPr>
      </p:pic>
      <p:sp>
        <p:nvSpPr>
          <p:cNvPr id="4" name="TextBox 3">
            <a:extLst>
              <a:ext uri="{FF2B5EF4-FFF2-40B4-BE49-F238E27FC236}">
                <a16:creationId xmlns:a16="http://schemas.microsoft.com/office/drawing/2014/main" id="{057E3750-5F02-6926-CBEF-1DDE7319EB65}"/>
              </a:ext>
            </a:extLst>
          </p:cNvPr>
          <p:cNvSpPr txBox="1"/>
          <p:nvPr/>
        </p:nvSpPr>
        <p:spPr>
          <a:xfrm>
            <a:off x="11237383" y="5074073"/>
            <a:ext cx="63076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a:t>lean</a:t>
            </a:r>
          </a:p>
        </p:txBody>
      </p:sp>
      <p:sp>
        <p:nvSpPr>
          <p:cNvPr id="12" name="TextBox 11">
            <a:extLst>
              <a:ext uri="{FF2B5EF4-FFF2-40B4-BE49-F238E27FC236}">
                <a16:creationId xmlns:a16="http://schemas.microsoft.com/office/drawing/2014/main" id="{A7D486CD-B948-5751-819D-26C82F3794E8}"/>
              </a:ext>
            </a:extLst>
          </p:cNvPr>
          <p:cNvSpPr txBox="1"/>
          <p:nvPr/>
        </p:nvSpPr>
        <p:spPr>
          <a:xfrm>
            <a:off x="11321626" y="3756236"/>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a:t>rich</a:t>
            </a:r>
          </a:p>
        </p:txBody>
      </p:sp>
    </p:spTree>
    <p:extLst>
      <p:ext uri="{BB962C8B-B14F-4D97-AF65-F5344CB8AC3E}">
        <p14:creationId xmlns:p14="http://schemas.microsoft.com/office/powerpoint/2010/main" val="404982840"/>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EFF73-C83A-4A2A-0E2A-73984BCE8881}"/>
              </a:ext>
            </a:extLst>
          </p:cNvPr>
          <p:cNvSpPr>
            <a:spLocks noGrp="1"/>
          </p:cNvSpPr>
          <p:nvPr>
            <p:ph type="title"/>
          </p:nvPr>
        </p:nvSpPr>
        <p:spPr/>
        <p:txBody>
          <a:bodyPr/>
          <a:lstStyle/>
          <a:p>
            <a:r>
              <a:rPr lang="en-GB" sz="2500">
                <a:latin typeface="Aptos"/>
              </a:rPr>
              <a:t> Burner Configuration &amp; Original Contribution</a:t>
            </a:r>
            <a:endParaRPr lang="en-US"/>
          </a:p>
        </p:txBody>
      </p:sp>
      <p:pic>
        <p:nvPicPr>
          <p:cNvPr id="6" name="Picture 5">
            <a:extLst>
              <a:ext uri="{FF2B5EF4-FFF2-40B4-BE49-F238E27FC236}">
                <a16:creationId xmlns:a16="http://schemas.microsoft.com/office/drawing/2014/main" id="{A65762AB-2E10-FE44-09EA-04D74CDCB14E}"/>
              </a:ext>
            </a:extLst>
          </p:cNvPr>
          <p:cNvPicPr>
            <a:picLocks noChangeAspect="1"/>
          </p:cNvPicPr>
          <p:nvPr/>
        </p:nvPicPr>
        <p:blipFill>
          <a:blip r:embed="rId3"/>
          <a:stretch>
            <a:fillRect/>
          </a:stretch>
        </p:blipFill>
        <p:spPr>
          <a:xfrm>
            <a:off x="103652" y="4232296"/>
            <a:ext cx="4120076" cy="1916188"/>
          </a:xfrm>
          <a:prstGeom prst="rect">
            <a:avLst/>
          </a:prstGeom>
        </p:spPr>
      </p:pic>
      <p:sp>
        <p:nvSpPr>
          <p:cNvPr id="8" name="TextBox 7">
            <a:extLst>
              <a:ext uri="{FF2B5EF4-FFF2-40B4-BE49-F238E27FC236}">
                <a16:creationId xmlns:a16="http://schemas.microsoft.com/office/drawing/2014/main" id="{29DD141B-2B83-B5FC-4F1F-966BDF09B97A}"/>
              </a:ext>
            </a:extLst>
          </p:cNvPr>
          <p:cNvSpPr txBox="1"/>
          <p:nvPr/>
        </p:nvSpPr>
        <p:spPr>
          <a:xfrm>
            <a:off x="4101515" y="4645075"/>
            <a:ext cx="459622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GB" sz="1600" b="0" i="1" u="none" strike="noStrike" baseline="0">
                <a:solidFill>
                  <a:srgbClr val="00B0F0"/>
                </a:solidFill>
                <a:latin typeface="Aptos"/>
                <a:ea typeface="Segoe UI"/>
                <a:cs typeface="Segoe UI"/>
              </a:rPr>
              <a:t>This </a:t>
            </a:r>
            <a:r>
              <a:rPr lang="en-GB" sz="1600" i="1">
                <a:solidFill>
                  <a:srgbClr val="00B0F0"/>
                </a:solidFill>
                <a:latin typeface="Aptos"/>
                <a:ea typeface="Segoe UI"/>
                <a:cs typeface="Segoe UI"/>
              </a:rPr>
              <a:t>design </a:t>
            </a:r>
            <a:r>
              <a:rPr lang="en-GB" sz="1600" b="0" i="1" u="none" strike="noStrike" baseline="0">
                <a:solidFill>
                  <a:srgbClr val="00B0F0"/>
                </a:solidFill>
                <a:latin typeface="Aptos"/>
                <a:ea typeface="Segoe UI"/>
                <a:cs typeface="Segoe UI"/>
              </a:rPr>
              <a:t>disrupts the </a:t>
            </a:r>
            <a:r>
              <a:rPr lang="en-GB" sz="1600" i="1">
                <a:solidFill>
                  <a:srgbClr val="00B0F0"/>
                </a:solidFill>
                <a:latin typeface="Aptos"/>
                <a:ea typeface="Segoe UI"/>
                <a:cs typeface="Segoe UI"/>
              </a:rPr>
              <a:t>unified rotation by reversing inner swirl to</a:t>
            </a:r>
            <a:r>
              <a:rPr lang="en-GB" sz="1600" b="0" i="1" u="none" strike="noStrike" baseline="0">
                <a:solidFill>
                  <a:srgbClr val="00B0F0"/>
                </a:solidFill>
                <a:latin typeface="Aptos"/>
                <a:ea typeface="Segoe UI"/>
                <a:cs typeface="Segoe UI"/>
              </a:rPr>
              <a:t> amplify turbulent </a:t>
            </a:r>
            <a:r>
              <a:rPr lang="en-GB" sz="1600" i="1">
                <a:solidFill>
                  <a:srgbClr val="00B0F0"/>
                </a:solidFill>
                <a:latin typeface="Aptos"/>
                <a:ea typeface="Segoe UI"/>
                <a:cs typeface="Segoe UI"/>
              </a:rPr>
              <a:t>shear mixing</a:t>
            </a:r>
            <a:r>
              <a:rPr lang="en-GB" sz="1600" b="0" i="1" u="none" strike="noStrike" baseline="0">
                <a:solidFill>
                  <a:srgbClr val="00B0F0"/>
                </a:solidFill>
                <a:latin typeface="Aptos"/>
                <a:ea typeface="Segoe UI"/>
                <a:cs typeface="Segoe UI"/>
              </a:rPr>
              <a:t> at the stream interface</a:t>
            </a:r>
            <a:r>
              <a:rPr lang="en-GB" sz="1600" i="1">
                <a:solidFill>
                  <a:srgbClr val="00B0F0"/>
                </a:solidFill>
                <a:latin typeface="Aptos"/>
                <a:ea typeface="Segoe UI"/>
                <a:cs typeface="Segoe UI"/>
              </a:rPr>
              <a:t>.</a:t>
            </a:r>
            <a:endParaRPr lang="en-GB" sz="1600" b="1">
              <a:solidFill>
                <a:srgbClr val="00B0F0"/>
              </a:solidFill>
              <a:latin typeface="Aptos"/>
              <a:ea typeface="Segoe UI"/>
              <a:cs typeface="Segoe UI"/>
            </a:endParaRPr>
          </a:p>
          <a:p>
            <a:pPr marL="285750" indent="-285750">
              <a:buFont typeface="Calibri"/>
              <a:buChar char="-"/>
            </a:pPr>
            <a:r>
              <a:rPr lang="en-GB" sz="1600" i="1">
                <a:solidFill>
                  <a:srgbClr val="00B0F0"/>
                </a:solidFill>
                <a:latin typeface="Aptos"/>
                <a:ea typeface="Segoe UI"/>
                <a:cs typeface="Segoe UI"/>
              </a:rPr>
              <a:t> Testing</a:t>
            </a:r>
            <a:r>
              <a:rPr lang="en-GB" sz="1600" b="0" i="1" u="none" strike="noStrike" baseline="0">
                <a:solidFill>
                  <a:srgbClr val="00B0F0"/>
                </a:solidFill>
                <a:latin typeface="Aptos"/>
                <a:ea typeface="Segoe UI"/>
                <a:cs typeface="Segoe UI"/>
              </a:rPr>
              <a:t> </a:t>
            </a:r>
            <a:r>
              <a:rPr lang="en-GB" sz="1600" i="1">
                <a:solidFill>
                  <a:srgbClr val="00B0F0"/>
                </a:solidFill>
                <a:latin typeface="Aptos"/>
                <a:ea typeface="Segoe UI"/>
                <a:cs typeface="Segoe UI"/>
              </a:rPr>
              <a:t>if theoretical</a:t>
            </a:r>
            <a:r>
              <a:rPr lang="en-GB" sz="1600" b="0" i="1" u="none" strike="noStrike" baseline="0">
                <a:solidFill>
                  <a:srgbClr val="00B0F0"/>
                </a:solidFill>
                <a:latin typeface="Aptos"/>
                <a:ea typeface="Segoe UI"/>
                <a:cs typeface="Segoe UI"/>
              </a:rPr>
              <a:t> NOx reductions </a:t>
            </a:r>
            <a:r>
              <a:rPr lang="en-GB" sz="1600" i="1">
                <a:solidFill>
                  <a:srgbClr val="00B0F0"/>
                </a:solidFill>
                <a:latin typeface="Aptos"/>
                <a:ea typeface="Segoe UI"/>
                <a:cs typeface="Segoe UI"/>
              </a:rPr>
              <a:t>outweigh aerodynamic</a:t>
            </a:r>
            <a:r>
              <a:rPr lang="en-GB" sz="1600" b="0" i="1" u="none" strike="noStrike" baseline="0">
                <a:solidFill>
                  <a:srgbClr val="00B0F0"/>
                </a:solidFill>
                <a:latin typeface="Aptos"/>
                <a:ea typeface="Segoe UI"/>
                <a:cs typeface="Segoe UI"/>
              </a:rPr>
              <a:t> stability penalties.​</a:t>
            </a:r>
            <a:r>
              <a:rPr sz="1600" b="0" i="1">
                <a:solidFill>
                  <a:srgbClr val="00B0F0"/>
                </a:solidFill>
                <a:latin typeface="Aptos"/>
                <a:ea typeface="Aptos"/>
                <a:cs typeface="Aptos"/>
              </a:rPr>
              <a:t>​</a:t>
            </a:r>
            <a:endParaRPr lang="en-GB" sz="1600" i="1">
              <a:solidFill>
                <a:srgbClr val="00B0F0"/>
              </a:solidFill>
            </a:endParaRPr>
          </a:p>
        </p:txBody>
      </p:sp>
      <p:sp>
        <p:nvSpPr>
          <p:cNvPr id="7" name="TextBox 3">
            <a:extLst>
              <a:ext uri="{FF2B5EF4-FFF2-40B4-BE49-F238E27FC236}">
                <a16:creationId xmlns:a16="http://schemas.microsoft.com/office/drawing/2014/main" id="{ADB60273-5813-DB60-79F8-637E7265FDCA}"/>
              </a:ext>
            </a:extLst>
          </p:cNvPr>
          <p:cNvSpPr txBox="1"/>
          <p:nvPr/>
        </p:nvSpPr>
        <p:spPr>
          <a:xfrm>
            <a:off x="4646897" y="1419631"/>
            <a:ext cx="7307383" cy="280589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875"/>
              </a:lnSpc>
            </a:pPr>
            <a:r>
              <a:rPr lang="en-US" sz="2400" b="1" i="0" u="none" strike="noStrike" baseline="0">
                <a:solidFill>
                  <a:srgbClr val="FF0000"/>
                </a:solidFill>
                <a:latin typeface="Aptos Display"/>
                <a:ea typeface="Arial"/>
                <a:cs typeface="Arial"/>
              </a:rPr>
              <a:t>Original </a:t>
            </a:r>
            <a:r>
              <a:rPr lang="en-US" sz="2400" b="1">
                <a:solidFill>
                  <a:srgbClr val="FF0000"/>
                </a:solidFill>
                <a:latin typeface="Aptos Display"/>
                <a:ea typeface="Arial"/>
                <a:cs typeface="Arial"/>
              </a:rPr>
              <a:t>Contributions</a:t>
            </a:r>
            <a:r>
              <a:rPr lang="en-US" sz="2400" b="1" i="0" u="none" strike="noStrike" baseline="0">
                <a:solidFill>
                  <a:srgbClr val="FF0000"/>
                </a:solidFill>
                <a:latin typeface="Aptos Display"/>
                <a:ea typeface="Arial"/>
                <a:cs typeface="Arial"/>
              </a:rPr>
              <a:t>:</a:t>
            </a:r>
            <a:r>
              <a:rPr lang="en-US" sz="2400" b="0" i="0">
                <a:solidFill>
                  <a:srgbClr val="FF0000"/>
                </a:solidFill>
                <a:latin typeface="Aptos Display"/>
                <a:ea typeface="Arial"/>
                <a:cs typeface="Arial"/>
              </a:rPr>
              <a:t>​</a:t>
            </a:r>
            <a:endParaRPr lang="en-US" sz="2400" b="1" i="0">
              <a:solidFill>
                <a:srgbClr val="FF0000"/>
              </a:solidFill>
              <a:latin typeface="Aptos Display"/>
              <a:ea typeface="Arial"/>
              <a:cs typeface="Arial"/>
            </a:endParaRPr>
          </a:p>
          <a:p>
            <a:pPr>
              <a:lnSpc>
                <a:spcPts val="1875"/>
              </a:lnSpc>
            </a:pPr>
            <a:endParaRPr lang="en-US" sz="2400" b="1">
              <a:solidFill>
                <a:srgbClr val="FF0000"/>
              </a:solidFill>
              <a:latin typeface="Aptos Display"/>
              <a:ea typeface="Arial"/>
              <a:cs typeface="Arial"/>
            </a:endParaRPr>
          </a:p>
          <a:p>
            <a:pPr marL="742950" lvl="1" indent="-285750">
              <a:lnSpc>
                <a:spcPts val="1875"/>
              </a:lnSpc>
              <a:buFont typeface="Arial,Sans-Serif"/>
              <a:buChar char="•"/>
            </a:pPr>
            <a:r>
              <a:rPr lang="en-US" sz="2400">
                <a:solidFill>
                  <a:srgbClr val="000000"/>
                </a:solidFill>
                <a:latin typeface="Aptos Display"/>
                <a:ea typeface="Arial"/>
                <a:cs typeface="Arial"/>
              </a:rPr>
              <a:t>Development, fabrication &amp; integration of counter-swirl (CS) inner injector.</a:t>
            </a:r>
          </a:p>
          <a:p>
            <a:pPr marL="742950" lvl="1" indent="-285750">
              <a:lnSpc>
                <a:spcPts val="1875"/>
              </a:lnSpc>
              <a:buFont typeface="Arial,Sans-Serif"/>
              <a:buChar char="•"/>
            </a:pPr>
            <a:endParaRPr lang="en-US" sz="2400">
              <a:solidFill>
                <a:srgbClr val="000000"/>
              </a:solidFill>
              <a:latin typeface="Aptos Display"/>
              <a:ea typeface="Arial"/>
              <a:cs typeface="Arial"/>
            </a:endParaRPr>
          </a:p>
          <a:p>
            <a:pPr marL="742950" lvl="1" indent="-285750">
              <a:lnSpc>
                <a:spcPts val="1875"/>
              </a:lnSpc>
              <a:buFont typeface="Arial,Sans-Serif"/>
              <a:buChar char="•"/>
            </a:pPr>
            <a:r>
              <a:rPr lang="en-US" sz="2400">
                <a:solidFill>
                  <a:srgbClr val="000000"/>
                </a:solidFill>
                <a:latin typeface="Aptos Display"/>
                <a:ea typeface="Arial"/>
                <a:cs typeface="Arial"/>
              </a:rPr>
              <a:t>Execution</a:t>
            </a:r>
            <a:r>
              <a:rPr lang="en-US" sz="2400" b="0" i="0" u="none" strike="noStrike" baseline="0">
                <a:solidFill>
                  <a:srgbClr val="000000"/>
                </a:solidFill>
                <a:latin typeface="Aptos Display"/>
                <a:ea typeface="Arial"/>
                <a:cs typeface="Arial"/>
              </a:rPr>
              <a:t> of comparative numerical (CFD) analysis of the co/counter-swirl flow structures.</a:t>
            </a:r>
            <a:endParaRPr lang="en-US" sz="2400">
              <a:solidFill>
                <a:srgbClr val="000000"/>
              </a:solidFill>
              <a:latin typeface="Aptos Display"/>
              <a:ea typeface="Arial"/>
              <a:cs typeface="Arial"/>
            </a:endParaRPr>
          </a:p>
          <a:p>
            <a:pPr lvl="1">
              <a:lnSpc>
                <a:spcPts val="1875"/>
              </a:lnSpc>
            </a:pPr>
            <a:endParaRPr lang="en-US" sz="2400">
              <a:solidFill>
                <a:srgbClr val="000000"/>
              </a:solidFill>
              <a:latin typeface="Aptos Display"/>
              <a:ea typeface="Arial"/>
              <a:cs typeface="Arial"/>
            </a:endParaRPr>
          </a:p>
          <a:p>
            <a:pPr marL="742950" lvl="1" indent="-285750">
              <a:lnSpc>
                <a:spcPts val="1875"/>
              </a:lnSpc>
              <a:buFont typeface="Arial,Sans-Serif"/>
              <a:buChar char="•"/>
            </a:pPr>
            <a:r>
              <a:rPr lang="en-US" sz="2400" b="0" i="0" u="none" strike="noStrike" baseline="0">
                <a:solidFill>
                  <a:srgbClr val="000000"/>
                </a:solidFill>
                <a:latin typeface="Aptos Display"/>
                <a:ea typeface="Arial"/>
                <a:cs typeface="Arial"/>
              </a:rPr>
              <a:t>Experimental characterization of the</a:t>
            </a:r>
            <a:r>
              <a:rPr lang="en-US" sz="2400">
                <a:solidFill>
                  <a:srgbClr val="000000"/>
                </a:solidFill>
                <a:latin typeface="Aptos Display"/>
                <a:ea typeface="Arial"/>
                <a:cs typeface="Arial"/>
              </a:rPr>
              <a:t> CS injector Combustion stability &amp;</a:t>
            </a:r>
            <a:r>
              <a:rPr lang="en-US" sz="2400" b="0" i="0" u="none" strike="noStrike" baseline="0">
                <a:solidFill>
                  <a:srgbClr val="000000"/>
                </a:solidFill>
                <a:latin typeface="Aptos Display"/>
                <a:ea typeface="Arial"/>
                <a:cs typeface="Arial"/>
              </a:rPr>
              <a:t> emissions. </a:t>
            </a:r>
            <a:r>
              <a:rPr lang="en-US" sz="2400" b="0" i="0">
                <a:solidFill>
                  <a:srgbClr val="000000"/>
                </a:solidFill>
                <a:latin typeface="Aptos Display"/>
                <a:ea typeface="Arial"/>
                <a:cs typeface="Arial"/>
              </a:rPr>
              <a:t>​</a:t>
            </a:r>
          </a:p>
          <a:p>
            <a:pPr algn="ctr"/>
            <a:endParaRPr lang="en-GB"/>
          </a:p>
        </p:txBody>
      </p:sp>
      <p:pic>
        <p:nvPicPr>
          <p:cNvPr id="9" name="Picture 8">
            <a:extLst>
              <a:ext uri="{FF2B5EF4-FFF2-40B4-BE49-F238E27FC236}">
                <a16:creationId xmlns:a16="http://schemas.microsoft.com/office/drawing/2014/main" id="{DE541D27-3889-B267-245B-225574547060}"/>
              </a:ext>
            </a:extLst>
          </p:cNvPr>
          <p:cNvPicPr>
            <a:picLocks noChangeAspect="1"/>
          </p:cNvPicPr>
          <p:nvPr/>
        </p:nvPicPr>
        <p:blipFill>
          <a:blip r:embed="rId4"/>
          <a:srcRect r="-265"/>
          <a:stretch>
            <a:fillRect/>
          </a:stretch>
        </p:blipFill>
        <p:spPr>
          <a:xfrm>
            <a:off x="-1466" y="995851"/>
            <a:ext cx="4399090" cy="3234835"/>
          </a:xfrm>
          <a:prstGeom prst="rect">
            <a:avLst/>
          </a:prstGeom>
        </p:spPr>
      </p:pic>
    </p:spTree>
    <p:extLst>
      <p:ext uri="{BB962C8B-B14F-4D97-AF65-F5344CB8AC3E}">
        <p14:creationId xmlns:p14="http://schemas.microsoft.com/office/powerpoint/2010/main" val="761277054"/>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81490-FE1D-C89C-6461-077724DC1BF5}"/>
              </a:ext>
            </a:extLst>
          </p:cNvPr>
          <p:cNvSpPr>
            <a:spLocks noGrp="1"/>
          </p:cNvSpPr>
          <p:nvPr>
            <p:ph type="title"/>
          </p:nvPr>
        </p:nvSpPr>
        <p:spPr>
          <a:xfrm>
            <a:off x="105355" y="90617"/>
            <a:ext cx="7225271" cy="543697"/>
          </a:xfrm>
        </p:spPr>
        <p:txBody>
          <a:bodyPr>
            <a:normAutofit fontScale="90000"/>
          </a:bodyPr>
          <a:lstStyle/>
          <a:p>
            <a:r>
              <a:rPr lang="en-GB"/>
              <a:t>Operating Parameters summary &amp; Diagnostic tools</a:t>
            </a:r>
          </a:p>
        </p:txBody>
      </p:sp>
      <p:graphicFrame>
        <p:nvGraphicFramePr>
          <p:cNvPr id="5" name="Table 4">
            <a:extLst>
              <a:ext uri="{FF2B5EF4-FFF2-40B4-BE49-F238E27FC236}">
                <a16:creationId xmlns:a16="http://schemas.microsoft.com/office/drawing/2014/main" id="{986E8E8D-AFCE-5607-273B-B609149870B4}"/>
              </a:ext>
            </a:extLst>
          </p:cNvPr>
          <p:cNvGraphicFramePr>
            <a:graphicFrameLocks noGrp="1"/>
          </p:cNvGraphicFramePr>
          <p:nvPr>
            <p:extLst>
              <p:ext uri="{D42A27DB-BD31-4B8C-83A1-F6EECF244321}">
                <p14:modId xmlns:p14="http://schemas.microsoft.com/office/powerpoint/2010/main" val="719641106"/>
              </p:ext>
            </p:extLst>
          </p:nvPr>
        </p:nvGraphicFramePr>
        <p:xfrm>
          <a:off x="359833" y="1164166"/>
          <a:ext cx="5492568" cy="3290986"/>
        </p:xfrm>
        <a:graphic>
          <a:graphicData uri="http://schemas.openxmlformats.org/drawingml/2006/table">
            <a:tbl>
              <a:tblPr bandRow="1">
                <a:tableStyleId>{5C22544A-7EE6-4342-B048-85BDC9FD1C3A}</a:tableStyleId>
              </a:tblPr>
              <a:tblGrid>
                <a:gridCol w="2746284">
                  <a:extLst>
                    <a:ext uri="{9D8B030D-6E8A-4147-A177-3AD203B41FA5}">
                      <a16:colId xmlns:a16="http://schemas.microsoft.com/office/drawing/2014/main" val="3182768370"/>
                    </a:ext>
                  </a:extLst>
                </a:gridCol>
                <a:gridCol w="2746284">
                  <a:extLst>
                    <a:ext uri="{9D8B030D-6E8A-4147-A177-3AD203B41FA5}">
                      <a16:colId xmlns:a16="http://schemas.microsoft.com/office/drawing/2014/main" val="530276433"/>
                    </a:ext>
                  </a:extLst>
                </a:gridCol>
              </a:tblGrid>
              <a:tr h="403361">
                <a:tc>
                  <a:txBody>
                    <a:bodyPr/>
                    <a:lstStyle/>
                    <a:p>
                      <a:pPr marL="0" marR="0" rtl="0">
                        <a:spcAft>
                          <a:spcPts val="2400"/>
                        </a:spcAft>
                        <a:buNone/>
                      </a:pPr>
                      <a:r>
                        <a:rPr lang="en-GB" b="1">
                          <a:solidFill>
                            <a:schemeClr val="bg1"/>
                          </a:solidFill>
                          <a:effectLst/>
                          <a:latin typeface="Google Sans Text"/>
                        </a:rPr>
                        <a:t>Parameter</a:t>
                      </a:r>
                      <a:endParaRPr lang="en-GB">
                        <a:solidFill>
                          <a:schemeClr val="bg1"/>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solidFill>
                      <a:srgbClr val="0070C0"/>
                    </a:solidFill>
                  </a:tcPr>
                </a:tc>
                <a:tc>
                  <a:txBody>
                    <a:bodyPr/>
                    <a:lstStyle/>
                    <a:p>
                      <a:pPr marL="0" marR="0" rtl="0">
                        <a:spcAft>
                          <a:spcPts val="2400"/>
                        </a:spcAft>
                        <a:buNone/>
                      </a:pPr>
                      <a:r>
                        <a:rPr lang="en-GB" b="1">
                          <a:solidFill>
                            <a:schemeClr val="bg1"/>
                          </a:solidFill>
                          <a:effectLst/>
                          <a:latin typeface="Google Sans Text"/>
                        </a:rPr>
                        <a:t>Value</a:t>
                      </a:r>
                      <a:endParaRPr lang="en-GB">
                        <a:solidFill>
                          <a:schemeClr val="bg1"/>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solidFill>
                      <a:srgbClr val="0070C0"/>
                    </a:solidFill>
                  </a:tcPr>
                </a:tc>
                <a:extLst>
                  <a:ext uri="{0D108BD9-81ED-4DB2-BD59-A6C34878D82A}">
                    <a16:rowId xmlns:a16="http://schemas.microsoft.com/office/drawing/2014/main" val="797852806"/>
                  </a:ext>
                </a:extLst>
              </a:tr>
              <a:tr h="695799">
                <a:tc>
                  <a:txBody>
                    <a:bodyPr/>
                    <a:lstStyle/>
                    <a:p>
                      <a:pPr marL="0" marR="0" rtl="0">
                        <a:spcAft>
                          <a:spcPts val="2400"/>
                        </a:spcAft>
                        <a:buNone/>
                      </a:pPr>
                      <a:r>
                        <a:rPr lang="en-GB" dirty="0">
                          <a:solidFill>
                            <a:srgbClr val="1F1F1F"/>
                          </a:solidFill>
                          <a:effectLst/>
                          <a:latin typeface="Google Sans Text"/>
                        </a:rPr>
                        <a:t>Thermal Power (P </a:t>
                      </a:r>
                      <a:r>
                        <a:rPr lang="en-GB" dirty="0" err="1">
                          <a:solidFill>
                            <a:srgbClr val="1F1F1F"/>
                          </a:solidFill>
                          <a:effectLst/>
                          <a:latin typeface="Google Sans Text"/>
                        </a:rPr>
                        <a:t>th</a:t>
                      </a:r>
                      <a:r>
                        <a:rPr lang="en-GB" dirty="0">
                          <a:solidFill>
                            <a:srgbClr val="1F1F1F"/>
                          </a:solidFill>
                          <a:effectLst/>
                          <a:latin typeface="Google Sans Text"/>
                        </a:rPr>
                        <a:t>)</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GB">
                          <a:solidFill>
                            <a:srgbClr val="1F1F1F"/>
                          </a:solidFill>
                          <a:effectLst/>
                          <a:latin typeface="Google Sans Text"/>
                        </a:rPr>
                        <a:t>12 kW </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914490377"/>
                  </a:ext>
                </a:extLst>
              </a:tr>
              <a:tr h="766387">
                <a:tc>
                  <a:txBody>
                    <a:bodyPr/>
                    <a:lstStyle/>
                    <a:p>
                      <a:pPr marL="0" marR="0" rtl="0">
                        <a:spcAft>
                          <a:spcPts val="2400"/>
                        </a:spcAft>
                        <a:buNone/>
                      </a:pPr>
                      <a:r>
                        <a:rPr lang="en-US" sz="1800" b="0" i="0" u="none" strike="noStrike" noProof="0">
                          <a:solidFill>
                            <a:srgbClr val="000000"/>
                          </a:solidFill>
                          <a:effectLst/>
                          <a:latin typeface="Aptos"/>
                        </a:rPr>
                        <a:t>Φ global</a:t>
                      </a:r>
                      <a:endParaRPr lang="en-GB" dirty="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GB">
                          <a:solidFill>
                            <a:srgbClr val="1F1F1F"/>
                          </a:solidFill>
                          <a:effectLst/>
                          <a:latin typeface="Google Sans Text"/>
                        </a:rPr>
                        <a:t>Varied (0.25, 0.35, 0.45) </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146046898"/>
                  </a:ext>
                </a:extLst>
              </a:tr>
              <a:tr h="665546">
                <a:tc>
                  <a:txBody>
                    <a:bodyPr/>
                    <a:lstStyle/>
                    <a:p>
                      <a:pPr marL="0" marR="0" rtl="0">
                        <a:spcAft>
                          <a:spcPts val="2400"/>
                        </a:spcAft>
                        <a:buNone/>
                      </a:pPr>
                      <a:r>
                        <a:rPr lang="en-GB">
                          <a:solidFill>
                            <a:srgbClr val="1F1F1F"/>
                          </a:solidFill>
                          <a:effectLst/>
                          <a:latin typeface="Google Sans Text"/>
                        </a:rPr>
                        <a:t>Split Ratio (SR)</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GB">
                          <a:solidFill>
                            <a:srgbClr val="1F1F1F"/>
                          </a:solidFill>
                          <a:effectLst/>
                          <a:latin typeface="Google Sans Text"/>
                        </a:rPr>
                        <a:t>Nominal 0.60 (varied 0.3 to 0.9)</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98464955"/>
                  </a:ext>
                </a:extLst>
              </a:tr>
              <a:tr h="665546">
                <a:tc>
                  <a:txBody>
                    <a:bodyPr/>
                    <a:lstStyle/>
                    <a:p>
                      <a:pPr marL="0" marR="0" rtl="0">
                        <a:spcAft>
                          <a:spcPts val="2400"/>
                        </a:spcAft>
                        <a:buNone/>
                      </a:pPr>
                      <a:r>
                        <a:rPr lang="en-US" sz="1800" b="0" i="0" u="none" strike="noStrike" noProof="0">
                          <a:solidFill>
                            <a:srgbClr val="000000"/>
                          </a:solidFill>
                          <a:effectLst/>
                          <a:latin typeface="Aptos"/>
                        </a:rPr>
                        <a:t>Φ premix</a:t>
                      </a:r>
                      <a:endParaRPr lang="en-GB" dirty="0">
                        <a:solidFill>
                          <a:srgbClr val="1F1F1F"/>
                        </a:solidFill>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rtl="0">
                        <a:spcAft>
                          <a:spcPts val="2400"/>
                        </a:spcAft>
                        <a:buNone/>
                      </a:pPr>
                      <a:r>
                        <a:rPr lang="en-GB">
                          <a:solidFill>
                            <a:srgbClr val="1F1F1F"/>
                          </a:solidFill>
                          <a:effectLst/>
                          <a:latin typeface="Google Sans Text"/>
                        </a:rPr>
                        <a:t>Non-premixed (</a:t>
                      </a:r>
                      <a:r>
                        <a:rPr lang="en-US" sz="1800" b="0" i="0" u="none" strike="noStrike" noProof="0">
                          <a:solidFill>
                            <a:srgbClr val="000000"/>
                          </a:solidFill>
                          <a:effectLst/>
                          <a:latin typeface="Aptos"/>
                        </a:rPr>
                        <a:t>∞</a:t>
                      </a:r>
                      <a:r>
                        <a:rPr lang="en-GB">
                          <a:solidFill>
                            <a:srgbClr val="1F1F1F"/>
                          </a:solidFill>
                          <a:effectLst/>
                          <a:latin typeface="Google Sans Text"/>
                        </a:rPr>
                        <a:t>) to premixed (9, 7, 5) </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77640565"/>
                  </a:ext>
                </a:extLst>
              </a:tr>
            </a:tbl>
          </a:graphicData>
        </a:graphic>
      </p:graphicFrame>
      <p:sp>
        <p:nvSpPr>
          <p:cNvPr id="7" name="Rectangle: Rounded Corners 6">
            <a:extLst>
              <a:ext uri="{FF2B5EF4-FFF2-40B4-BE49-F238E27FC236}">
                <a16:creationId xmlns:a16="http://schemas.microsoft.com/office/drawing/2014/main" id="{D58FD7C9-39CB-EBE9-C566-AA0B7920F66A}"/>
              </a:ext>
            </a:extLst>
          </p:cNvPr>
          <p:cNvSpPr/>
          <p:nvPr/>
        </p:nvSpPr>
        <p:spPr>
          <a:xfrm>
            <a:off x="359833" y="4540249"/>
            <a:ext cx="4656666" cy="158750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rgbClr val="000000"/>
                </a:solidFill>
                <a:latin typeface="Google Sans Text"/>
              </a:rPr>
              <a:t>Diagnostic instruments:</a:t>
            </a:r>
            <a:endParaRPr lang="en-US" sz="1400">
              <a:solidFill>
                <a:srgbClr val="000000"/>
              </a:solidFill>
              <a:latin typeface="Aptos"/>
            </a:endParaRPr>
          </a:p>
          <a:p>
            <a:pPr algn="ctr"/>
            <a:r>
              <a:rPr lang="en-US" sz="1400" dirty="0">
                <a:solidFill>
                  <a:srgbClr val="000000"/>
                </a:solidFill>
                <a:latin typeface="Google Sans Text"/>
              </a:rPr>
              <a:t> - </a:t>
            </a:r>
            <a:r>
              <a:rPr lang="en-US" sz="1400" b="1" dirty="0">
                <a:solidFill>
                  <a:srgbClr val="000000"/>
                </a:solidFill>
                <a:latin typeface="Google Sans Text"/>
              </a:rPr>
              <a:t>UV </a:t>
            </a:r>
            <a:r>
              <a:rPr lang="en-US" sz="1400" b="1" dirty="0">
                <a:solidFill>
                  <a:srgbClr val="000000"/>
                </a:solidFill>
                <a:ea typeface="+mn-lt"/>
                <a:cs typeface="+mn-lt"/>
              </a:rPr>
              <a:t>imaging</a:t>
            </a:r>
            <a:r>
              <a:rPr lang="en-US" sz="1400" dirty="0">
                <a:solidFill>
                  <a:srgbClr val="000000"/>
                </a:solidFill>
                <a:ea typeface="+mn-lt"/>
                <a:cs typeface="+mn-lt"/>
              </a:rPr>
              <a:t> </a:t>
            </a:r>
            <a:r>
              <a:rPr lang="en-US" sz="1400" dirty="0">
                <a:solidFill>
                  <a:srgbClr val="000000"/>
                </a:solidFill>
                <a:latin typeface="Google Sans Text"/>
              </a:rPr>
              <a:t>(</a:t>
            </a:r>
            <a:r>
              <a:rPr lang="en-US" sz="1400" i="1" dirty="0">
                <a:solidFill>
                  <a:srgbClr val="000000"/>
                </a:solidFill>
                <a:latin typeface="Google Sans Text"/>
              </a:rPr>
              <a:t>OH</a:t>
            </a:r>
            <a:r>
              <a:rPr lang="en-US" sz="1400" b="0" i="1" u="none" strike="noStrike" baseline="0" dirty="0">
                <a:solidFill>
                  <a:srgbClr val="000000"/>
                </a:solidFill>
                <a:latin typeface="Google Sans Text"/>
              </a:rPr>
              <a:t>* chemiluminescence</a:t>
            </a:r>
            <a:r>
              <a:rPr lang="en-US" sz="1400" i="1" dirty="0">
                <a:solidFill>
                  <a:srgbClr val="000000"/>
                </a:solidFill>
                <a:latin typeface="Google Sans Text"/>
              </a:rPr>
              <a:t>)</a:t>
            </a:r>
            <a:r>
              <a:rPr lang="en-US" sz="1400" dirty="0">
                <a:solidFill>
                  <a:srgbClr val="000000"/>
                </a:solidFill>
                <a:latin typeface="Google Sans Text"/>
              </a:rPr>
              <a:t> </a:t>
            </a:r>
            <a:r>
              <a:rPr lang="en-US" sz="1400" b="0" i="0" u="none" strike="noStrike" baseline="0" dirty="0">
                <a:solidFill>
                  <a:srgbClr val="000000"/>
                </a:solidFill>
                <a:latin typeface="Google Sans Text"/>
              </a:rPr>
              <a:t>for flame </a:t>
            </a:r>
            <a:r>
              <a:rPr lang="en-US" sz="1400" dirty="0">
                <a:solidFill>
                  <a:srgbClr val="000000"/>
                </a:solidFill>
                <a:latin typeface="Google Sans Text"/>
              </a:rPr>
              <a:t>morphology: </a:t>
            </a:r>
            <a:r>
              <a:rPr lang="en-US" sz="1400" i="1" dirty="0">
                <a:solidFill>
                  <a:srgbClr val="FF0000"/>
                </a:solidFill>
                <a:ea typeface="+mn-lt"/>
                <a:cs typeface="+mn-lt"/>
              </a:rPr>
              <a:t>[</a:t>
            </a:r>
            <a:r>
              <a:rPr lang="en-GB" sz="1400" i="1" dirty="0">
                <a:solidFill>
                  <a:srgbClr val="FF0000"/>
                </a:solidFill>
                <a:latin typeface="Aptos"/>
              </a:rPr>
              <a:t>SVS- </a:t>
            </a:r>
            <a:r>
              <a:rPr lang="en-GB" sz="1400" i="1" dirty="0" err="1">
                <a:solidFill>
                  <a:srgbClr val="FF0000"/>
                </a:solidFill>
                <a:latin typeface="Aptos"/>
              </a:rPr>
              <a:t>Vistek</a:t>
            </a:r>
            <a:r>
              <a:rPr lang="en-GB" sz="1400" i="1" dirty="0">
                <a:solidFill>
                  <a:srgbClr val="FF0000"/>
                </a:solidFill>
                <a:latin typeface="Aptos"/>
              </a:rPr>
              <a:t> fxo487 MCX camera + Azure Photonics 75 mm F/3.8 ultraviolet lens+ MIDOPT Near-UV Bandpass Filter]</a:t>
            </a:r>
            <a:endParaRPr lang="en-US" sz="1400" dirty="0">
              <a:solidFill>
                <a:srgbClr val="000000"/>
              </a:solidFill>
              <a:latin typeface="Aptos"/>
            </a:endParaRPr>
          </a:p>
          <a:p>
            <a:pPr marL="285750" indent="-285750" algn="ctr">
              <a:buFont typeface="Calibri"/>
              <a:buChar char="-"/>
            </a:pPr>
            <a:r>
              <a:rPr lang="en-US" sz="1400" b="1">
                <a:solidFill>
                  <a:srgbClr val="000000"/>
                </a:solidFill>
                <a:latin typeface="Google Sans Text"/>
              </a:rPr>
              <a:t>Continuous</a:t>
            </a:r>
            <a:r>
              <a:rPr lang="en-US" sz="1400" b="1" i="0" u="none" strike="noStrike" baseline="0">
                <a:solidFill>
                  <a:srgbClr val="000000"/>
                </a:solidFill>
                <a:latin typeface="Google Sans Text"/>
              </a:rPr>
              <a:t> gas analysis</a:t>
            </a:r>
            <a:r>
              <a:rPr lang="en-US" sz="1400" b="0" i="0" u="none" strike="noStrike" baseline="0">
                <a:solidFill>
                  <a:srgbClr val="000000"/>
                </a:solidFill>
                <a:latin typeface="Google Sans Text"/>
              </a:rPr>
              <a:t> for NOx emissions</a:t>
            </a:r>
            <a:r>
              <a:rPr lang="en-US" sz="1400">
                <a:solidFill>
                  <a:srgbClr val="000000"/>
                </a:solidFill>
                <a:latin typeface="Google Sans Text"/>
              </a:rPr>
              <a:t>: </a:t>
            </a:r>
            <a:r>
              <a:rPr lang="en-US" sz="1400">
                <a:solidFill>
                  <a:srgbClr val="FF0000"/>
                </a:solidFill>
                <a:latin typeface="Google Sans Text"/>
              </a:rPr>
              <a:t>[</a:t>
            </a:r>
            <a:r>
              <a:rPr lang="en-GB" sz="1400">
                <a:solidFill>
                  <a:srgbClr val="FF0000"/>
                </a:solidFill>
                <a:latin typeface="Aptos"/>
              </a:rPr>
              <a:t>MRU MGA prime Gas Analyser]</a:t>
            </a:r>
            <a:endParaRPr lang="en-US" sz="1400">
              <a:solidFill>
                <a:srgbClr val="FF0000"/>
              </a:solidFill>
              <a:latin typeface="Aptos"/>
            </a:endParaRPr>
          </a:p>
        </p:txBody>
      </p:sp>
      <p:pic>
        <p:nvPicPr>
          <p:cNvPr id="3" name="Picture 2" descr="A machine with text overlay&#10;&#10;AI-generated content may be incorrect.">
            <a:extLst>
              <a:ext uri="{FF2B5EF4-FFF2-40B4-BE49-F238E27FC236}">
                <a16:creationId xmlns:a16="http://schemas.microsoft.com/office/drawing/2014/main" id="{D5D1FAE3-A197-AB19-EB35-86B3964BD0B5}"/>
              </a:ext>
            </a:extLst>
          </p:cNvPr>
          <p:cNvPicPr>
            <a:picLocks noChangeAspect="1"/>
          </p:cNvPicPr>
          <p:nvPr/>
        </p:nvPicPr>
        <p:blipFill>
          <a:blip r:embed="rId2"/>
          <a:srcRect t="86" r="-209" b="6601"/>
          <a:stretch>
            <a:fillRect/>
          </a:stretch>
        </p:blipFill>
        <p:spPr>
          <a:xfrm>
            <a:off x="6100234" y="1164166"/>
            <a:ext cx="5738289" cy="4565339"/>
          </a:xfrm>
          <a:prstGeom prst="rect">
            <a:avLst/>
          </a:prstGeom>
        </p:spPr>
      </p:pic>
    </p:spTree>
    <p:extLst>
      <p:ext uri="{BB962C8B-B14F-4D97-AF65-F5344CB8AC3E}">
        <p14:creationId xmlns:p14="http://schemas.microsoft.com/office/powerpoint/2010/main" val="3133377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C4B42-1164-B6F7-2259-8CFCC303708F}"/>
              </a:ext>
            </a:extLst>
          </p:cNvPr>
          <p:cNvSpPr>
            <a:spLocks noGrp="1"/>
          </p:cNvSpPr>
          <p:nvPr>
            <p:ph type="title"/>
          </p:nvPr>
        </p:nvSpPr>
        <p:spPr/>
        <p:txBody>
          <a:bodyPr/>
          <a:lstStyle/>
          <a:p>
            <a:r>
              <a:rPr lang="en-GB"/>
              <a:t>Numerical Methodology: Meshing &amp; Solver</a:t>
            </a:r>
          </a:p>
        </p:txBody>
      </p:sp>
      <p:pic>
        <p:nvPicPr>
          <p:cNvPr id="7" name="Picture 6" descr="A close-up of a blue and purple device&#10;&#10;AI-generated content may be incorrect.">
            <a:extLst>
              <a:ext uri="{FF2B5EF4-FFF2-40B4-BE49-F238E27FC236}">
                <a16:creationId xmlns:a16="http://schemas.microsoft.com/office/drawing/2014/main" id="{BBBB1DBA-18E4-E5F5-2280-42B149531CCA}"/>
              </a:ext>
            </a:extLst>
          </p:cNvPr>
          <p:cNvPicPr>
            <a:picLocks noChangeAspect="1"/>
          </p:cNvPicPr>
          <p:nvPr/>
        </p:nvPicPr>
        <p:blipFill>
          <a:blip r:embed="rId3"/>
          <a:stretch>
            <a:fillRect/>
          </a:stretch>
        </p:blipFill>
        <p:spPr>
          <a:xfrm>
            <a:off x="6227" y="1040055"/>
            <a:ext cx="5487620" cy="4181966"/>
          </a:xfrm>
          <a:prstGeom prst="rect">
            <a:avLst/>
          </a:prstGeom>
        </p:spPr>
      </p:pic>
      <p:pic>
        <p:nvPicPr>
          <p:cNvPr id="8" name="Picture 7" descr="A diagram of a company&#10;&#10;AI-generated content may be incorrect.">
            <a:extLst>
              <a:ext uri="{FF2B5EF4-FFF2-40B4-BE49-F238E27FC236}">
                <a16:creationId xmlns:a16="http://schemas.microsoft.com/office/drawing/2014/main" id="{31F63E59-A007-3EB4-0E36-DD918AB311D2}"/>
              </a:ext>
            </a:extLst>
          </p:cNvPr>
          <p:cNvPicPr>
            <a:picLocks noChangeAspect="1"/>
          </p:cNvPicPr>
          <p:nvPr/>
        </p:nvPicPr>
        <p:blipFill>
          <a:blip r:embed="rId4"/>
          <a:stretch>
            <a:fillRect/>
          </a:stretch>
        </p:blipFill>
        <p:spPr>
          <a:xfrm>
            <a:off x="6410812" y="1315183"/>
            <a:ext cx="5173295" cy="2742711"/>
          </a:xfrm>
          <a:prstGeom prst="rect">
            <a:avLst/>
          </a:prstGeom>
        </p:spPr>
      </p:pic>
      <p:sp>
        <p:nvSpPr>
          <p:cNvPr id="15" name="Arrow: Right 14">
            <a:extLst>
              <a:ext uri="{FF2B5EF4-FFF2-40B4-BE49-F238E27FC236}">
                <a16:creationId xmlns:a16="http://schemas.microsoft.com/office/drawing/2014/main" id="{01B3BBA4-0852-EC96-C60E-D4C0ABBB2CF9}"/>
              </a:ext>
            </a:extLst>
          </p:cNvPr>
          <p:cNvSpPr/>
          <p:nvPr/>
        </p:nvSpPr>
        <p:spPr>
          <a:xfrm>
            <a:off x="5485422" y="2137832"/>
            <a:ext cx="702569" cy="545448"/>
          </a:xfrm>
          <a:prstGeom prst="rightArrow">
            <a:avLst/>
          </a:prstGeom>
          <a:solidFill>
            <a:schemeClr val="tx2">
              <a:lumMod val="75000"/>
              <a:lumOff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8A35E909-EEC0-BB4A-EC18-A1DF1C023A80}"/>
              </a:ext>
            </a:extLst>
          </p:cNvPr>
          <p:cNvSpPr/>
          <p:nvPr/>
        </p:nvSpPr>
        <p:spPr>
          <a:xfrm>
            <a:off x="6513635" y="4853680"/>
            <a:ext cx="5483792" cy="74978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rPr>
              <a:t>Solver strategy: </a:t>
            </a:r>
            <a:r>
              <a:rPr lang="en-US">
                <a:solidFill>
                  <a:schemeClr val="tx1"/>
                </a:solidFill>
              </a:rPr>
              <a:t>Transient + Pressure-based + Coupled Solver</a:t>
            </a:r>
          </a:p>
        </p:txBody>
      </p:sp>
      <p:sp>
        <p:nvSpPr>
          <p:cNvPr id="10" name="Arrow: Down 9">
            <a:extLst>
              <a:ext uri="{FF2B5EF4-FFF2-40B4-BE49-F238E27FC236}">
                <a16:creationId xmlns:a16="http://schemas.microsoft.com/office/drawing/2014/main" id="{19F4A363-5D59-CFB4-BAB6-6AF43945DF95}"/>
              </a:ext>
            </a:extLst>
          </p:cNvPr>
          <p:cNvSpPr/>
          <p:nvPr/>
        </p:nvSpPr>
        <p:spPr>
          <a:xfrm>
            <a:off x="10151044" y="3578793"/>
            <a:ext cx="568242" cy="94354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2CF6043-5CC6-9B18-D05F-6AE494782BA6}"/>
              </a:ext>
            </a:extLst>
          </p:cNvPr>
          <p:cNvSpPr txBox="1"/>
          <p:nvPr/>
        </p:nvSpPr>
        <p:spPr>
          <a:xfrm>
            <a:off x="537308" y="5500077"/>
            <a:ext cx="411691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i="0" u="none" strike="noStrike" baseline="0">
                <a:solidFill>
                  <a:srgbClr val="FF0000"/>
                </a:solidFill>
                <a:latin typeface="Aptos Display"/>
                <a:ea typeface="Arial"/>
                <a:cs typeface="Arial"/>
              </a:rPr>
              <a:t>Polyhedral 3D</a:t>
            </a:r>
            <a:r>
              <a:rPr lang="en-GB" b="0" i="0" u="none" strike="noStrike" baseline="0">
                <a:solidFill>
                  <a:srgbClr val="1F1F1F"/>
                </a:solidFill>
                <a:latin typeface="Aptos Display"/>
                <a:ea typeface="Arial"/>
                <a:cs typeface="Arial"/>
              </a:rPr>
              <a:t> </a:t>
            </a:r>
            <a:r>
              <a:rPr lang="en-GB">
                <a:solidFill>
                  <a:srgbClr val="1F1F1F"/>
                </a:solidFill>
                <a:latin typeface="Aptos Display"/>
                <a:ea typeface="Arial"/>
                <a:cs typeface="Arial"/>
              </a:rPr>
              <a:t>mesh with </a:t>
            </a:r>
            <a:r>
              <a:rPr lang="en-GB" b="1">
                <a:solidFill>
                  <a:srgbClr val="1F1F1F"/>
                </a:solidFill>
                <a:latin typeface="Aptos Display"/>
                <a:ea typeface="Arial"/>
                <a:cs typeface="Arial"/>
              </a:rPr>
              <a:t>BOI </a:t>
            </a:r>
            <a:r>
              <a:rPr lang="en-GB">
                <a:solidFill>
                  <a:srgbClr val="1F1F1F"/>
                </a:solidFill>
                <a:latin typeface="Aptos Display"/>
                <a:ea typeface="Arial"/>
                <a:cs typeface="Arial"/>
              </a:rPr>
              <a:t>refinement</a:t>
            </a:r>
            <a:endParaRPr lang="en-US">
              <a:latin typeface="Aptos Display"/>
              <a:cs typeface="Arial"/>
            </a:endParaRPr>
          </a:p>
          <a:p>
            <a:pPr algn="ctr"/>
            <a:endParaRPr lang="en-GB"/>
          </a:p>
        </p:txBody>
      </p:sp>
    </p:spTree>
    <p:extLst>
      <p:ext uri="{BB962C8B-B14F-4D97-AF65-F5344CB8AC3E}">
        <p14:creationId xmlns:p14="http://schemas.microsoft.com/office/powerpoint/2010/main" val="1752482005"/>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F1D4E-5415-89F7-EEC5-1EC129D58F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616DBD-1D45-9A5F-EBE9-22E69B7C5562}"/>
              </a:ext>
            </a:extLst>
          </p:cNvPr>
          <p:cNvSpPr>
            <a:spLocks noGrp="1"/>
          </p:cNvSpPr>
          <p:nvPr>
            <p:ph type="title"/>
          </p:nvPr>
        </p:nvSpPr>
        <p:spPr/>
        <p:txBody>
          <a:bodyPr>
            <a:normAutofit/>
          </a:bodyPr>
          <a:lstStyle/>
          <a:p>
            <a:r>
              <a:rPr lang="en-GB"/>
              <a:t>Results: Co-Swirl Validation with PIV</a:t>
            </a:r>
            <a:endParaRPr lang="en-GB" sz="1600" i="0">
              <a:solidFill>
                <a:srgbClr val="000000"/>
              </a:solidFill>
              <a:latin typeface="Aptos"/>
            </a:endParaRPr>
          </a:p>
        </p:txBody>
      </p:sp>
      <p:pic>
        <p:nvPicPr>
          <p:cNvPr id="3" name="Picture 2">
            <a:extLst>
              <a:ext uri="{FF2B5EF4-FFF2-40B4-BE49-F238E27FC236}">
                <a16:creationId xmlns:a16="http://schemas.microsoft.com/office/drawing/2014/main" id="{693FA3BD-000D-775B-8B72-C3EEF4789335}"/>
              </a:ext>
            </a:extLst>
          </p:cNvPr>
          <p:cNvPicPr>
            <a:picLocks noChangeAspect="1"/>
          </p:cNvPicPr>
          <p:nvPr/>
        </p:nvPicPr>
        <p:blipFill>
          <a:blip r:embed="rId3"/>
          <a:stretch>
            <a:fillRect/>
          </a:stretch>
        </p:blipFill>
        <p:spPr>
          <a:xfrm>
            <a:off x="-1587" y="1047749"/>
            <a:ext cx="6003924" cy="2794001"/>
          </a:xfrm>
          <a:prstGeom prst="rect">
            <a:avLst/>
          </a:prstGeom>
        </p:spPr>
      </p:pic>
      <p:pic>
        <p:nvPicPr>
          <p:cNvPr id="4" name="Picture 3">
            <a:extLst>
              <a:ext uri="{FF2B5EF4-FFF2-40B4-BE49-F238E27FC236}">
                <a16:creationId xmlns:a16="http://schemas.microsoft.com/office/drawing/2014/main" id="{FE30C103-42A7-0E9E-0818-F85112DAF50A}"/>
              </a:ext>
            </a:extLst>
          </p:cNvPr>
          <p:cNvPicPr>
            <a:picLocks noChangeAspect="1"/>
          </p:cNvPicPr>
          <p:nvPr/>
        </p:nvPicPr>
        <p:blipFill>
          <a:blip r:embed="rId4"/>
          <a:stretch>
            <a:fillRect/>
          </a:stretch>
        </p:blipFill>
        <p:spPr>
          <a:xfrm>
            <a:off x="5939474" y="1064895"/>
            <a:ext cx="6253691" cy="2794000"/>
          </a:xfrm>
          <a:prstGeom prst="rect">
            <a:avLst/>
          </a:prstGeom>
        </p:spPr>
      </p:pic>
      <p:sp>
        <p:nvSpPr>
          <p:cNvPr id="7" name="TextBox 6">
            <a:extLst>
              <a:ext uri="{FF2B5EF4-FFF2-40B4-BE49-F238E27FC236}">
                <a16:creationId xmlns:a16="http://schemas.microsoft.com/office/drawing/2014/main" id="{C367217C-B0E7-380D-3E27-D326250255B4}"/>
              </a:ext>
            </a:extLst>
          </p:cNvPr>
          <p:cNvSpPr txBox="1"/>
          <p:nvPr/>
        </p:nvSpPr>
        <p:spPr>
          <a:xfrm>
            <a:off x="8370570" y="4061036"/>
            <a:ext cx="3526366"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
            </a:pPr>
            <a:r>
              <a:rPr lang="en-GB"/>
              <a:t>CFD profiles replicate flow topology of the PIV measurements- </a:t>
            </a:r>
            <a:r>
              <a:rPr lang="en-US" sz="1200" b="1" i="1">
                <a:solidFill>
                  <a:srgbClr val="00B050"/>
                </a:solidFill>
              </a:rPr>
              <a:t>(Operational BCs from Baseline Co-swirl run: Φ global = 0.45 , Φ premix = 5, SR = 0.60)</a:t>
            </a:r>
            <a:endParaRPr lang="en-GB" sz="1200">
              <a:solidFill>
                <a:srgbClr val="00B050"/>
              </a:solidFill>
            </a:endParaRPr>
          </a:p>
          <a:p>
            <a:pPr marL="285750" indent="-285750">
              <a:buFont typeface="Wingdings"/>
              <a:buChar char="§"/>
            </a:pPr>
            <a:r>
              <a:rPr lang="en-GB"/>
              <a:t>M shaped Divergent jet &amp; a Reverse flow pocket of CRZ noticed</a:t>
            </a:r>
          </a:p>
        </p:txBody>
      </p:sp>
      <p:pic>
        <p:nvPicPr>
          <p:cNvPr id="11" name="Picture 10" descr="A graph of a graph&#10;&#10;AI-generated content may be incorrect.">
            <a:extLst>
              <a:ext uri="{FF2B5EF4-FFF2-40B4-BE49-F238E27FC236}">
                <a16:creationId xmlns:a16="http://schemas.microsoft.com/office/drawing/2014/main" id="{162735A4-0DDF-AA42-28F5-D4ED40A5A919}"/>
              </a:ext>
            </a:extLst>
          </p:cNvPr>
          <p:cNvPicPr>
            <a:picLocks noChangeAspect="1"/>
          </p:cNvPicPr>
          <p:nvPr/>
        </p:nvPicPr>
        <p:blipFill>
          <a:blip r:embed="rId5"/>
          <a:stretch>
            <a:fillRect/>
          </a:stretch>
        </p:blipFill>
        <p:spPr>
          <a:xfrm>
            <a:off x="0" y="3839580"/>
            <a:ext cx="8366761" cy="2345307"/>
          </a:xfrm>
          <a:prstGeom prst="rect">
            <a:avLst/>
          </a:prstGeom>
        </p:spPr>
      </p:pic>
      <p:cxnSp>
        <p:nvCxnSpPr>
          <p:cNvPr id="13" name="Straight Arrow Connector 12">
            <a:extLst>
              <a:ext uri="{FF2B5EF4-FFF2-40B4-BE49-F238E27FC236}">
                <a16:creationId xmlns:a16="http://schemas.microsoft.com/office/drawing/2014/main" id="{0F779A69-FB5E-DE53-CC4A-3DDFC031089D}"/>
              </a:ext>
            </a:extLst>
          </p:cNvPr>
          <p:cNvCxnSpPr/>
          <p:nvPr/>
        </p:nvCxnSpPr>
        <p:spPr>
          <a:xfrm flipV="1">
            <a:off x="328083" y="2698326"/>
            <a:ext cx="5019040" cy="21590"/>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85AB841-C22F-31DC-42B9-FE96B63BB722}"/>
              </a:ext>
            </a:extLst>
          </p:cNvPr>
          <p:cNvCxnSpPr/>
          <p:nvPr/>
        </p:nvCxnSpPr>
        <p:spPr>
          <a:xfrm>
            <a:off x="6350000" y="2709756"/>
            <a:ext cx="5090583" cy="1693"/>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3D3DFCD8-61F2-4766-7C4D-50BAAC004633}"/>
              </a:ext>
            </a:extLst>
          </p:cNvPr>
          <p:cNvSpPr/>
          <p:nvPr/>
        </p:nvSpPr>
        <p:spPr>
          <a:xfrm>
            <a:off x="179917" y="2645833"/>
            <a:ext cx="148166" cy="1587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A4CD7F37-1C6F-085B-4DDD-E94F222047A9}"/>
              </a:ext>
            </a:extLst>
          </p:cNvPr>
          <p:cNvSpPr/>
          <p:nvPr/>
        </p:nvSpPr>
        <p:spPr>
          <a:xfrm>
            <a:off x="6180242" y="2625935"/>
            <a:ext cx="168486" cy="1587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4D3DB5E0-CBE4-3584-C9F2-C188ACCECD8B}"/>
              </a:ext>
            </a:extLst>
          </p:cNvPr>
          <p:cNvSpPr/>
          <p:nvPr/>
        </p:nvSpPr>
        <p:spPr>
          <a:xfrm>
            <a:off x="5217160" y="3802379"/>
            <a:ext cx="249766" cy="25019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56776431"/>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BB9A-7F45-131F-DC65-E4A429CEE048}"/>
              </a:ext>
            </a:extLst>
          </p:cNvPr>
          <p:cNvSpPr>
            <a:spLocks noGrp="1"/>
          </p:cNvSpPr>
          <p:nvPr>
            <p:ph type="title"/>
          </p:nvPr>
        </p:nvSpPr>
        <p:spPr>
          <a:xfrm>
            <a:off x="105355" y="90617"/>
            <a:ext cx="7511021" cy="543697"/>
          </a:xfrm>
        </p:spPr>
        <p:txBody>
          <a:bodyPr>
            <a:normAutofit fontScale="90000"/>
          </a:bodyPr>
          <a:lstStyle/>
          <a:p>
            <a:r>
              <a:rPr lang="en-GB"/>
              <a:t> Counter-Swirl behaviour with respect to the Co-Swirl</a:t>
            </a:r>
          </a:p>
        </p:txBody>
      </p:sp>
      <p:pic>
        <p:nvPicPr>
          <p:cNvPr id="5" name="Picture 4">
            <a:extLst>
              <a:ext uri="{FF2B5EF4-FFF2-40B4-BE49-F238E27FC236}">
                <a16:creationId xmlns:a16="http://schemas.microsoft.com/office/drawing/2014/main" id="{E3C184DF-7158-FF19-70DC-268A4052ED03}"/>
              </a:ext>
            </a:extLst>
          </p:cNvPr>
          <p:cNvPicPr>
            <a:picLocks noChangeAspect="1"/>
          </p:cNvPicPr>
          <p:nvPr/>
        </p:nvPicPr>
        <p:blipFill>
          <a:blip r:embed="rId2"/>
          <a:stretch>
            <a:fillRect/>
          </a:stretch>
        </p:blipFill>
        <p:spPr>
          <a:xfrm>
            <a:off x="2646" y="1009937"/>
            <a:ext cx="6471709" cy="2898939"/>
          </a:xfrm>
          <a:prstGeom prst="rect">
            <a:avLst/>
          </a:prstGeom>
        </p:spPr>
      </p:pic>
      <p:pic>
        <p:nvPicPr>
          <p:cNvPr id="10" name="Picture 9" descr="A graph of a graph&#10;&#10;AI-generated content may be incorrect.">
            <a:extLst>
              <a:ext uri="{FF2B5EF4-FFF2-40B4-BE49-F238E27FC236}">
                <a16:creationId xmlns:a16="http://schemas.microsoft.com/office/drawing/2014/main" id="{88DEFD00-8D7C-C0F7-D270-9268460FE498}"/>
              </a:ext>
            </a:extLst>
          </p:cNvPr>
          <p:cNvPicPr>
            <a:picLocks noChangeAspect="1"/>
          </p:cNvPicPr>
          <p:nvPr/>
        </p:nvPicPr>
        <p:blipFill>
          <a:blip r:embed="rId3"/>
          <a:stretch>
            <a:fillRect/>
          </a:stretch>
        </p:blipFill>
        <p:spPr>
          <a:xfrm>
            <a:off x="0" y="3701391"/>
            <a:ext cx="6985000" cy="2482864"/>
          </a:xfrm>
          <a:prstGeom prst="rect">
            <a:avLst/>
          </a:prstGeom>
        </p:spPr>
      </p:pic>
      <p:sp>
        <p:nvSpPr>
          <p:cNvPr id="11" name="TextBox 10">
            <a:extLst>
              <a:ext uri="{FF2B5EF4-FFF2-40B4-BE49-F238E27FC236}">
                <a16:creationId xmlns:a16="http://schemas.microsoft.com/office/drawing/2014/main" id="{2B97D939-AB0D-A4EE-F911-9B063AC5271D}"/>
              </a:ext>
            </a:extLst>
          </p:cNvPr>
          <p:cNvSpPr txBox="1"/>
          <p:nvPr/>
        </p:nvSpPr>
        <p:spPr>
          <a:xfrm>
            <a:off x="7376583" y="4349750"/>
            <a:ext cx="4402667" cy="3409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950"/>
              </a:lnSpc>
            </a:pPr>
            <a:r>
              <a:rPr lang="en-US" sz="1600" b="0" i="0">
                <a:solidFill>
                  <a:srgbClr val="000000"/>
                </a:solidFill>
                <a:latin typeface="Google Sans Text"/>
                <a:ea typeface="Arial"/>
                <a:cs typeface="Arial"/>
              </a:rPr>
              <a:t>​</a:t>
            </a:r>
            <a:endParaRPr lang="en-US" sz="1600"/>
          </a:p>
        </p:txBody>
      </p:sp>
      <p:sp>
        <p:nvSpPr>
          <p:cNvPr id="17" name="TextBox 16">
            <a:extLst>
              <a:ext uri="{FF2B5EF4-FFF2-40B4-BE49-F238E27FC236}">
                <a16:creationId xmlns:a16="http://schemas.microsoft.com/office/drawing/2014/main" id="{016F10FD-879B-9324-D04F-2C2F4CE1A7A7}"/>
              </a:ext>
            </a:extLst>
          </p:cNvPr>
          <p:cNvSpPr txBox="1"/>
          <p:nvPr/>
        </p:nvSpPr>
        <p:spPr>
          <a:xfrm>
            <a:off x="6633439" y="1013883"/>
            <a:ext cx="5562176"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i="1">
                <a:solidFill>
                  <a:schemeClr val="accent1"/>
                </a:solidFill>
              </a:rPr>
              <a:t>Cartesian</a:t>
            </a:r>
            <a:r>
              <a:rPr lang="en-GB" i="1"/>
              <a:t>-to-</a:t>
            </a:r>
            <a:r>
              <a:rPr lang="en-GB" i="1">
                <a:solidFill>
                  <a:srgbClr val="FF0000"/>
                </a:solidFill>
              </a:rPr>
              <a:t>Polar</a:t>
            </a:r>
            <a:r>
              <a:rPr lang="en-GB" i="1"/>
              <a:t> Velocity component guide:</a:t>
            </a:r>
          </a:p>
          <a:p>
            <a:pPr marL="285750" indent="-285750">
              <a:buFont typeface="Courier New"/>
              <a:buChar char="o"/>
            </a:pPr>
            <a:r>
              <a:rPr lang="en-GB" sz="1600" i="1">
                <a:solidFill>
                  <a:schemeClr val="accent1"/>
                </a:solidFill>
              </a:rPr>
              <a:t>Centerplate</a:t>
            </a:r>
            <a:r>
              <a:rPr lang="en-GB" sz="1600" i="1" dirty="0">
                <a:solidFill>
                  <a:schemeClr val="accent1"/>
                </a:solidFill>
              </a:rPr>
              <a:t> Axial</a:t>
            </a:r>
            <a:r>
              <a:rPr lang="en-GB" sz="1600" i="1" dirty="0"/>
              <a:t>= </a:t>
            </a:r>
            <a:r>
              <a:rPr lang="en-GB" sz="1600" i="1" dirty="0">
                <a:solidFill>
                  <a:srgbClr val="FF0000"/>
                </a:solidFill>
              </a:rPr>
              <a:t>Axial</a:t>
            </a:r>
          </a:p>
          <a:p>
            <a:pPr marL="285750" indent="-285750">
              <a:buFont typeface="Courier New"/>
              <a:buChar char="o"/>
            </a:pPr>
            <a:r>
              <a:rPr lang="en-GB" sz="1600" i="1">
                <a:solidFill>
                  <a:schemeClr val="accent1"/>
                </a:solidFill>
              </a:rPr>
              <a:t>Projected Out-of-plane</a:t>
            </a:r>
            <a:r>
              <a:rPr lang="en-GB" sz="1600" i="1"/>
              <a:t> =</a:t>
            </a:r>
            <a:r>
              <a:rPr lang="en-GB" sz="1600" i="1">
                <a:solidFill>
                  <a:srgbClr val="FF0000"/>
                </a:solidFill>
              </a:rPr>
              <a:t> Tangential</a:t>
            </a:r>
          </a:p>
          <a:p>
            <a:pPr marL="285750" indent="-285750">
              <a:buFont typeface="Courier New"/>
              <a:buChar char="o"/>
            </a:pPr>
            <a:r>
              <a:rPr lang="en-GB" sz="1600" i="1">
                <a:solidFill>
                  <a:schemeClr val="accent1"/>
                </a:solidFill>
              </a:rPr>
              <a:t>Projected Transverse</a:t>
            </a:r>
            <a:r>
              <a:rPr lang="en-GB" sz="1600" i="1"/>
              <a:t> =</a:t>
            </a:r>
            <a:r>
              <a:rPr lang="en-GB" sz="1600" i="1">
                <a:solidFill>
                  <a:srgbClr val="FF0000"/>
                </a:solidFill>
              </a:rPr>
              <a:t> Radial</a:t>
            </a:r>
          </a:p>
        </p:txBody>
      </p:sp>
      <p:sp>
        <p:nvSpPr>
          <p:cNvPr id="19" name="Rectangle 18">
            <a:extLst>
              <a:ext uri="{FF2B5EF4-FFF2-40B4-BE49-F238E27FC236}">
                <a16:creationId xmlns:a16="http://schemas.microsoft.com/office/drawing/2014/main" id="{1D1A1146-25E8-88CE-4FF9-6FF0C94B9BE5}"/>
              </a:ext>
            </a:extLst>
          </p:cNvPr>
          <p:cNvSpPr/>
          <p:nvPr/>
        </p:nvSpPr>
        <p:spPr>
          <a:xfrm>
            <a:off x="104205" y="2999153"/>
            <a:ext cx="211666" cy="13758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35352EFA-4F46-5E09-DE1A-7A58F62EA0B9}"/>
              </a:ext>
            </a:extLst>
          </p:cNvPr>
          <p:cNvSpPr/>
          <p:nvPr/>
        </p:nvSpPr>
        <p:spPr>
          <a:xfrm>
            <a:off x="4624916" y="3647993"/>
            <a:ext cx="240974" cy="2157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 name="Straight Arrow Connector 2">
            <a:extLst>
              <a:ext uri="{FF2B5EF4-FFF2-40B4-BE49-F238E27FC236}">
                <a16:creationId xmlns:a16="http://schemas.microsoft.com/office/drawing/2014/main" id="{3C8402BC-74D8-4D6C-7FE4-2839FF44D90B}"/>
              </a:ext>
            </a:extLst>
          </p:cNvPr>
          <p:cNvCxnSpPr/>
          <p:nvPr/>
        </p:nvCxnSpPr>
        <p:spPr>
          <a:xfrm flipV="1">
            <a:off x="349673" y="2977726"/>
            <a:ext cx="5405120" cy="40640"/>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7C37FEC-5461-8FEF-E3A2-A8CBB862E06E}"/>
              </a:ext>
            </a:extLst>
          </p:cNvPr>
          <p:cNvSpPr txBox="1"/>
          <p:nvPr/>
        </p:nvSpPr>
        <p:spPr>
          <a:xfrm>
            <a:off x="7366000" y="2455332"/>
            <a:ext cx="4413250" cy="36471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
            </a:pPr>
            <a:r>
              <a:rPr lang="en-US" sz="2100">
                <a:latin typeface="Aptos"/>
              </a:rPr>
              <a:t>Reversing the inner swirl generates intense interfacial shear between the opposing rotational streams.</a:t>
            </a:r>
          </a:p>
          <a:p>
            <a:endParaRPr lang="en-US" sz="2100" dirty="0">
              <a:latin typeface="Aptos"/>
              <a:cs typeface="Segoe UI"/>
            </a:endParaRPr>
          </a:p>
          <a:p>
            <a:pPr marL="285750" indent="-285750">
              <a:buFont typeface="Wingdings"/>
              <a:buChar char="§"/>
            </a:pPr>
            <a:r>
              <a:rPr lang="en-US" sz="2100" i="1">
                <a:latin typeface="Aptos"/>
                <a:cs typeface="Segoe UI"/>
              </a:rPr>
              <a:t>CS CRZ Structure</a:t>
            </a:r>
            <a:r>
              <a:rPr lang="en-US" sz="2100">
                <a:latin typeface="Aptos"/>
                <a:cs typeface="Segoe UI"/>
              </a:rPr>
              <a:t>:</a:t>
            </a:r>
            <a:r>
              <a:rPr lang="en-US" sz="2100" dirty="0">
                <a:latin typeface="Aptos"/>
                <a:cs typeface="Segoe UI"/>
              </a:rPr>
              <a:t> </a:t>
            </a:r>
            <a:r>
              <a:rPr lang="en-US" sz="2100">
                <a:latin typeface="Aptos"/>
                <a:cs typeface="Segoe UI"/>
              </a:rPr>
              <a:t>opposing momentum </a:t>
            </a:r>
            <a:r>
              <a:rPr lang="en-US" sz="2100" b="1" dirty="0">
                <a:latin typeface="Aptos"/>
                <a:cs typeface="Segoe UI"/>
              </a:rPr>
              <a:t>&gt;</a:t>
            </a:r>
            <a:r>
              <a:rPr lang="en-US" sz="2100" dirty="0">
                <a:latin typeface="Aptos"/>
                <a:cs typeface="Segoe UI"/>
              </a:rPr>
              <a:t> </a:t>
            </a:r>
            <a:r>
              <a:rPr lang="en-US" sz="2100">
                <a:latin typeface="Aptos"/>
                <a:cs typeface="Segoe UI"/>
              </a:rPr>
              <a:t>restricts radial dispersion </a:t>
            </a:r>
            <a:r>
              <a:rPr lang="en-US" sz="2100" b="1" dirty="0">
                <a:latin typeface="Aptos"/>
                <a:cs typeface="Segoe UI"/>
              </a:rPr>
              <a:t>&gt;</a:t>
            </a:r>
            <a:r>
              <a:rPr lang="en-US" sz="2100">
                <a:latin typeface="Aptos"/>
                <a:cs typeface="Segoe UI"/>
              </a:rPr>
              <a:t> insufficient centrifugal expansion </a:t>
            </a:r>
            <a:r>
              <a:rPr lang="en-US" sz="2100" b="1" dirty="0">
                <a:latin typeface="Aptos"/>
                <a:cs typeface="Segoe UI"/>
              </a:rPr>
              <a:t>&gt;</a:t>
            </a:r>
            <a:r>
              <a:rPr lang="en-US" sz="2100" dirty="0">
                <a:latin typeface="Aptos"/>
                <a:cs typeface="Segoe UI"/>
              </a:rPr>
              <a:t> </a:t>
            </a:r>
            <a:r>
              <a:rPr lang="en-US" sz="2100">
                <a:latin typeface="Aptos"/>
                <a:cs typeface="Segoe UI"/>
              </a:rPr>
              <a:t>lack of strong adverse pressure gradient </a:t>
            </a:r>
            <a:r>
              <a:rPr lang="en-US" sz="2100" b="1" dirty="0">
                <a:latin typeface="Aptos"/>
                <a:cs typeface="Segoe UI"/>
              </a:rPr>
              <a:t>&gt;</a:t>
            </a:r>
            <a:r>
              <a:rPr lang="en-US" sz="2100">
                <a:latin typeface="Aptos"/>
                <a:cs typeface="Segoe UI"/>
              </a:rPr>
              <a:t> Weaker CRZ. </a:t>
            </a:r>
            <a:r>
              <a:rPr lang="en-GB" sz="2100" dirty="0">
                <a:latin typeface="Aptos"/>
                <a:cs typeface="Segoe UI"/>
              </a:rPr>
              <a:t> </a:t>
            </a:r>
            <a:endParaRPr lang="en-US" sz="2100">
              <a:latin typeface="Aptos"/>
              <a:cs typeface="Segoe UI"/>
            </a:endParaRPr>
          </a:p>
        </p:txBody>
      </p:sp>
    </p:spTree>
    <p:extLst>
      <p:ext uri="{BB962C8B-B14F-4D97-AF65-F5344CB8AC3E}">
        <p14:creationId xmlns:p14="http://schemas.microsoft.com/office/powerpoint/2010/main" val="1318866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74878-00E3-F92F-9F9A-E02E84F79D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5E114-44AF-4A35-9FF0-9F578B0A17E9}"/>
              </a:ext>
            </a:extLst>
          </p:cNvPr>
          <p:cNvSpPr>
            <a:spLocks noGrp="1"/>
          </p:cNvSpPr>
          <p:nvPr>
            <p:ph type="title"/>
          </p:nvPr>
        </p:nvSpPr>
        <p:spPr>
          <a:xfrm>
            <a:off x="105355" y="90617"/>
            <a:ext cx="8537604" cy="543697"/>
          </a:xfrm>
        </p:spPr>
        <p:txBody>
          <a:bodyPr>
            <a:normAutofit fontScale="90000"/>
          </a:bodyPr>
          <a:lstStyle/>
          <a:p>
            <a:r>
              <a:rPr lang="en-GB"/>
              <a:t>CRZ development downstream Co- vs Counter- @ y/D=0.75</a:t>
            </a:r>
            <a:endParaRPr lang="en-US"/>
          </a:p>
        </p:txBody>
      </p:sp>
      <p:pic>
        <p:nvPicPr>
          <p:cNvPr id="4" name="Picture 3" descr="A green and yellow bar with black text&#10;&#10;AI-generated content may be incorrect.">
            <a:extLst>
              <a:ext uri="{FF2B5EF4-FFF2-40B4-BE49-F238E27FC236}">
                <a16:creationId xmlns:a16="http://schemas.microsoft.com/office/drawing/2014/main" id="{3ED61534-E02A-717A-9C45-14BA049F77B3}"/>
              </a:ext>
            </a:extLst>
          </p:cNvPr>
          <p:cNvPicPr>
            <a:picLocks noChangeAspect="1"/>
          </p:cNvPicPr>
          <p:nvPr/>
        </p:nvPicPr>
        <p:blipFill>
          <a:blip r:embed="rId2"/>
          <a:stretch>
            <a:fillRect/>
          </a:stretch>
        </p:blipFill>
        <p:spPr>
          <a:xfrm>
            <a:off x="818213" y="3085572"/>
            <a:ext cx="3155380" cy="475191"/>
          </a:xfrm>
          <a:prstGeom prst="rect">
            <a:avLst/>
          </a:prstGeom>
        </p:spPr>
      </p:pic>
      <p:pic>
        <p:nvPicPr>
          <p:cNvPr id="6" name="Picture 5" descr="A green bar with black text&#10;&#10;AI-generated content may be incorrect.">
            <a:extLst>
              <a:ext uri="{FF2B5EF4-FFF2-40B4-BE49-F238E27FC236}">
                <a16:creationId xmlns:a16="http://schemas.microsoft.com/office/drawing/2014/main" id="{1A84F366-4883-2966-EFBB-3C74706EC2DA}"/>
              </a:ext>
            </a:extLst>
          </p:cNvPr>
          <p:cNvPicPr>
            <a:picLocks noChangeAspect="1"/>
          </p:cNvPicPr>
          <p:nvPr/>
        </p:nvPicPr>
        <p:blipFill>
          <a:blip r:embed="rId3"/>
          <a:stretch>
            <a:fillRect/>
          </a:stretch>
        </p:blipFill>
        <p:spPr>
          <a:xfrm>
            <a:off x="5362536" y="5759204"/>
            <a:ext cx="3131775" cy="382957"/>
          </a:xfrm>
          <a:prstGeom prst="rect">
            <a:avLst/>
          </a:prstGeom>
        </p:spPr>
      </p:pic>
      <p:pic>
        <p:nvPicPr>
          <p:cNvPr id="8" name="Picture 7" descr="A green and yellow bar&#10;&#10;AI-generated content may be incorrect.">
            <a:extLst>
              <a:ext uri="{FF2B5EF4-FFF2-40B4-BE49-F238E27FC236}">
                <a16:creationId xmlns:a16="http://schemas.microsoft.com/office/drawing/2014/main" id="{101E1146-B7E9-A3E0-475C-332E36F0F988}"/>
              </a:ext>
            </a:extLst>
          </p:cNvPr>
          <p:cNvPicPr>
            <a:picLocks noChangeAspect="1"/>
          </p:cNvPicPr>
          <p:nvPr/>
        </p:nvPicPr>
        <p:blipFill>
          <a:blip r:embed="rId4"/>
          <a:stretch>
            <a:fillRect/>
          </a:stretch>
        </p:blipFill>
        <p:spPr>
          <a:xfrm>
            <a:off x="5362658" y="3097985"/>
            <a:ext cx="3160835" cy="460132"/>
          </a:xfrm>
          <a:prstGeom prst="rect">
            <a:avLst/>
          </a:prstGeom>
        </p:spPr>
      </p:pic>
      <p:sp>
        <p:nvSpPr>
          <p:cNvPr id="9" name="TextBox 8">
            <a:extLst>
              <a:ext uri="{FF2B5EF4-FFF2-40B4-BE49-F238E27FC236}">
                <a16:creationId xmlns:a16="http://schemas.microsoft.com/office/drawing/2014/main" id="{8D974425-1DD3-2D86-C49D-E8D31F0AEBB0}"/>
              </a:ext>
            </a:extLst>
          </p:cNvPr>
          <p:cNvSpPr txBox="1"/>
          <p:nvPr/>
        </p:nvSpPr>
        <p:spPr>
          <a:xfrm>
            <a:off x="772582" y="910167"/>
            <a:ext cx="227541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solidFill>
                  <a:srgbClr val="FF0000"/>
                </a:solidFill>
              </a:rPr>
              <a:t>Evolution of Vx </a:t>
            </a:r>
            <a:r>
              <a:rPr lang="en-GB" sz="1600" err="1">
                <a:solidFill>
                  <a:srgbClr val="FF0000"/>
                </a:solidFill>
              </a:rPr>
              <a:t>velocit</a:t>
            </a:r>
            <a:r>
              <a:rPr lang="en-GB" sz="1600">
                <a:solidFill>
                  <a:srgbClr val="FF0000"/>
                </a:solidFill>
              </a:rPr>
              <a:t>y</a:t>
            </a:r>
          </a:p>
        </p:txBody>
      </p:sp>
      <p:sp>
        <p:nvSpPr>
          <p:cNvPr id="10" name="TextBox 9">
            <a:extLst>
              <a:ext uri="{FF2B5EF4-FFF2-40B4-BE49-F238E27FC236}">
                <a16:creationId xmlns:a16="http://schemas.microsoft.com/office/drawing/2014/main" id="{8E6DA5D8-4A87-70D8-03AE-D6C2DFFBB919}"/>
              </a:ext>
            </a:extLst>
          </p:cNvPr>
          <p:cNvSpPr txBox="1"/>
          <p:nvPr/>
        </p:nvSpPr>
        <p:spPr>
          <a:xfrm>
            <a:off x="5735353" y="3482730"/>
            <a:ext cx="2895762"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solidFill>
                  <a:srgbClr val="FF0000"/>
                </a:solidFill>
              </a:rPr>
              <a:t>Evolution of </a:t>
            </a:r>
            <a:r>
              <a:rPr lang="en-GB" sz="1600" err="1">
                <a:solidFill>
                  <a:srgbClr val="FF0000"/>
                </a:solidFill>
              </a:rPr>
              <a:t>Vz</a:t>
            </a:r>
            <a:r>
              <a:rPr lang="en-GB" sz="1600">
                <a:solidFill>
                  <a:srgbClr val="FF0000"/>
                </a:solidFill>
              </a:rPr>
              <a:t> velocity</a:t>
            </a:r>
          </a:p>
          <a:p>
            <a:pPr algn="l"/>
            <a:endParaRPr lang="en-GB"/>
          </a:p>
        </p:txBody>
      </p:sp>
      <p:sp>
        <p:nvSpPr>
          <p:cNvPr id="11" name="TextBox 10">
            <a:extLst>
              <a:ext uri="{FF2B5EF4-FFF2-40B4-BE49-F238E27FC236}">
                <a16:creationId xmlns:a16="http://schemas.microsoft.com/office/drawing/2014/main" id="{3E6949CF-70D3-F789-607F-E897193DF79D}"/>
              </a:ext>
            </a:extLst>
          </p:cNvPr>
          <p:cNvSpPr txBox="1"/>
          <p:nvPr/>
        </p:nvSpPr>
        <p:spPr>
          <a:xfrm>
            <a:off x="5736166" y="910166"/>
            <a:ext cx="2931583"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solidFill>
                  <a:srgbClr val="FF0000"/>
                </a:solidFill>
              </a:rPr>
              <a:t>Evolution of Vy velocity</a:t>
            </a:r>
          </a:p>
          <a:p>
            <a:pPr algn="l"/>
            <a:endParaRPr lang="en-GB"/>
          </a:p>
        </p:txBody>
      </p:sp>
      <p:cxnSp>
        <p:nvCxnSpPr>
          <p:cNvPr id="20" name="Straight Arrow Connector 19">
            <a:extLst>
              <a:ext uri="{FF2B5EF4-FFF2-40B4-BE49-F238E27FC236}">
                <a16:creationId xmlns:a16="http://schemas.microsoft.com/office/drawing/2014/main" id="{B2C6D2F0-7EE2-8CCC-1BFB-5E562932345E}"/>
              </a:ext>
            </a:extLst>
          </p:cNvPr>
          <p:cNvCxnSpPr>
            <a:cxnSpLocks/>
          </p:cNvCxnSpPr>
          <p:nvPr/>
        </p:nvCxnSpPr>
        <p:spPr>
          <a:xfrm flipH="1">
            <a:off x="8032749" y="1957915"/>
            <a:ext cx="243418"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3670CFAC-B558-7D2A-5546-2AEB004D33F0}"/>
              </a:ext>
            </a:extLst>
          </p:cNvPr>
          <p:cNvPicPr>
            <a:picLocks noChangeAspect="1"/>
          </p:cNvPicPr>
          <p:nvPr/>
        </p:nvPicPr>
        <p:blipFill>
          <a:blip r:embed="rId5"/>
          <a:stretch>
            <a:fillRect/>
          </a:stretch>
        </p:blipFill>
        <p:spPr>
          <a:xfrm>
            <a:off x="-4234" y="1217612"/>
            <a:ext cx="4294717" cy="1935693"/>
          </a:xfrm>
          <a:prstGeom prst="rect">
            <a:avLst/>
          </a:prstGeom>
        </p:spPr>
      </p:pic>
      <p:pic>
        <p:nvPicPr>
          <p:cNvPr id="19" name="Picture 18">
            <a:extLst>
              <a:ext uri="{FF2B5EF4-FFF2-40B4-BE49-F238E27FC236}">
                <a16:creationId xmlns:a16="http://schemas.microsoft.com/office/drawing/2014/main" id="{1ACE6341-226C-24DF-D7E7-8B35A0D3FD1F}"/>
              </a:ext>
            </a:extLst>
          </p:cNvPr>
          <p:cNvPicPr>
            <a:picLocks noChangeAspect="1"/>
          </p:cNvPicPr>
          <p:nvPr/>
        </p:nvPicPr>
        <p:blipFill>
          <a:blip r:embed="rId6"/>
          <a:stretch>
            <a:fillRect/>
          </a:stretch>
        </p:blipFill>
        <p:spPr>
          <a:xfrm>
            <a:off x="4565405" y="3805034"/>
            <a:ext cx="4279900" cy="1930401"/>
          </a:xfrm>
          <a:prstGeom prst="rect">
            <a:avLst/>
          </a:prstGeom>
        </p:spPr>
      </p:pic>
      <p:sp>
        <p:nvSpPr>
          <p:cNvPr id="21" name="TextBox 20">
            <a:extLst>
              <a:ext uri="{FF2B5EF4-FFF2-40B4-BE49-F238E27FC236}">
                <a16:creationId xmlns:a16="http://schemas.microsoft.com/office/drawing/2014/main" id="{FEDDB099-87D7-8D6B-FDA1-01A94815371D}"/>
              </a:ext>
            </a:extLst>
          </p:cNvPr>
          <p:cNvSpPr txBox="1"/>
          <p:nvPr/>
        </p:nvSpPr>
        <p:spPr>
          <a:xfrm>
            <a:off x="613833" y="2973916"/>
            <a:ext cx="78316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000"/>
              <a:t>-1</a:t>
            </a:r>
          </a:p>
        </p:txBody>
      </p:sp>
      <p:sp>
        <p:nvSpPr>
          <p:cNvPr id="24" name="TextBox 23">
            <a:extLst>
              <a:ext uri="{FF2B5EF4-FFF2-40B4-BE49-F238E27FC236}">
                <a16:creationId xmlns:a16="http://schemas.microsoft.com/office/drawing/2014/main" id="{4088EDE8-D243-F88B-5F94-40F4407267BA}"/>
              </a:ext>
            </a:extLst>
          </p:cNvPr>
          <p:cNvSpPr txBox="1"/>
          <p:nvPr/>
        </p:nvSpPr>
        <p:spPr>
          <a:xfrm>
            <a:off x="1185333" y="2973917"/>
            <a:ext cx="414867"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000"/>
              <a:t>0</a:t>
            </a:r>
          </a:p>
        </p:txBody>
      </p:sp>
      <p:sp>
        <p:nvSpPr>
          <p:cNvPr id="30" name="TextBox 29">
            <a:extLst>
              <a:ext uri="{FF2B5EF4-FFF2-40B4-BE49-F238E27FC236}">
                <a16:creationId xmlns:a16="http://schemas.microsoft.com/office/drawing/2014/main" id="{5B50401B-A6CF-DFEA-A34A-E5A58A393872}"/>
              </a:ext>
            </a:extLst>
          </p:cNvPr>
          <p:cNvSpPr txBox="1"/>
          <p:nvPr/>
        </p:nvSpPr>
        <p:spPr>
          <a:xfrm>
            <a:off x="1672166" y="2984500"/>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000"/>
              <a:t>1</a:t>
            </a:r>
          </a:p>
        </p:txBody>
      </p:sp>
      <p:sp>
        <p:nvSpPr>
          <p:cNvPr id="31" name="TextBox 30">
            <a:extLst>
              <a:ext uri="{FF2B5EF4-FFF2-40B4-BE49-F238E27FC236}">
                <a16:creationId xmlns:a16="http://schemas.microsoft.com/office/drawing/2014/main" id="{48A06D84-0BAA-A579-7413-EF76660121E5}"/>
              </a:ext>
            </a:extLst>
          </p:cNvPr>
          <p:cNvSpPr txBox="1"/>
          <p:nvPr/>
        </p:nvSpPr>
        <p:spPr>
          <a:xfrm>
            <a:off x="2730500" y="2963334"/>
            <a:ext cx="3386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solidFill>
                  <a:srgbClr val="000000"/>
                </a:solidFill>
                <a:latin typeface="Aptos"/>
              </a:rPr>
              <a:t>-</a:t>
            </a:r>
            <a:r>
              <a:rPr lang="en-GB" sz="1000" b="0" i="0" u="none" strike="noStrike" baseline="0">
                <a:solidFill>
                  <a:srgbClr val="000000"/>
                </a:solidFill>
                <a:latin typeface="Aptos"/>
              </a:rPr>
              <a:t>1</a:t>
            </a:r>
            <a:r>
              <a:rPr sz="1000" b="0" i="0">
                <a:solidFill>
                  <a:srgbClr val="000000"/>
                </a:solidFill>
                <a:latin typeface="Aptos"/>
                <a:ea typeface="Aptos"/>
                <a:cs typeface="Aptos"/>
              </a:rPr>
              <a:t>​</a:t>
            </a:r>
            <a:endParaRPr lang="en-GB"/>
          </a:p>
          <a:p>
            <a:pPr algn="ctr"/>
            <a:endParaRPr lang="en-GB"/>
          </a:p>
        </p:txBody>
      </p:sp>
      <p:sp>
        <p:nvSpPr>
          <p:cNvPr id="32" name="TextBox 31">
            <a:extLst>
              <a:ext uri="{FF2B5EF4-FFF2-40B4-BE49-F238E27FC236}">
                <a16:creationId xmlns:a16="http://schemas.microsoft.com/office/drawing/2014/main" id="{69335312-B7BA-750A-3D5F-8FA72F5BA5E8}"/>
              </a:ext>
            </a:extLst>
          </p:cNvPr>
          <p:cNvSpPr txBox="1"/>
          <p:nvPr/>
        </p:nvSpPr>
        <p:spPr>
          <a:xfrm>
            <a:off x="3302000" y="2973918"/>
            <a:ext cx="2751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GB" sz="1000" b="0" i="0" u="none" strike="noStrike" baseline="0">
                <a:solidFill>
                  <a:srgbClr val="000000"/>
                </a:solidFill>
                <a:latin typeface="Aptos"/>
                <a:ea typeface="Segoe UI"/>
                <a:cs typeface="Segoe UI"/>
              </a:rPr>
              <a:t>0</a:t>
            </a:r>
            <a:r>
              <a:rPr lang="en-US" sz="1000">
                <a:solidFill>
                  <a:srgbClr val="000000"/>
                </a:solidFill>
                <a:latin typeface="Aptos"/>
                <a:ea typeface="Segoe UI"/>
                <a:cs typeface="Segoe UI"/>
              </a:rPr>
              <a:t>​​</a:t>
            </a:r>
            <a:endParaRPr lang="en-US"/>
          </a:p>
          <a:p>
            <a:pPr algn="ctr"/>
            <a:endParaRPr lang="en-GB"/>
          </a:p>
        </p:txBody>
      </p:sp>
      <p:sp>
        <p:nvSpPr>
          <p:cNvPr id="33" name="TextBox 32">
            <a:extLst>
              <a:ext uri="{FF2B5EF4-FFF2-40B4-BE49-F238E27FC236}">
                <a16:creationId xmlns:a16="http://schemas.microsoft.com/office/drawing/2014/main" id="{543E5B33-81E9-9C3F-08D9-4680D9B92F55}"/>
              </a:ext>
            </a:extLst>
          </p:cNvPr>
          <p:cNvSpPr txBox="1"/>
          <p:nvPr/>
        </p:nvSpPr>
        <p:spPr>
          <a:xfrm>
            <a:off x="3833608" y="2954377"/>
            <a:ext cx="28575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0" i="0" u="none" strike="noStrike" baseline="0">
                <a:solidFill>
                  <a:srgbClr val="000000"/>
                </a:solidFill>
                <a:latin typeface="Aptos"/>
              </a:rPr>
              <a:t>1</a:t>
            </a:r>
            <a:r>
              <a:rPr sz="1000" b="0" i="0">
                <a:solidFill>
                  <a:srgbClr val="000000"/>
                </a:solidFill>
                <a:latin typeface="Aptos"/>
                <a:ea typeface="Aptos"/>
                <a:cs typeface="Aptos"/>
              </a:rPr>
              <a:t>​</a:t>
            </a:r>
            <a:endParaRPr lang="en-GB"/>
          </a:p>
        </p:txBody>
      </p:sp>
      <p:sp>
        <p:nvSpPr>
          <p:cNvPr id="34" name="TextBox 33">
            <a:extLst>
              <a:ext uri="{FF2B5EF4-FFF2-40B4-BE49-F238E27FC236}">
                <a16:creationId xmlns:a16="http://schemas.microsoft.com/office/drawing/2014/main" id="{2DDA0959-019B-D2B7-699B-6B1D53F436A0}"/>
              </a:ext>
            </a:extLst>
          </p:cNvPr>
          <p:cNvSpPr txBox="1"/>
          <p:nvPr/>
        </p:nvSpPr>
        <p:spPr>
          <a:xfrm flipH="1">
            <a:off x="8346995" y="5622193"/>
            <a:ext cx="2751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0" i="0" u="none" strike="noStrike" baseline="0">
                <a:solidFill>
                  <a:srgbClr val="000000"/>
                </a:solidFill>
                <a:latin typeface="Aptos"/>
              </a:rPr>
              <a:t>1</a:t>
            </a:r>
            <a:r>
              <a:rPr sz="1000" b="0" i="0">
                <a:solidFill>
                  <a:srgbClr val="000000"/>
                </a:solidFill>
                <a:latin typeface="Aptos"/>
                <a:ea typeface="Aptos"/>
                <a:cs typeface="Aptos"/>
              </a:rPr>
              <a:t>​</a:t>
            </a:r>
            <a:endParaRPr lang="en-GB"/>
          </a:p>
          <a:p>
            <a:pPr algn="ctr"/>
            <a:endParaRPr lang="en-GB"/>
          </a:p>
        </p:txBody>
      </p:sp>
      <p:sp>
        <p:nvSpPr>
          <p:cNvPr id="35" name="TextBox 34">
            <a:extLst>
              <a:ext uri="{FF2B5EF4-FFF2-40B4-BE49-F238E27FC236}">
                <a16:creationId xmlns:a16="http://schemas.microsoft.com/office/drawing/2014/main" id="{106BC7C5-0D3C-079B-73C8-9729C9CC2506}"/>
              </a:ext>
            </a:extLst>
          </p:cNvPr>
          <p:cNvSpPr txBox="1"/>
          <p:nvPr/>
        </p:nvSpPr>
        <p:spPr>
          <a:xfrm>
            <a:off x="7886211" y="5612421"/>
            <a:ext cx="280053"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GB" sz="1000" b="0" i="0" u="none" strike="noStrike" baseline="0">
                <a:solidFill>
                  <a:srgbClr val="000000"/>
                </a:solidFill>
                <a:latin typeface="Aptos"/>
                <a:ea typeface="Segoe UI"/>
                <a:cs typeface="Segoe UI"/>
              </a:rPr>
              <a:t>0</a:t>
            </a:r>
            <a:r>
              <a:rPr lang="en-US" sz="1000" b="0" i="0" u="none" strike="noStrike" baseline="0">
                <a:solidFill>
                  <a:srgbClr val="000000"/>
                </a:solidFill>
                <a:latin typeface="Aptos"/>
                <a:ea typeface="Segoe UI"/>
                <a:cs typeface="Segoe UI"/>
              </a:rPr>
              <a:t>​</a:t>
            </a:r>
            <a:r>
              <a:rPr lang="en-US" sz="1000" b="0" i="0">
                <a:solidFill>
                  <a:srgbClr val="000000"/>
                </a:solidFill>
                <a:latin typeface="Aptos"/>
                <a:ea typeface="Segoe UI"/>
                <a:cs typeface="Segoe UI"/>
              </a:rPr>
              <a:t>​</a:t>
            </a:r>
          </a:p>
          <a:p>
            <a:pPr algn="ctr" rtl="0"/>
            <a:r>
              <a:rPr lang="en-GB" sz="1800" b="0" i="0">
                <a:solidFill>
                  <a:srgbClr val="000000"/>
                </a:solidFill>
                <a:latin typeface="Aptos"/>
                <a:ea typeface="Segoe UI"/>
                <a:cs typeface="Segoe UI"/>
              </a:rPr>
              <a:t>​</a:t>
            </a:r>
          </a:p>
          <a:p>
            <a:pPr algn="ctr"/>
            <a:endParaRPr lang="en-GB"/>
          </a:p>
        </p:txBody>
      </p:sp>
      <p:sp>
        <p:nvSpPr>
          <p:cNvPr id="36" name="TextBox 35">
            <a:extLst>
              <a:ext uri="{FF2B5EF4-FFF2-40B4-BE49-F238E27FC236}">
                <a16:creationId xmlns:a16="http://schemas.microsoft.com/office/drawing/2014/main" id="{DF7746E7-AACE-F2C4-1D2F-3F53709DA165}"/>
              </a:ext>
            </a:extLst>
          </p:cNvPr>
          <p:cNvSpPr txBox="1"/>
          <p:nvPr/>
        </p:nvSpPr>
        <p:spPr>
          <a:xfrm>
            <a:off x="5734539" y="5641731"/>
            <a:ext cx="254000"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GB" sz="1000" b="0" i="0" u="none" strike="noStrike" baseline="0">
                <a:solidFill>
                  <a:srgbClr val="000000"/>
                </a:solidFill>
                <a:latin typeface="Aptos"/>
                <a:ea typeface="Segoe UI"/>
                <a:cs typeface="Segoe UI"/>
              </a:rPr>
              <a:t>0</a:t>
            </a:r>
            <a:r>
              <a:rPr lang="en-US" sz="1000">
                <a:solidFill>
                  <a:srgbClr val="000000"/>
                </a:solidFill>
                <a:latin typeface="Aptos"/>
                <a:ea typeface="Segoe UI"/>
                <a:cs typeface="Segoe UI"/>
              </a:rPr>
              <a:t>​</a:t>
            </a:r>
            <a:endParaRPr lang="en-US" sz="1000" b="0" i="0">
              <a:solidFill>
                <a:srgbClr val="000000"/>
              </a:solidFill>
              <a:latin typeface="Aptos"/>
              <a:ea typeface="Segoe UI"/>
              <a:cs typeface="Segoe UI"/>
            </a:endParaRPr>
          </a:p>
          <a:p>
            <a:pPr algn="ctr" rtl="0"/>
            <a:r>
              <a:rPr lang="en-GB" sz="1800" b="0" i="0">
                <a:solidFill>
                  <a:srgbClr val="000000"/>
                </a:solidFill>
                <a:latin typeface="Aptos"/>
                <a:ea typeface="Segoe UI"/>
                <a:cs typeface="Segoe UI"/>
              </a:rPr>
              <a:t>​</a:t>
            </a:r>
          </a:p>
          <a:p>
            <a:pPr algn="ctr"/>
            <a:endParaRPr lang="en-GB"/>
          </a:p>
        </p:txBody>
      </p:sp>
      <p:sp>
        <p:nvSpPr>
          <p:cNvPr id="37" name="TextBox 36">
            <a:extLst>
              <a:ext uri="{FF2B5EF4-FFF2-40B4-BE49-F238E27FC236}">
                <a16:creationId xmlns:a16="http://schemas.microsoft.com/office/drawing/2014/main" id="{19E8DB59-AC1C-B95E-E884-DE3D39E09B25}"/>
              </a:ext>
            </a:extLst>
          </p:cNvPr>
          <p:cNvSpPr txBox="1"/>
          <p:nvPr/>
        </p:nvSpPr>
        <p:spPr>
          <a:xfrm>
            <a:off x="7256910" y="5631963"/>
            <a:ext cx="29633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solidFill>
                  <a:srgbClr val="000000"/>
                </a:solidFill>
                <a:latin typeface="Aptos"/>
              </a:rPr>
              <a:t>-1</a:t>
            </a:r>
            <a:r>
              <a:rPr lang="en-GB" sz="1000" b="0" i="0" u="none" strike="noStrike" baseline="0">
                <a:solidFill>
                  <a:srgbClr val="000000"/>
                </a:solidFill>
                <a:latin typeface="Aptos"/>
              </a:rPr>
              <a:t>​</a:t>
            </a:r>
            <a:endParaRPr lang="en-US" sz="1000"/>
          </a:p>
        </p:txBody>
      </p:sp>
      <p:sp>
        <p:nvSpPr>
          <p:cNvPr id="38" name="TextBox 37">
            <a:extLst>
              <a:ext uri="{FF2B5EF4-FFF2-40B4-BE49-F238E27FC236}">
                <a16:creationId xmlns:a16="http://schemas.microsoft.com/office/drawing/2014/main" id="{196B3BE5-83E9-F977-AE51-44E74874161A}"/>
              </a:ext>
            </a:extLst>
          </p:cNvPr>
          <p:cNvSpPr txBox="1"/>
          <p:nvPr/>
        </p:nvSpPr>
        <p:spPr>
          <a:xfrm>
            <a:off x="6195321" y="5631961"/>
            <a:ext cx="254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0" i="0" u="none" strike="noStrike" baseline="0">
                <a:solidFill>
                  <a:srgbClr val="000000"/>
                </a:solidFill>
                <a:latin typeface="Aptos"/>
              </a:rPr>
              <a:t>1​</a:t>
            </a:r>
            <a:r>
              <a:rPr sz="1000" b="0" i="0">
                <a:solidFill>
                  <a:srgbClr val="000000"/>
                </a:solidFill>
                <a:latin typeface="Aptos"/>
                <a:ea typeface="Aptos"/>
                <a:cs typeface="Aptos"/>
              </a:rPr>
              <a:t>​</a:t>
            </a:r>
            <a:endParaRPr lang="en-GB"/>
          </a:p>
          <a:p>
            <a:pPr algn="ctr"/>
            <a:endParaRPr lang="en-GB"/>
          </a:p>
        </p:txBody>
      </p:sp>
      <p:sp>
        <p:nvSpPr>
          <p:cNvPr id="39" name="TextBox 38">
            <a:extLst>
              <a:ext uri="{FF2B5EF4-FFF2-40B4-BE49-F238E27FC236}">
                <a16:creationId xmlns:a16="http://schemas.microsoft.com/office/drawing/2014/main" id="{6A7B576E-A89B-8441-31E2-55FFFFA92471}"/>
              </a:ext>
            </a:extLst>
          </p:cNvPr>
          <p:cNvSpPr txBox="1"/>
          <p:nvPr/>
        </p:nvSpPr>
        <p:spPr>
          <a:xfrm>
            <a:off x="5146757" y="5641732"/>
            <a:ext cx="430660" cy="532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0" i="0" u="none" strike="noStrike" baseline="0">
                <a:solidFill>
                  <a:srgbClr val="000000"/>
                </a:solidFill>
                <a:latin typeface="Aptos"/>
              </a:rPr>
              <a:t>-1</a:t>
            </a:r>
            <a:r>
              <a:rPr sz="1000" b="0" i="0">
                <a:solidFill>
                  <a:srgbClr val="000000"/>
                </a:solidFill>
                <a:latin typeface="Aptos"/>
                <a:ea typeface="Aptos"/>
                <a:cs typeface="Aptos"/>
              </a:rPr>
              <a:t>​</a:t>
            </a:r>
            <a:endParaRPr lang="en-GB"/>
          </a:p>
          <a:p>
            <a:pPr algn="ctr"/>
            <a:endParaRPr lang="en-GB"/>
          </a:p>
        </p:txBody>
      </p:sp>
      <p:pic>
        <p:nvPicPr>
          <p:cNvPr id="40" name="Picture 39" descr="A green rectangular chart with a red circle&#10;&#10;AI-generated content may be incorrect.">
            <a:extLst>
              <a:ext uri="{FF2B5EF4-FFF2-40B4-BE49-F238E27FC236}">
                <a16:creationId xmlns:a16="http://schemas.microsoft.com/office/drawing/2014/main" id="{C436E71D-1A70-7F95-DBF4-75F9DD6DB5B8}"/>
              </a:ext>
            </a:extLst>
          </p:cNvPr>
          <p:cNvPicPr>
            <a:picLocks noChangeAspect="1"/>
          </p:cNvPicPr>
          <p:nvPr/>
        </p:nvPicPr>
        <p:blipFill>
          <a:blip r:embed="rId7"/>
          <a:stretch>
            <a:fillRect/>
          </a:stretch>
        </p:blipFill>
        <p:spPr>
          <a:xfrm>
            <a:off x="4564062" y="1244598"/>
            <a:ext cx="4280959" cy="1775885"/>
          </a:xfrm>
          <a:prstGeom prst="rect">
            <a:avLst/>
          </a:prstGeom>
        </p:spPr>
      </p:pic>
      <p:sp>
        <p:nvSpPr>
          <p:cNvPr id="42" name="TextBox 41">
            <a:extLst>
              <a:ext uri="{FF2B5EF4-FFF2-40B4-BE49-F238E27FC236}">
                <a16:creationId xmlns:a16="http://schemas.microsoft.com/office/drawing/2014/main" id="{C9444E74-C767-FF56-E17C-3459BC6A0BBE}"/>
              </a:ext>
            </a:extLst>
          </p:cNvPr>
          <p:cNvSpPr txBox="1"/>
          <p:nvPr/>
        </p:nvSpPr>
        <p:spPr>
          <a:xfrm>
            <a:off x="7334250" y="2962518"/>
            <a:ext cx="43065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solidFill>
                  <a:srgbClr val="000000"/>
                </a:solidFill>
                <a:latin typeface="Aptos"/>
                <a:ea typeface="Aptos"/>
                <a:cs typeface="Aptos"/>
              </a:rPr>
              <a:t>-1</a:t>
            </a:r>
            <a:r>
              <a:rPr sz="1000" b="0" i="0">
                <a:solidFill>
                  <a:srgbClr val="000000"/>
                </a:solidFill>
                <a:latin typeface="Aptos"/>
                <a:ea typeface="Aptos"/>
                <a:cs typeface="Aptos"/>
              </a:rPr>
              <a:t>​</a:t>
            </a:r>
            <a:endParaRPr lang="en-GB"/>
          </a:p>
          <a:p>
            <a:pPr algn="ctr"/>
            <a:endParaRPr lang="en-GB"/>
          </a:p>
        </p:txBody>
      </p:sp>
      <p:sp>
        <p:nvSpPr>
          <p:cNvPr id="43" name="TextBox 42">
            <a:extLst>
              <a:ext uri="{FF2B5EF4-FFF2-40B4-BE49-F238E27FC236}">
                <a16:creationId xmlns:a16="http://schemas.microsoft.com/office/drawing/2014/main" id="{A085C8FD-A8C7-8491-6DB1-B9AA123CD55E}"/>
              </a:ext>
            </a:extLst>
          </p:cNvPr>
          <p:cNvSpPr txBox="1"/>
          <p:nvPr/>
        </p:nvSpPr>
        <p:spPr>
          <a:xfrm>
            <a:off x="5185834" y="2963333"/>
            <a:ext cx="34924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solidFill>
                  <a:srgbClr val="000000"/>
                </a:solidFill>
                <a:latin typeface="Aptos"/>
              </a:rPr>
              <a:t>-</a:t>
            </a:r>
            <a:r>
              <a:rPr lang="en-GB" sz="1000" b="0" i="0" u="none" strike="noStrike" baseline="0">
                <a:solidFill>
                  <a:srgbClr val="000000"/>
                </a:solidFill>
                <a:latin typeface="Aptos"/>
              </a:rPr>
              <a:t>1​</a:t>
            </a:r>
            <a:r>
              <a:rPr sz="1000" b="0" i="0">
                <a:solidFill>
                  <a:srgbClr val="000000"/>
                </a:solidFill>
                <a:latin typeface="Aptos"/>
                <a:ea typeface="Aptos"/>
                <a:cs typeface="Aptos"/>
              </a:rPr>
              <a:t>​</a:t>
            </a:r>
            <a:endParaRPr lang="en-GB"/>
          </a:p>
          <a:p>
            <a:pPr algn="ctr"/>
            <a:endParaRPr lang="en-GB"/>
          </a:p>
        </p:txBody>
      </p:sp>
      <p:sp>
        <p:nvSpPr>
          <p:cNvPr id="44" name="TextBox 43">
            <a:extLst>
              <a:ext uri="{FF2B5EF4-FFF2-40B4-BE49-F238E27FC236}">
                <a16:creationId xmlns:a16="http://schemas.microsoft.com/office/drawing/2014/main" id="{16EBFEBC-7264-511F-7A97-AF29E35C74DD}"/>
              </a:ext>
            </a:extLst>
          </p:cNvPr>
          <p:cNvSpPr txBox="1"/>
          <p:nvPr/>
        </p:nvSpPr>
        <p:spPr>
          <a:xfrm>
            <a:off x="6298713" y="2972288"/>
            <a:ext cx="29633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solidFill>
                  <a:srgbClr val="000000"/>
                </a:solidFill>
                <a:latin typeface="Aptos"/>
              </a:rPr>
              <a:t> </a:t>
            </a:r>
            <a:r>
              <a:rPr lang="en-GB" sz="1000" b="0" i="0" u="none" strike="noStrike" baseline="0">
                <a:solidFill>
                  <a:srgbClr val="000000"/>
                </a:solidFill>
                <a:latin typeface="Aptos"/>
              </a:rPr>
              <a:t>1​</a:t>
            </a:r>
            <a:r>
              <a:rPr sz="1000" b="0" i="0">
                <a:solidFill>
                  <a:srgbClr val="000000"/>
                </a:solidFill>
                <a:latin typeface="Aptos"/>
                <a:ea typeface="Aptos"/>
                <a:cs typeface="Aptos"/>
              </a:rPr>
              <a:t>​</a:t>
            </a:r>
            <a:endParaRPr lang="en-GB"/>
          </a:p>
          <a:p>
            <a:pPr algn="ctr"/>
            <a:endParaRPr lang="en-GB"/>
          </a:p>
        </p:txBody>
      </p:sp>
      <p:sp>
        <p:nvSpPr>
          <p:cNvPr id="45" name="TextBox 44">
            <a:extLst>
              <a:ext uri="{FF2B5EF4-FFF2-40B4-BE49-F238E27FC236}">
                <a16:creationId xmlns:a16="http://schemas.microsoft.com/office/drawing/2014/main" id="{358727A1-384B-6FB9-8C52-6AC42508FE91}"/>
              </a:ext>
            </a:extLst>
          </p:cNvPr>
          <p:cNvSpPr txBox="1"/>
          <p:nvPr/>
        </p:nvSpPr>
        <p:spPr>
          <a:xfrm>
            <a:off x="8369788" y="2982058"/>
            <a:ext cx="29633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solidFill>
                  <a:srgbClr val="000000"/>
                </a:solidFill>
                <a:latin typeface="Aptos"/>
              </a:rPr>
              <a:t> </a:t>
            </a:r>
            <a:r>
              <a:rPr lang="en-GB" sz="1000" b="0" i="0" u="none" strike="noStrike" baseline="0">
                <a:solidFill>
                  <a:srgbClr val="000000"/>
                </a:solidFill>
                <a:latin typeface="Aptos"/>
              </a:rPr>
              <a:t>1​</a:t>
            </a:r>
            <a:r>
              <a:rPr sz="1000" b="0" i="0">
                <a:solidFill>
                  <a:srgbClr val="000000"/>
                </a:solidFill>
                <a:latin typeface="Aptos"/>
                <a:ea typeface="Aptos"/>
                <a:cs typeface="Aptos"/>
              </a:rPr>
              <a:t>​</a:t>
            </a:r>
            <a:endParaRPr lang="en-GB"/>
          </a:p>
          <a:p>
            <a:pPr algn="ctr"/>
            <a:endParaRPr lang="en-GB"/>
          </a:p>
        </p:txBody>
      </p:sp>
      <p:sp>
        <p:nvSpPr>
          <p:cNvPr id="46" name="TextBox 45">
            <a:extLst>
              <a:ext uri="{FF2B5EF4-FFF2-40B4-BE49-F238E27FC236}">
                <a16:creationId xmlns:a16="http://schemas.microsoft.com/office/drawing/2014/main" id="{DBA83165-4EC6-82D1-2DEF-F9C37B2CDA05}"/>
              </a:ext>
            </a:extLst>
          </p:cNvPr>
          <p:cNvSpPr txBox="1"/>
          <p:nvPr/>
        </p:nvSpPr>
        <p:spPr>
          <a:xfrm>
            <a:off x="5765475" y="2923442"/>
            <a:ext cx="26458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t>0</a:t>
            </a:r>
          </a:p>
          <a:p>
            <a:pPr algn="ctr"/>
            <a:endParaRPr lang="en-GB"/>
          </a:p>
        </p:txBody>
      </p:sp>
      <p:sp>
        <p:nvSpPr>
          <p:cNvPr id="47" name="TextBox 46">
            <a:extLst>
              <a:ext uri="{FF2B5EF4-FFF2-40B4-BE49-F238E27FC236}">
                <a16:creationId xmlns:a16="http://schemas.microsoft.com/office/drawing/2014/main" id="{5092CA5F-D6A9-6C62-B3BF-66BBCEF8B01A}"/>
              </a:ext>
            </a:extLst>
          </p:cNvPr>
          <p:cNvSpPr txBox="1"/>
          <p:nvPr/>
        </p:nvSpPr>
        <p:spPr>
          <a:xfrm>
            <a:off x="7904122" y="2923442"/>
            <a:ext cx="26458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0" i="0" u="none" strike="noStrike" baseline="0">
                <a:solidFill>
                  <a:srgbClr val="000000"/>
                </a:solidFill>
                <a:latin typeface="Aptos"/>
              </a:rPr>
              <a:t>0</a:t>
            </a:r>
            <a:r>
              <a:rPr sz="1000" b="0" i="0">
                <a:solidFill>
                  <a:srgbClr val="000000"/>
                </a:solidFill>
                <a:latin typeface="Aptos"/>
                <a:ea typeface="Aptos"/>
                <a:cs typeface="Aptos"/>
              </a:rPr>
              <a:t>​</a:t>
            </a:r>
            <a:endParaRPr lang="en-GB"/>
          </a:p>
          <a:p>
            <a:pPr algn="ctr"/>
            <a:endParaRPr lang="en-GB"/>
          </a:p>
        </p:txBody>
      </p:sp>
      <p:sp>
        <p:nvSpPr>
          <p:cNvPr id="7" name="Rectangle: Rounded Corners 6">
            <a:extLst>
              <a:ext uri="{FF2B5EF4-FFF2-40B4-BE49-F238E27FC236}">
                <a16:creationId xmlns:a16="http://schemas.microsoft.com/office/drawing/2014/main" id="{A81468EB-1F67-A49C-E94B-77870A73A6DA}"/>
              </a:ext>
            </a:extLst>
          </p:cNvPr>
          <p:cNvSpPr/>
          <p:nvPr/>
        </p:nvSpPr>
        <p:spPr>
          <a:xfrm>
            <a:off x="391583" y="3799416"/>
            <a:ext cx="3492500" cy="1492250"/>
          </a:xfrm>
          <a:prstGeom prst="roundRect">
            <a:avLst/>
          </a:prstGeom>
          <a:no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800" b="1" i="0" u="none" strike="noStrike" baseline="0">
                <a:solidFill>
                  <a:srgbClr val="000000"/>
                </a:solidFill>
                <a:latin typeface="Aptos Display"/>
                <a:ea typeface="Arial"/>
                <a:cs typeface="Arial"/>
              </a:rPr>
              <a:t>Tangential Velocity (Vx):</a:t>
            </a:r>
            <a:r>
              <a:rPr lang="en-US" sz="1800" b="0" i="0" u="none" strike="noStrike" baseline="0" dirty="0">
                <a:solidFill>
                  <a:srgbClr val="000000"/>
                </a:solidFill>
                <a:latin typeface="Aptos Display"/>
                <a:ea typeface="Arial"/>
                <a:cs typeface="Arial"/>
              </a:rPr>
              <a:t> </a:t>
            </a:r>
            <a:r>
              <a:rPr lang="en-US" sz="1800" b="0" i="0" u="none" strike="noStrike" baseline="0">
                <a:solidFill>
                  <a:srgbClr val="000000"/>
                </a:solidFill>
                <a:latin typeface="Aptos Display"/>
                <a:ea typeface="Arial"/>
                <a:cs typeface="Arial"/>
              </a:rPr>
              <a:t>Reversed inner rotation generates intense interfacial shear between the opposing streams.</a:t>
            </a:r>
            <a:r>
              <a:rPr lang="en-US" sz="1800" b="0" i="0">
                <a:solidFill>
                  <a:srgbClr val="000000"/>
                </a:solidFill>
                <a:latin typeface="Aptos Display"/>
                <a:ea typeface="Arial"/>
                <a:cs typeface="Arial"/>
              </a:rPr>
              <a:t>​</a:t>
            </a:r>
            <a:endParaRPr lang="en-GB">
              <a:latin typeface="Aptos Display"/>
            </a:endParaRPr>
          </a:p>
        </p:txBody>
      </p:sp>
      <p:sp>
        <p:nvSpPr>
          <p:cNvPr id="12" name="Rectangle: Rounded Corners 11">
            <a:extLst>
              <a:ext uri="{FF2B5EF4-FFF2-40B4-BE49-F238E27FC236}">
                <a16:creationId xmlns:a16="http://schemas.microsoft.com/office/drawing/2014/main" id="{9CF55A59-C257-F651-1B0C-872D9BBF50F8}"/>
              </a:ext>
            </a:extLst>
          </p:cNvPr>
          <p:cNvSpPr/>
          <p:nvPr/>
        </p:nvSpPr>
        <p:spPr>
          <a:xfrm>
            <a:off x="8985250" y="3672416"/>
            <a:ext cx="2899833" cy="2222499"/>
          </a:xfrm>
          <a:prstGeom prst="roundRect">
            <a:avLst/>
          </a:prstGeom>
          <a:no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ts val="2250"/>
              </a:lnSpc>
            </a:pPr>
            <a:r>
              <a:rPr lang="en-US" b="1" dirty="0">
                <a:solidFill>
                  <a:srgbClr val="000000"/>
                </a:solidFill>
                <a:latin typeface="Aptos Display"/>
                <a:cs typeface="Arial"/>
              </a:rPr>
              <a:t>Radial Velocity (</a:t>
            </a:r>
            <a:r>
              <a:rPr lang="en-US" b="1" dirty="0" err="1">
                <a:solidFill>
                  <a:srgbClr val="000000"/>
                </a:solidFill>
                <a:latin typeface="Aptos Display"/>
                <a:cs typeface="Arial"/>
              </a:rPr>
              <a:t>Vz</a:t>
            </a:r>
            <a:r>
              <a:rPr lang="en-US" b="1" dirty="0">
                <a:solidFill>
                  <a:srgbClr val="000000"/>
                </a:solidFill>
                <a:latin typeface="Aptos Display"/>
                <a:cs typeface="Arial"/>
              </a:rPr>
              <a:t>):</a:t>
            </a:r>
            <a:r>
              <a:rPr lang="en-US" dirty="0">
                <a:solidFill>
                  <a:srgbClr val="000000"/>
                </a:solidFill>
                <a:latin typeface="Aptos Display"/>
                <a:cs typeface="Arial"/>
              </a:rPr>
              <a:t> Opposing momentum restricts centrifugal expansion, preventing outward spread.</a:t>
            </a:r>
            <a:endParaRPr lang="en-US">
              <a:latin typeface="Aptos Display"/>
            </a:endParaRPr>
          </a:p>
        </p:txBody>
      </p:sp>
      <p:sp>
        <p:nvSpPr>
          <p:cNvPr id="14" name="Rectangle: Rounded Corners 13">
            <a:extLst>
              <a:ext uri="{FF2B5EF4-FFF2-40B4-BE49-F238E27FC236}">
                <a16:creationId xmlns:a16="http://schemas.microsoft.com/office/drawing/2014/main" id="{FC8B80C3-E9DF-1A3C-3724-E822650D03C2}"/>
              </a:ext>
            </a:extLst>
          </p:cNvPr>
          <p:cNvSpPr/>
          <p:nvPr/>
        </p:nvSpPr>
        <p:spPr>
          <a:xfrm>
            <a:off x="8964083" y="1269999"/>
            <a:ext cx="2920999" cy="2222499"/>
          </a:xfrm>
          <a:prstGeom prst="roundRect">
            <a:avLst/>
          </a:prstGeom>
          <a:no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ts val="2250"/>
              </a:lnSpc>
            </a:pPr>
            <a:r>
              <a:rPr lang="en-US" b="1" dirty="0">
                <a:solidFill>
                  <a:srgbClr val="000000"/>
                </a:solidFill>
                <a:ea typeface="+mn-lt"/>
                <a:cs typeface="+mn-lt"/>
              </a:rPr>
              <a:t>Axial Velocity (Vy):</a:t>
            </a:r>
            <a:r>
              <a:rPr lang="en-US" dirty="0">
                <a:solidFill>
                  <a:srgbClr val="000000"/>
                </a:solidFill>
                <a:ea typeface="+mn-lt"/>
                <a:cs typeface="+mn-lt"/>
              </a:rPr>
              <a:t> Lacking sufficient radial spread to induce a sufficient adverse pressure gradient, the CRZ narrows &amp; weakens. </a:t>
            </a:r>
            <a:endParaRPr lang="en-US" dirty="0"/>
          </a:p>
        </p:txBody>
      </p:sp>
    </p:spTree>
    <p:extLst>
      <p:ext uri="{BB962C8B-B14F-4D97-AF65-F5344CB8AC3E}">
        <p14:creationId xmlns:p14="http://schemas.microsoft.com/office/powerpoint/2010/main" val="3271288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77020-8E96-4595-0033-2630A3800CDD}"/>
              </a:ext>
            </a:extLst>
          </p:cNvPr>
          <p:cNvSpPr>
            <a:spLocks noGrp="1"/>
          </p:cNvSpPr>
          <p:nvPr>
            <p:ph type="title"/>
          </p:nvPr>
        </p:nvSpPr>
        <p:spPr>
          <a:xfrm>
            <a:off x="105355" y="90617"/>
            <a:ext cx="8685771" cy="543697"/>
          </a:xfrm>
        </p:spPr>
        <p:txBody>
          <a:bodyPr>
            <a:normAutofit fontScale="90000"/>
          </a:bodyPr>
          <a:lstStyle/>
          <a:p>
            <a:r>
              <a:rPr lang="en-GB"/>
              <a:t>Flame Morphology: Counter-swirl with respect to Co-swirl</a:t>
            </a:r>
          </a:p>
        </p:txBody>
      </p:sp>
      <p:pic>
        <p:nvPicPr>
          <p:cNvPr id="4" name="Picture 3" descr="A screenshot of a graph&#10;&#10;AI-generated content may be incorrect.">
            <a:extLst>
              <a:ext uri="{FF2B5EF4-FFF2-40B4-BE49-F238E27FC236}">
                <a16:creationId xmlns:a16="http://schemas.microsoft.com/office/drawing/2014/main" id="{E5FDEE0A-9A61-C30D-BD42-D1C4DD1104B9}"/>
              </a:ext>
            </a:extLst>
          </p:cNvPr>
          <p:cNvPicPr>
            <a:picLocks noChangeAspect="1"/>
          </p:cNvPicPr>
          <p:nvPr/>
        </p:nvPicPr>
        <p:blipFill>
          <a:blip r:embed="rId2"/>
          <a:stretch>
            <a:fillRect/>
          </a:stretch>
        </p:blipFill>
        <p:spPr>
          <a:xfrm>
            <a:off x="-11219" y="1048809"/>
            <a:ext cx="7219950" cy="3829050"/>
          </a:xfrm>
          <a:prstGeom prst="rect">
            <a:avLst/>
          </a:prstGeom>
        </p:spPr>
      </p:pic>
      <p:sp>
        <p:nvSpPr>
          <p:cNvPr id="5" name="TextBox 4">
            <a:extLst>
              <a:ext uri="{FF2B5EF4-FFF2-40B4-BE49-F238E27FC236}">
                <a16:creationId xmlns:a16="http://schemas.microsoft.com/office/drawing/2014/main" id="{E98A3938-E312-9424-02A2-8A51E90F1373}"/>
              </a:ext>
            </a:extLst>
          </p:cNvPr>
          <p:cNvSpPr txBox="1"/>
          <p:nvPr/>
        </p:nvSpPr>
        <p:spPr>
          <a:xfrm>
            <a:off x="423334" y="1566333"/>
            <a:ext cx="143933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a:solidFill>
                  <a:srgbClr val="FF0000"/>
                </a:solidFill>
              </a:rPr>
              <a:t>Co-Swirl</a:t>
            </a:r>
          </a:p>
        </p:txBody>
      </p:sp>
      <p:sp>
        <p:nvSpPr>
          <p:cNvPr id="7" name="TextBox 6">
            <a:extLst>
              <a:ext uri="{FF2B5EF4-FFF2-40B4-BE49-F238E27FC236}">
                <a16:creationId xmlns:a16="http://schemas.microsoft.com/office/drawing/2014/main" id="{29179ADD-760F-AFA5-E3C4-1EC90E40E4C0}"/>
              </a:ext>
            </a:extLst>
          </p:cNvPr>
          <p:cNvSpPr txBox="1"/>
          <p:nvPr/>
        </p:nvSpPr>
        <p:spPr>
          <a:xfrm>
            <a:off x="4021667" y="1566332"/>
            <a:ext cx="143933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400">
                <a:solidFill>
                  <a:srgbClr val="FF0000"/>
                </a:solidFill>
              </a:rPr>
              <a:t>Counter-Swirl</a:t>
            </a:r>
          </a:p>
        </p:txBody>
      </p:sp>
      <p:pic>
        <p:nvPicPr>
          <p:cNvPr id="16" name="Picture 15" descr="A black and white image of a light&#10;&#10;AI-generated content may be incorrect.">
            <a:extLst>
              <a:ext uri="{FF2B5EF4-FFF2-40B4-BE49-F238E27FC236}">
                <a16:creationId xmlns:a16="http://schemas.microsoft.com/office/drawing/2014/main" id="{B662B558-2AEE-B2F2-9A56-09576980E4D2}"/>
              </a:ext>
            </a:extLst>
          </p:cNvPr>
          <p:cNvPicPr>
            <a:picLocks noChangeAspect="1"/>
          </p:cNvPicPr>
          <p:nvPr/>
        </p:nvPicPr>
        <p:blipFill>
          <a:blip r:embed="rId3"/>
          <a:stretch>
            <a:fillRect/>
          </a:stretch>
        </p:blipFill>
        <p:spPr>
          <a:xfrm>
            <a:off x="7972954" y="2554289"/>
            <a:ext cx="3538008" cy="3654425"/>
          </a:xfrm>
          <a:prstGeom prst="rect">
            <a:avLst/>
          </a:prstGeom>
        </p:spPr>
      </p:pic>
      <p:sp>
        <p:nvSpPr>
          <p:cNvPr id="17" name="TextBox 16">
            <a:extLst>
              <a:ext uri="{FF2B5EF4-FFF2-40B4-BE49-F238E27FC236}">
                <a16:creationId xmlns:a16="http://schemas.microsoft.com/office/drawing/2014/main" id="{1AA5281F-EE1E-E93E-7958-0FAAFA4396B5}"/>
              </a:ext>
            </a:extLst>
          </p:cNvPr>
          <p:cNvSpPr txBox="1"/>
          <p:nvPr/>
        </p:nvSpPr>
        <p:spPr>
          <a:xfrm>
            <a:off x="8392584" y="3037416"/>
            <a:ext cx="135466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0" i="0" u="none" strike="noStrike" baseline="0">
                <a:solidFill>
                  <a:srgbClr val="FF0000"/>
                </a:solidFill>
                <a:latin typeface="Aptos"/>
              </a:rPr>
              <a:t>Counter-Swirl</a:t>
            </a:r>
            <a:endParaRPr lang="en-US" sz="1400"/>
          </a:p>
          <a:p>
            <a:pPr algn="ctr"/>
            <a:endParaRPr lang="en-GB"/>
          </a:p>
        </p:txBody>
      </p:sp>
      <p:sp>
        <p:nvSpPr>
          <p:cNvPr id="6" name="TextBox 5">
            <a:extLst>
              <a:ext uri="{FF2B5EF4-FFF2-40B4-BE49-F238E27FC236}">
                <a16:creationId xmlns:a16="http://schemas.microsoft.com/office/drawing/2014/main" id="{53BDEB0D-9D6D-97D8-CAE1-3DC13FB2B65F}"/>
              </a:ext>
            </a:extLst>
          </p:cNvPr>
          <p:cNvSpPr txBox="1"/>
          <p:nvPr/>
        </p:nvSpPr>
        <p:spPr>
          <a:xfrm>
            <a:off x="7209693" y="1074615"/>
            <a:ext cx="4728308"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600" b="1" i="0" u="none" strike="noStrike" baseline="0">
                <a:solidFill>
                  <a:srgbClr val="000000"/>
                </a:solidFill>
                <a:latin typeface="Aptos"/>
                <a:ea typeface="Segoe UI"/>
                <a:cs typeface="Segoe UI"/>
              </a:rPr>
              <a:t>Counter Swirl tests:</a:t>
            </a:r>
            <a:r>
              <a:rPr lang="en-US" sz="1600" b="0" i="0">
                <a:solidFill>
                  <a:srgbClr val="000000"/>
                </a:solidFill>
                <a:latin typeface="Aptos"/>
                <a:ea typeface="Segoe UI"/>
                <a:cs typeface="Segoe UI"/>
              </a:rPr>
              <a:t>​</a:t>
            </a:r>
          </a:p>
          <a:p>
            <a:pPr marL="285750" lvl="0" indent="-285750" algn="l" rtl="0">
              <a:buFont typeface="Arial,Sans-Serif"/>
              <a:buChar char="•"/>
            </a:pPr>
            <a:r>
              <a:rPr lang="en-US" sz="1600" b="0" i="0" u="none" strike="noStrike" baseline="0">
                <a:solidFill>
                  <a:srgbClr val="000000"/>
                </a:solidFill>
                <a:latin typeface="Aptos"/>
                <a:ea typeface="Arial"/>
                <a:cs typeface="Arial"/>
              </a:rPr>
              <a:t>Φ global</a:t>
            </a:r>
            <a:r>
              <a:rPr lang="en-US" sz="1600" b="1" i="0" u="none" strike="noStrike" baseline="0">
                <a:solidFill>
                  <a:srgbClr val="000000"/>
                </a:solidFill>
                <a:latin typeface="Aptos"/>
                <a:ea typeface="Arial"/>
                <a:cs typeface="Arial"/>
              </a:rPr>
              <a:t>= 0.35 &amp; 0.45:</a:t>
            </a:r>
            <a:r>
              <a:rPr lang="en-US" sz="1600" b="0" i="0" u="none" strike="noStrike" baseline="0">
                <a:solidFill>
                  <a:srgbClr val="000000"/>
                </a:solidFill>
                <a:latin typeface="Aptos"/>
                <a:ea typeface="Arial"/>
                <a:cs typeface="Arial"/>
              </a:rPr>
              <a:t> Premixing caused immediate flashback</a:t>
            </a:r>
            <a:r>
              <a:rPr lang="en-US" sz="1600" b="0" i="0">
                <a:solidFill>
                  <a:srgbClr val="000000"/>
                </a:solidFill>
                <a:latin typeface="Aptos"/>
                <a:ea typeface="Arial"/>
                <a:cs typeface="Arial"/>
              </a:rPr>
              <a:t>​</a:t>
            </a:r>
            <a:r>
              <a:rPr lang="en-US" sz="1600">
                <a:solidFill>
                  <a:srgbClr val="000000"/>
                </a:solidFill>
                <a:latin typeface="Aptos"/>
                <a:ea typeface="Arial"/>
                <a:cs typeface="Arial"/>
              </a:rPr>
              <a:t>.</a:t>
            </a:r>
            <a:endParaRPr lang="en-US" sz="1600" b="0" i="0">
              <a:solidFill>
                <a:srgbClr val="000000"/>
              </a:solidFill>
              <a:latin typeface="Aptos"/>
              <a:ea typeface="Arial"/>
              <a:cs typeface="Arial"/>
            </a:endParaRPr>
          </a:p>
          <a:p>
            <a:pPr marL="285750" lvl="0" indent="-285750" algn="l" rtl="0">
              <a:buFont typeface="Arial,Sans-Serif"/>
              <a:buChar char="•"/>
            </a:pPr>
            <a:r>
              <a:rPr lang="en-US" sz="1600" b="0" i="0" u="none" strike="noStrike" baseline="0">
                <a:solidFill>
                  <a:srgbClr val="000000"/>
                </a:solidFill>
                <a:latin typeface="Aptos"/>
                <a:ea typeface="Arial"/>
                <a:cs typeface="Arial"/>
              </a:rPr>
              <a:t>Φ global</a:t>
            </a:r>
            <a:r>
              <a:rPr lang="en-US" sz="1600" b="1" i="0" u="none" strike="noStrike" baseline="0">
                <a:solidFill>
                  <a:srgbClr val="000000"/>
                </a:solidFill>
                <a:latin typeface="Aptos"/>
                <a:ea typeface="Arial"/>
                <a:cs typeface="Arial"/>
              </a:rPr>
              <a:t>= 0.25:</a:t>
            </a:r>
            <a:r>
              <a:rPr lang="en-US" sz="1600" b="0" i="0" u="none" strike="noStrike" baseline="0">
                <a:solidFill>
                  <a:srgbClr val="000000"/>
                </a:solidFill>
                <a:latin typeface="Aptos"/>
                <a:ea typeface="Arial"/>
                <a:cs typeface="Arial"/>
              </a:rPr>
              <a:t> Maintained only transient stability (below) before eventually flashing back.</a:t>
            </a:r>
            <a:r>
              <a:rPr lang="en-US" sz="1600" b="0" i="0">
                <a:solidFill>
                  <a:srgbClr val="000000"/>
                </a:solidFill>
                <a:latin typeface="Aptos"/>
                <a:ea typeface="Arial"/>
                <a:cs typeface="Arial"/>
              </a:rPr>
              <a:t>​</a:t>
            </a:r>
          </a:p>
          <a:p>
            <a:pPr algn="ctr"/>
            <a:endParaRPr lang="en-GB"/>
          </a:p>
        </p:txBody>
      </p:sp>
      <p:sp>
        <p:nvSpPr>
          <p:cNvPr id="3" name="TextBox 2">
            <a:extLst>
              <a:ext uri="{FF2B5EF4-FFF2-40B4-BE49-F238E27FC236}">
                <a16:creationId xmlns:a16="http://schemas.microsoft.com/office/drawing/2014/main" id="{9D072561-160F-0760-AA73-5B2372BB1522}"/>
              </a:ext>
            </a:extLst>
          </p:cNvPr>
          <p:cNvSpPr txBox="1"/>
          <p:nvPr/>
        </p:nvSpPr>
        <p:spPr>
          <a:xfrm>
            <a:off x="3595077" y="4894384"/>
            <a:ext cx="4493847"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r>
              <a:rPr lang="en-US" sz="1600" b="1" i="0" u="none" strike="noStrike" baseline="0">
                <a:solidFill>
                  <a:srgbClr val="000000"/>
                </a:solidFill>
                <a:latin typeface="Aptos"/>
                <a:ea typeface="Arial"/>
                <a:cs typeface="Arial"/>
              </a:rPr>
              <a:t>Counter-Swirl: </a:t>
            </a:r>
            <a:r>
              <a:rPr lang="en-US" sz="1600" b="0" i="0">
                <a:solidFill>
                  <a:srgbClr val="000000"/>
                </a:solidFill>
                <a:latin typeface="Aptos"/>
                <a:ea typeface="Arial"/>
                <a:cs typeface="Arial"/>
              </a:rPr>
              <a:t>​</a:t>
            </a:r>
          </a:p>
          <a:p>
            <a:pPr marL="285750" lvl="0" indent="-285750" algn="l" rtl="0">
              <a:buFont typeface="Wingdings,sans-serif"/>
              <a:buChar char="§"/>
            </a:pPr>
            <a:r>
              <a:rPr lang="en-US" sz="1600" b="1" i="1" u="none" strike="noStrike" baseline="0">
                <a:solidFill>
                  <a:srgbClr val="000000"/>
                </a:solidFill>
                <a:latin typeface="Aptos"/>
                <a:ea typeface="Arial"/>
                <a:cs typeface="Arial"/>
              </a:rPr>
              <a:t>Weakened CRZ </a:t>
            </a:r>
            <a:r>
              <a:rPr lang="en-US" sz="1600" b="0" i="0" u="none" strike="noStrike" baseline="0">
                <a:solidFill>
                  <a:srgbClr val="000000"/>
                </a:solidFill>
                <a:latin typeface="Aptos"/>
                <a:ea typeface="Arial"/>
                <a:cs typeface="Arial"/>
              </a:rPr>
              <a:t>as predicted by CFD.</a:t>
            </a:r>
            <a:r>
              <a:rPr lang="en-US" sz="1600" b="0" i="0">
                <a:solidFill>
                  <a:srgbClr val="000000"/>
                </a:solidFill>
                <a:latin typeface="Aptos"/>
                <a:ea typeface="Arial"/>
                <a:cs typeface="Arial"/>
              </a:rPr>
              <a:t>​</a:t>
            </a:r>
          </a:p>
          <a:p>
            <a:pPr marL="285750" lvl="0" indent="-285750" algn="l" rtl="0">
              <a:buFont typeface="Wingdings,sans-serif"/>
              <a:buChar char="§"/>
            </a:pPr>
            <a:r>
              <a:rPr lang="en-US" sz="1600" b="1" i="1" u="none" strike="noStrike" baseline="0">
                <a:solidFill>
                  <a:srgbClr val="000000"/>
                </a:solidFill>
                <a:latin typeface="Aptos"/>
                <a:ea typeface="Arial"/>
                <a:cs typeface="Arial"/>
              </a:rPr>
              <a:t>Flashback prone:</a:t>
            </a:r>
            <a:r>
              <a:rPr lang="en-US" sz="1600" b="0" i="0" u="none" strike="noStrike" baseline="0">
                <a:solidFill>
                  <a:srgbClr val="000000"/>
                </a:solidFill>
                <a:latin typeface="Aptos"/>
                <a:ea typeface="Arial"/>
                <a:cs typeface="Arial"/>
              </a:rPr>
              <a:t> vulnerable to Flashback under premixing.</a:t>
            </a:r>
            <a:r>
              <a:rPr lang="en-US" sz="1600" b="0" i="0">
                <a:solidFill>
                  <a:srgbClr val="000000"/>
                </a:solidFill>
                <a:latin typeface="Aptos"/>
                <a:ea typeface="Arial"/>
                <a:cs typeface="Arial"/>
              </a:rPr>
              <a:t>​</a:t>
            </a:r>
          </a:p>
        </p:txBody>
      </p:sp>
      <p:sp>
        <p:nvSpPr>
          <p:cNvPr id="8" name="TextBox 7">
            <a:extLst>
              <a:ext uri="{FF2B5EF4-FFF2-40B4-BE49-F238E27FC236}">
                <a16:creationId xmlns:a16="http://schemas.microsoft.com/office/drawing/2014/main" id="{56B0A877-3200-38CA-75B1-22966CB61422}"/>
              </a:ext>
            </a:extLst>
          </p:cNvPr>
          <p:cNvSpPr txBox="1"/>
          <p:nvPr/>
        </p:nvSpPr>
        <p:spPr>
          <a:xfrm>
            <a:off x="107462" y="4894385"/>
            <a:ext cx="341923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0" u="none" strike="noStrike" baseline="0">
                <a:solidFill>
                  <a:srgbClr val="000000"/>
                </a:solidFill>
                <a:latin typeface="Aptos"/>
                <a:ea typeface="Segoe UI"/>
                <a:cs typeface="Segoe UI"/>
              </a:rPr>
              <a:t>Co-Swirl:</a:t>
            </a:r>
            <a:endParaRPr lang="en-US">
              <a:solidFill>
                <a:srgbClr val="000000"/>
              </a:solidFill>
              <a:latin typeface="Aptos"/>
              <a:ea typeface="Segoe UI"/>
              <a:cs typeface="Segoe UI"/>
            </a:endParaRPr>
          </a:p>
          <a:p>
            <a:r>
              <a:rPr lang="en-US" sz="1600" b="0" i="0" u="none" strike="noStrike" baseline="0">
                <a:solidFill>
                  <a:srgbClr val="000000"/>
                </a:solidFill>
                <a:latin typeface="Aptos"/>
                <a:ea typeface="Segoe UI"/>
                <a:cs typeface="Segoe UI"/>
              </a:rPr>
              <a:t>Maintains stable, aerodynamically anchored M-shaped flames across most conditions (see </a:t>
            </a:r>
            <a:r>
              <a:rPr lang="en-US" sz="1600" b="1" i="0" u="none" strike="noStrike" baseline="0">
                <a:solidFill>
                  <a:srgbClr val="000000"/>
                </a:solidFill>
                <a:latin typeface="Aptos"/>
                <a:ea typeface="Segoe UI"/>
                <a:cs typeface="Segoe UI"/>
              </a:rPr>
              <a:t>Appendix C</a:t>
            </a:r>
            <a:r>
              <a:rPr lang="en-US" sz="1600" b="0" i="0" u="none" strike="noStrike" baseline="0">
                <a:solidFill>
                  <a:srgbClr val="000000"/>
                </a:solidFill>
                <a:latin typeface="Aptos"/>
                <a:ea typeface="Segoe UI"/>
                <a:cs typeface="Segoe UI"/>
              </a:rPr>
              <a:t>)</a:t>
            </a:r>
            <a:r>
              <a:rPr sz="1600" b="0" i="0">
                <a:solidFill>
                  <a:srgbClr val="000000"/>
                </a:solidFill>
                <a:latin typeface="Aptos"/>
                <a:ea typeface="Aptos"/>
                <a:cs typeface="Aptos"/>
              </a:rPr>
              <a:t>​</a:t>
            </a:r>
            <a:r>
              <a:rPr lang="en-US" sz="1600">
                <a:solidFill>
                  <a:srgbClr val="000000"/>
                </a:solidFill>
                <a:latin typeface="Aptos"/>
                <a:ea typeface="Aptos"/>
                <a:cs typeface="Aptos"/>
              </a:rPr>
              <a:t>.</a:t>
            </a:r>
            <a:endParaRPr lang="en-US"/>
          </a:p>
        </p:txBody>
      </p:sp>
    </p:spTree>
    <p:extLst>
      <p:ext uri="{BB962C8B-B14F-4D97-AF65-F5344CB8AC3E}">
        <p14:creationId xmlns:p14="http://schemas.microsoft.com/office/powerpoint/2010/main" val="1061401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1E1E7-563B-D07A-CF0A-D0CD5E6A2066}"/>
              </a:ext>
            </a:extLst>
          </p:cNvPr>
          <p:cNvSpPr>
            <a:spLocks noGrp="1"/>
          </p:cNvSpPr>
          <p:nvPr>
            <p:ph type="title"/>
          </p:nvPr>
        </p:nvSpPr>
        <p:spPr/>
        <p:txBody>
          <a:bodyPr/>
          <a:lstStyle/>
          <a:p>
            <a:r>
              <a:rPr lang="en-GB" dirty="0" err="1"/>
              <a:t>EINOx</a:t>
            </a:r>
            <a:r>
              <a:rPr lang="en-GB" dirty="0"/>
              <a:t> Results &amp; Limitations</a:t>
            </a:r>
          </a:p>
        </p:txBody>
      </p:sp>
      <p:graphicFrame>
        <p:nvGraphicFramePr>
          <p:cNvPr id="5" name="Table 4">
            <a:extLst>
              <a:ext uri="{FF2B5EF4-FFF2-40B4-BE49-F238E27FC236}">
                <a16:creationId xmlns:a16="http://schemas.microsoft.com/office/drawing/2014/main" id="{31362B11-9BBA-9BDD-F057-1B86EB9C83E3}"/>
              </a:ext>
            </a:extLst>
          </p:cNvPr>
          <p:cNvGraphicFramePr>
            <a:graphicFrameLocks noGrp="1"/>
          </p:cNvGraphicFramePr>
          <p:nvPr>
            <p:extLst>
              <p:ext uri="{D42A27DB-BD31-4B8C-83A1-F6EECF244321}">
                <p14:modId xmlns:p14="http://schemas.microsoft.com/office/powerpoint/2010/main" val="2739596008"/>
              </p:ext>
            </p:extLst>
          </p:nvPr>
        </p:nvGraphicFramePr>
        <p:xfrm>
          <a:off x="6320692" y="1279769"/>
          <a:ext cx="5787237" cy="1925320"/>
        </p:xfrm>
        <a:graphic>
          <a:graphicData uri="http://schemas.openxmlformats.org/drawingml/2006/table">
            <a:tbl>
              <a:tblPr firstRow="1" bandRow="1">
                <a:tableStyleId>{5C22544A-7EE6-4342-B048-85BDC9FD1C3A}</a:tableStyleId>
              </a:tblPr>
              <a:tblGrid>
                <a:gridCol w="1017961">
                  <a:extLst>
                    <a:ext uri="{9D8B030D-6E8A-4147-A177-3AD203B41FA5}">
                      <a16:colId xmlns:a16="http://schemas.microsoft.com/office/drawing/2014/main" val="4079561136"/>
                    </a:ext>
                  </a:extLst>
                </a:gridCol>
                <a:gridCol w="791747">
                  <a:extLst>
                    <a:ext uri="{9D8B030D-6E8A-4147-A177-3AD203B41FA5}">
                      <a16:colId xmlns:a16="http://schemas.microsoft.com/office/drawing/2014/main" val="1712844710"/>
                    </a:ext>
                  </a:extLst>
                </a:gridCol>
                <a:gridCol w="994833">
                  <a:extLst>
                    <a:ext uri="{9D8B030D-6E8A-4147-A177-3AD203B41FA5}">
                      <a16:colId xmlns:a16="http://schemas.microsoft.com/office/drawing/2014/main" val="1312457114"/>
                    </a:ext>
                  </a:extLst>
                </a:gridCol>
                <a:gridCol w="1291166">
                  <a:extLst>
                    <a:ext uri="{9D8B030D-6E8A-4147-A177-3AD203B41FA5}">
                      <a16:colId xmlns:a16="http://schemas.microsoft.com/office/drawing/2014/main" val="642931532"/>
                    </a:ext>
                  </a:extLst>
                </a:gridCol>
                <a:gridCol w="1691530">
                  <a:extLst>
                    <a:ext uri="{9D8B030D-6E8A-4147-A177-3AD203B41FA5}">
                      <a16:colId xmlns:a16="http://schemas.microsoft.com/office/drawing/2014/main" val="3907811576"/>
                    </a:ext>
                  </a:extLst>
                </a:gridCol>
              </a:tblGrid>
              <a:tr h="370840">
                <a:tc>
                  <a:txBody>
                    <a:bodyPr/>
                    <a:lstStyle/>
                    <a:p>
                      <a:pPr lvl="0">
                        <a:buNone/>
                      </a:pPr>
                      <a:r>
                        <a:rPr lang="en-US" sz="1800" b="0" i="0" u="none" strike="noStrike" noProof="0">
                          <a:solidFill>
                            <a:srgbClr val="FFFFFF"/>
                          </a:solidFill>
                          <a:latin typeface="Aptos"/>
                        </a:rPr>
                        <a:t>Φ global</a:t>
                      </a:r>
                      <a:endParaRPr lang="en-US" dirty="0" err="1"/>
                    </a:p>
                  </a:txBody>
                  <a:tcPr/>
                </a:tc>
                <a:tc>
                  <a:txBody>
                    <a:bodyPr/>
                    <a:lstStyle/>
                    <a:p>
                      <a:pPr lvl="0" algn="l">
                        <a:lnSpc>
                          <a:spcPct val="100000"/>
                        </a:lnSpc>
                        <a:spcBef>
                          <a:spcPts val="0"/>
                        </a:spcBef>
                        <a:spcAft>
                          <a:spcPts val="0"/>
                        </a:spcAft>
                        <a:buNone/>
                      </a:pPr>
                      <a:r>
                        <a:rPr lang="en-US" sz="1800" b="0" i="0" u="none" strike="noStrike" noProof="0">
                          <a:solidFill>
                            <a:srgbClr val="FFFFFF"/>
                          </a:solidFill>
                          <a:latin typeface="Aptos"/>
                        </a:rPr>
                        <a:t>SR</a:t>
                      </a:r>
                      <a:endParaRPr lang="en-GB" sz="1800" b="1" i="0" u="none" strike="noStrike" noProof="0">
                        <a:solidFill>
                          <a:srgbClr val="FFFFFF"/>
                        </a:solidFill>
                        <a:latin typeface="Aptos"/>
                      </a:endParaRPr>
                    </a:p>
                  </a:txBody>
                  <a:tcPr/>
                </a:tc>
                <a:tc>
                  <a:txBody>
                    <a:bodyPr/>
                    <a:lstStyle/>
                    <a:p>
                      <a:pPr lvl="0">
                        <a:buNone/>
                      </a:pPr>
                      <a:r>
                        <a:rPr lang="en-US" sz="1800" b="0" i="0" u="none" strike="noStrike" noProof="0">
                          <a:solidFill>
                            <a:srgbClr val="FFFFFF"/>
                          </a:solidFill>
                          <a:latin typeface="Aptos"/>
                        </a:rPr>
                        <a:t>Φ premix</a:t>
                      </a:r>
                      <a:endParaRPr lang="en-US" dirty="0" err="1"/>
                    </a:p>
                  </a:txBody>
                  <a:tcPr/>
                </a:tc>
                <a:tc>
                  <a:txBody>
                    <a:bodyPr/>
                    <a:lstStyle/>
                    <a:p>
                      <a:pPr lvl="0">
                        <a:buNone/>
                      </a:pPr>
                      <a:r>
                        <a:rPr lang="en-US" sz="1800" b="0" i="0" u="none" strike="noStrike" noProof="0" dirty="0">
                          <a:solidFill>
                            <a:srgbClr val="FFFFFF"/>
                          </a:solidFill>
                          <a:latin typeface="Aptos"/>
                        </a:rPr>
                        <a:t>Co-Swirl </a:t>
                      </a:r>
                      <a:r>
                        <a:rPr lang="en-US" sz="1800" b="0" i="0" u="none" strike="noStrike" noProof="0" dirty="0" err="1">
                          <a:solidFill>
                            <a:srgbClr val="FFFFFF"/>
                          </a:solidFill>
                          <a:latin typeface="Aptos"/>
                        </a:rPr>
                        <a:t>EINOx</a:t>
                      </a:r>
                    </a:p>
                    <a:p>
                      <a:pPr lvl="0">
                        <a:buNone/>
                      </a:pPr>
                      <a:r>
                        <a:rPr lang="en-US" sz="1800" b="0" i="0" u="none" strike="noStrike" noProof="0">
                          <a:solidFill>
                            <a:srgbClr val="FFFFFF"/>
                          </a:solidFill>
                        </a:rPr>
                        <a:t>NOx / kg H₂</a:t>
                      </a:r>
                      <a:endParaRPr lang="en-US"/>
                    </a:p>
                  </a:txBody>
                  <a:tcPr/>
                </a:tc>
                <a:tc>
                  <a:txBody>
                    <a:bodyPr/>
                    <a:lstStyle/>
                    <a:p>
                      <a:pPr lvl="0">
                        <a:buNone/>
                      </a:pPr>
                      <a:r>
                        <a:rPr lang="en-US" sz="1800" b="0" i="0" u="none" strike="noStrike" noProof="0" dirty="0">
                          <a:solidFill>
                            <a:srgbClr val="FFFFFF"/>
                          </a:solidFill>
                          <a:latin typeface="Aptos"/>
                        </a:rPr>
                        <a:t>Counter-Swirl </a:t>
                      </a:r>
                      <a:r>
                        <a:rPr lang="en-US" sz="1800" b="0" i="0" u="none" strike="noStrike" noProof="0" dirty="0" err="1">
                          <a:solidFill>
                            <a:srgbClr val="FFFFFF"/>
                          </a:solidFill>
                          <a:latin typeface="Aptos"/>
                        </a:rPr>
                        <a:t>EINOx</a:t>
                      </a:r>
                    </a:p>
                    <a:p>
                      <a:pPr lvl="0">
                        <a:buNone/>
                      </a:pPr>
                      <a:r>
                        <a:rPr lang="en-US" sz="1800" b="0" i="0" u="none" strike="noStrike" noProof="0">
                          <a:solidFill>
                            <a:srgbClr val="FFFFFF"/>
                          </a:solidFill>
                        </a:rPr>
                        <a:t>NOx / kg H₂</a:t>
                      </a:r>
                      <a:endParaRPr lang="en-US"/>
                    </a:p>
                  </a:txBody>
                  <a:tcPr/>
                </a:tc>
                <a:extLst>
                  <a:ext uri="{0D108BD9-81ED-4DB2-BD59-A6C34878D82A}">
                    <a16:rowId xmlns:a16="http://schemas.microsoft.com/office/drawing/2014/main" val="1411342112"/>
                  </a:ext>
                </a:extLst>
              </a:tr>
              <a:tr h="370840">
                <a:tc>
                  <a:txBody>
                    <a:bodyPr/>
                    <a:lstStyle/>
                    <a:p>
                      <a:r>
                        <a:rPr lang="en-GB"/>
                        <a:t>0.25</a:t>
                      </a:r>
                    </a:p>
                  </a:txBody>
                  <a:tcPr/>
                </a:tc>
                <a:tc>
                  <a:txBody>
                    <a:bodyPr/>
                    <a:lstStyle/>
                    <a:p>
                      <a:r>
                        <a:rPr lang="en-GB"/>
                        <a:t>0.40</a:t>
                      </a:r>
                    </a:p>
                  </a:txBody>
                  <a:tcPr/>
                </a:tc>
                <a:tc>
                  <a:txBody>
                    <a:bodyPr/>
                    <a:lstStyle/>
                    <a:p>
                      <a:r>
                        <a:rPr lang="en-GB"/>
                        <a:t>9.00</a:t>
                      </a:r>
                    </a:p>
                  </a:txBody>
                  <a:tcPr/>
                </a:tc>
                <a:tc>
                  <a:txBody>
                    <a:bodyPr/>
                    <a:lstStyle/>
                    <a:p>
                      <a:r>
                        <a:rPr lang="en-GB"/>
                        <a:t>2.91</a:t>
                      </a:r>
                    </a:p>
                  </a:txBody>
                  <a:tcPr/>
                </a:tc>
                <a:tc>
                  <a:txBody>
                    <a:bodyPr/>
                    <a:lstStyle/>
                    <a:p>
                      <a:r>
                        <a:rPr lang="en-GB"/>
                        <a:t>2.55</a:t>
                      </a:r>
                    </a:p>
                  </a:txBody>
                  <a:tcPr/>
                </a:tc>
                <a:extLst>
                  <a:ext uri="{0D108BD9-81ED-4DB2-BD59-A6C34878D82A}">
                    <a16:rowId xmlns:a16="http://schemas.microsoft.com/office/drawing/2014/main" val="1873443612"/>
                  </a:ext>
                </a:extLst>
              </a:tr>
              <a:tr h="370839">
                <a:tc>
                  <a:txBody>
                    <a:bodyPr/>
                    <a:lstStyle/>
                    <a:p>
                      <a:pPr lvl="0">
                        <a:buNone/>
                      </a:pPr>
                      <a:r>
                        <a:rPr lang="en-GB" sz="1800" b="0" i="0" u="none" strike="noStrike" noProof="0">
                          <a:latin typeface="Aptos"/>
                        </a:rPr>
                        <a:t>0.45   </a:t>
                      </a:r>
                    </a:p>
                  </a:txBody>
                  <a:tcPr/>
                </a:tc>
                <a:tc>
                  <a:txBody>
                    <a:bodyPr/>
                    <a:lstStyle/>
                    <a:p>
                      <a:pPr lvl="0">
                        <a:buNone/>
                      </a:pPr>
                      <a:r>
                        <a:rPr lang="en-GB" sz="1800" b="0" i="0" u="none" strike="noStrike" noProof="0">
                          <a:solidFill>
                            <a:srgbClr val="000000"/>
                          </a:solidFill>
                          <a:latin typeface="Aptos"/>
                        </a:rPr>
                        <a:t>0.60</a:t>
                      </a:r>
                      <a:endParaRPr lang="en-US"/>
                    </a:p>
                  </a:txBody>
                  <a:tcPr/>
                </a:tc>
                <a:tc>
                  <a:txBody>
                    <a:bodyPr/>
                    <a:lstStyle/>
                    <a:p>
                      <a:pPr lvl="0">
                        <a:buNone/>
                      </a:pPr>
                      <a:r>
                        <a:rPr lang="en-GB" sz="1800" b="0" i="0" u="none" strike="noStrike" noProof="0">
                          <a:solidFill>
                            <a:srgbClr val="000000"/>
                          </a:solidFill>
                          <a:latin typeface="Aptos"/>
                        </a:rPr>
                        <a:t>9.00</a:t>
                      </a:r>
                      <a:endParaRPr lang="en-US"/>
                    </a:p>
                  </a:txBody>
                  <a:tcPr/>
                </a:tc>
                <a:tc>
                  <a:txBody>
                    <a:bodyPr/>
                    <a:lstStyle/>
                    <a:p>
                      <a:pPr lvl="0">
                        <a:buNone/>
                      </a:pPr>
                      <a:r>
                        <a:rPr lang="en-GB" sz="1800" b="0" i="0" u="none" strike="noStrike" noProof="0">
                          <a:solidFill>
                            <a:srgbClr val="000000"/>
                          </a:solidFill>
                          <a:latin typeface="Aptos"/>
                        </a:rPr>
                        <a:t>2.40</a:t>
                      </a:r>
                      <a:endParaRPr lang="en-US"/>
                    </a:p>
                  </a:txBody>
                  <a:tcPr/>
                </a:tc>
                <a:tc>
                  <a:txBody>
                    <a:bodyPr/>
                    <a:lstStyle/>
                    <a:p>
                      <a:pPr lvl="0">
                        <a:buNone/>
                      </a:pPr>
                      <a:r>
                        <a:rPr lang="en-GB" sz="1800" b="0" i="0" u="none" strike="noStrike" noProof="0">
                          <a:solidFill>
                            <a:srgbClr val="FF0000"/>
                          </a:solidFill>
                          <a:latin typeface="Aptos"/>
                        </a:rPr>
                        <a:t>Flashback </a:t>
                      </a:r>
                      <a:r>
                        <a:rPr lang="en-GB" sz="1800" b="0" i="0" u="none" strike="noStrike" noProof="0">
                          <a:solidFill>
                            <a:srgbClr val="000000"/>
                          </a:solidFill>
                          <a:latin typeface="Aptos"/>
                        </a:rPr>
                        <a:t>(No Data)</a:t>
                      </a:r>
                      <a:endParaRPr lang="en-US"/>
                    </a:p>
                  </a:txBody>
                  <a:tcPr/>
                </a:tc>
                <a:extLst>
                  <a:ext uri="{0D108BD9-81ED-4DB2-BD59-A6C34878D82A}">
                    <a16:rowId xmlns:a16="http://schemas.microsoft.com/office/drawing/2014/main" val="2173408455"/>
                  </a:ext>
                </a:extLst>
              </a:tr>
            </a:tbl>
          </a:graphicData>
        </a:graphic>
      </p:graphicFrame>
      <p:sp>
        <p:nvSpPr>
          <p:cNvPr id="6" name="TextBox 5">
            <a:extLst>
              <a:ext uri="{FF2B5EF4-FFF2-40B4-BE49-F238E27FC236}">
                <a16:creationId xmlns:a16="http://schemas.microsoft.com/office/drawing/2014/main" id="{E9E9FA9B-268A-5C64-DCAF-2A310AEC3DE8}"/>
              </a:ext>
            </a:extLst>
          </p:cNvPr>
          <p:cNvSpPr txBox="1"/>
          <p:nvPr/>
        </p:nvSpPr>
        <p:spPr>
          <a:xfrm>
            <a:off x="6320694" y="3429000"/>
            <a:ext cx="525584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latin typeface="Aptos Display"/>
                <a:ea typeface="Google Sans Text"/>
                <a:cs typeface="Google Sans Text"/>
              </a:rPr>
              <a:t>At the only comparable partially premixed condition (</a:t>
            </a:r>
            <a:r>
              <a:rPr lang="en-US" dirty="0" err="1">
                <a:latin typeface="Aptos Display"/>
                <a:ea typeface="Google Sans Text"/>
                <a:cs typeface="Google Sans Text"/>
              </a:rPr>
              <a:t>Φg</a:t>
            </a:r>
            <a:r>
              <a:rPr lang="en-US" dirty="0">
                <a:latin typeface="Aptos Display"/>
                <a:ea typeface="Google Sans Text"/>
                <a:cs typeface="Google Sans Text"/>
              </a:rPr>
              <a:t> =0.25, </a:t>
            </a:r>
            <a:r>
              <a:rPr lang="en-US" dirty="0" err="1">
                <a:latin typeface="Aptos Display"/>
                <a:ea typeface="Google Sans Text"/>
                <a:cs typeface="Google Sans Text"/>
              </a:rPr>
              <a:t>Φp</a:t>
            </a:r>
            <a:r>
              <a:rPr lang="en-US" dirty="0">
                <a:latin typeface="Aptos Display"/>
                <a:ea typeface="Google Sans Text"/>
                <a:cs typeface="Google Sans Text"/>
              </a:rPr>
              <a:t>=9, SR=0.40), counter-swirl </a:t>
            </a:r>
            <a:r>
              <a:rPr lang="en-US" b="1" i="1" dirty="0">
                <a:latin typeface="Aptos Display"/>
                <a:ea typeface="Google Sans Text"/>
                <a:cs typeface="Google Sans Text"/>
              </a:rPr>
              <a:t>yielded slightly lower </a:t>
            </a:r>
            <a:r>
              <a:rPr lang="en-US" b="1" i="1" dirty="0" err="1">
                <a:latin typeface="Aptos Display"/>
                <a:ea typeface="Google Sans Text"/>
                <a:cs typeface="Google Sans Text"/>
              </a:rPr>
              <a:t>EINOx</a:t>
            </a:r>
            <a:r>
              <a:rPr lang="en-US" dirty="0">
                <a:latin typeface="Aptos Display"/>
                <a:ea typeface="Google Sans Text"/>
                <a:cs typeface="Google Sans Text"/>
              </a:rPr>
              <a:t> (2.55 vs 2.91 g/kg H₂)- </a:t>
            </a:r>
            <a:r>
              <a:rPr lang="en-US" i="1" dirty="0">
                <a:latin typeface="Aptos"/>
                <a:ea typeface="Google Sans Text"/>
                <a:cs typeface="Google Sans Text"/>
              </a:rPr>
              <a:t>with </a:t>
            </a:r>
            <a:r>
              <a:rPr lang="en-US" b="1" i="1" dirty="0">
                <a:latin typeface="Aptos"/>
                <a:ea typeface="Google Sans Text"/>
                <a:cs typeface="Google Sans Text"/>
              </a:rPr>
              <a:t>±5.1%</a:t>
            </a:r>
            <a:r>
              <a:rPr lang="en-US" i="1" dirty="0">
                <a:latin typeface="Aptos"/>
                <a:ea typeface="Google Sans Text"/>
                <a:cs typeface="Google Sans Text"/>
              </a:rPr>
              <a:t> measurement uncertainty.</a:t>
            </a:r>
            <a:endParaRPr lang="en-US" dirty="0"/>
          </a:p>
          <a:p>
            <a:endParaRPr lang="en-US" dirty="0">
              <a:solidFill>
                <a:srgbClr val="FF0000"/>
              </a:solidFill>
              <a:latin typeface="Aptos Display"/>
            </a:endParaRPr>
          </a:p>
          <a:p>
            <a:pPr marL="285750" indent="-285750">
              <a:buFont typeface="Arial"/>
              <a:buChar char="•"/>
            </a:pPr>
            <a:r>
              <a:rPr lang="en-US">
                <a:solidFill>
                  <a:srgbClr val="FF0000"/>
                </a:solidFill>
                <a:latin typeface="Aptos"/>
              </a:rPr>
              <a:t>A single data point is </a:t>
            </a:r>
            <a:r>
              <a:rPr lang="en-US" b="1">
                <a:solidFill>
                  <a:srgbClr val="FF0000"/>
                </a:solidFill>
                <a:latin typeface="Aptos"/>
              </a:rPr>
              <a:t>insufficient</a:t>
            </a:r>
            <a:r>
              <a:rPr lang="en-US">
                <a:solidFill>
                  <a:srgbClr val="FF0000"/>
                </a:solidFill>
                <a:latin typeface="Aptos"/>
              </a:rPr>
              <a:t> to establish a systematic, repeatable emissions benefit for the counter-swirl configuration.</a:t>
            </a:r>
          </a:p>
        </p:txBody>
      </p:sp>
      <p:sp>
        <p:nvSpPr>
          <p:cNvPr id="7" name="TextBox 6">
            <a:extLst>
              <a:ext uri="{FF2B5EF4-FFF2-40B4-BE49-F238E27FC236}">
                <a16:creationId xmlns:a16="http://schemas.microsoft.com/office/drawing/2014/main" id="{5C7F939F-2C36-6B0A-E14A-F4EA865AB462}"/>
              </a:ext>
            </a:extLst>
          </p:cNvPr>
          <p:cNvSpPr txBox="1"/>
          <p:nvPr/>
        </p:nvSpPr>
        <p:spPr>
          <a:xfrm>
            <a:off x="224693" y="1357923"/>
            <a:ext cx="5871308"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The Flashback Limitation:</a:t>
            </a:r>
            <a:r>
              <a:rPr lang="en-US" sz="2400" dirty="0"/>
              <a:t> Because severe flashback prevented data acquisition over the rest of the premixed operating range for </a:t>
            </a:r>
            <a:r>
              <a:rPr lang="en-US" sz="2400"/>
              <a:t>Counter-Swirl</a:t>
            </a:r>
            <a:r>
              <a:rPr lang="en-US" sz="2400" dirty="0"/>
              <a:t>:</a:t>
            </a:r>
          </a:p>
          <a:p>
            <a:endParaRPr lang="en-US" sz="2400" dirty="0">
              <a:solidFill>
                <a:srgbClr val="000000"/>
              </a:solidFill>
            </a:endParaRPr>
          </a:p>
          <a:p>
            <a:pPr marL="285750" indent="-285750">
              <a:buFont typeface="Arial"/>
              <a:buChar char="•"/>
            </a:pPr>
            <a:r>
              <a:rPr lang="en-US" sz="2400" dirty="0">
                <a:solidFill>
                  <a:srgbClr val="0070C0"/>
                </a:solidFill>
              </a:rPr>
              <a:t> The </a:t>
            </a:r>
            <a:r>
              <a:rPr lang="en-US" sz="2400" dirty="0" err="1">
                <a:solidFill>
                  <a:srgbClr val="0070C0"/>
                </a:solidFill>
              </a:rPr>
              <a:t>EINOx</a:t>
            </a:r>
            <a:r>
              <a:rPr lang="en-US" sz="2400" dirty="0">
                <a:solidFill>
                  <a:srgbClr val="0070C0"/>
                </a:solidFill>
              </a:rPr>
              <a:t> dataset is heavily restricted.</a:t>
            </a:r>
          </a:p>
          <a:p>
            <a:endParaRPr lang="en-US" sz="2400" dirty="0">
              <a:solidFill>
                <a:srgbClr val="0070C0"/>
              </a:solidFill>
            </a:endParaRPr>
          </a:p>
          <a:p>
            <a:pPr marL="285750" indent="-285750">
              <a:buFont typeface="Arial"/>
              <a:buChar char="•"/>
            </a:pPr>
            <a:r>
              <a:rPr lang="en-US" sz="2400">
                <a:solidFill>
                  <a:srgbClr val="0070C0"/>
                </a:solidFill>
              </a:rPr>
              <a:t> Cannot evaluate Aerodynamic effect of swirl reversal completely.</a:t>
            </a:r>
            <a:endParaRPr lang="en-US" sz="2400" dirty="0">
              <a:solidFill>
                <a:srgbClr val="0070C0"/>
              </a:solidFill>
            </a:endParaRPr>
          </a:p>
        </p:txBody>
      </p:sp>
    </p:spTree>
    <p:extLst>
      <p:ext uri="{BB962C8B-B14F-4D97-AF65-F5344CB8AC3E}">
        <p14:creationId xmlns:p14="http://schemas.microsoft.com/office/powerpoint/2010/main" val="4000903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CB505-3261-CC4D-3344-4D4C2138C4A0}"/>
              </a:ext>
            </a:extLst>
          </p:cNvPr>
          <p:cNvSpPr>
            <a:spLocks noGrp="1"/>
          </p:cNvSpPr>
          <p:nvPr>
            <p:ph type="title"/>
          </p:nvPr>
        </p:nvSpPr>
        <p:spPr/>
        <p:txBody>
          <a:bodyPr/>
          <a:lstStyle/>
          <a:p>
            <a:r>
              <a:rPr lang="en-GB">
                <a:ea typeface="+mj-lt"/>
                <a:cs typeface="+mj-lt"/>
              </a:rPr>
              <a:t>Conclusions and Future Work</a:t>
            </a:r>
            <a:endParaRPr lang="en-US"/>
          </a:p>
        </p:txBody>
      </p:sp>
      <p:sp>
        <p:nvSpPr>
          <p:cNvPr id="3" name="TextBox 2">
            <a:extLst>
              <a:ext uri="{FF2B5EF4-FFF2-40B4-BE49-F238E27FC236}">
                <a16:creationId xmlns:a16="http://schemas.microsoft.com/office/drawing/2014/main" id="{9CA75AD6-F3A0-1B27-151E-C3F02F4699DE}"/>
              </a:ext>
            </a:extLst>
          </p:cNvPr>
          <p:cNvSpPr txBox="1"/>
          <p:nvPr/>
        </p:nvSpPr>
        <p:spPr>
          <a:xfrm>
            <a:off x="2" y="980994"/>
            <a:ext cx="12195255"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a:solidFill>
                  <a:srgbClr val="FF0000"/>
                </a:solidFill>
                <a:ea typeface="+mn-lt"/>
                <a:cs typeface="+mn-lt"/>
              </a:rPr>
              <a:t>Conclusions:</a:t>
            </a:r>
            <a:endParaRPr lang="en-GB" sz="2400" b="1" dirty="0">
              <a:solidFill>
                <a:srgbClr val="FF0000"/>
              </a:solidFill>
              <a:ea typeface="+mn-lt"/>
              <a:cs typeface="+mn-lt"/>
            </a:endParaRPr>
          </a:p>
          <a:p>
            <a:pPr algn="ctr"/>
            <a:endParaRPr lang="en-GB" sz="2400" b="1" dirty="0">
              <a:solidFill>
                <a:srgbClr val="FF0000"/>
              </a:solidFill>
              <a:ea typeface="+mn-lt"/>
              <a:cs typeface="+mn-lt"/>
            </a:endParaRPr>
          </a:p>
          <a:p>
            <a:pPr marL="285750" indent="-285750" algn="ctr">
              <a:buFont typeface="Wingdings"/>
              <a:buChar char="Ø"/>
            </a:pPr>
            <a:r>
              <a:rPr lang="en-GB" sz="2000" b="1">
                <a:solidFill>
                  <a:srgbClr val="FF0000"/>
                </a:solidFill>
                <a:ea typeface="+mn-lt"/>
                <a:cs typeface="+mn-lt"/>
              </a:rPr>
              <a:t>Aerodynamics:</a:t>
            </a:r>
            <a:r>
              <a:rPr lang="en-GB" sz="2000">
                <a:solidFill>
                  <a:srgbClr val="000000"/>
                </a:solidFill>
                <a:ea typeface="+mn-lt"/>
                <a:cs typeface="+mn-lt"/>
              </a:rPr>
              <a:t> Reversing the inner swirl restricts radial dispersion and weakens the CRZ.</a:t>
            </a:r>
            <a:endParaRPr lang="en-GB" sz="2000">
              <a:solidFill>
                <a:srgbClr val="FF0000"/>
              </a:solidFill>
              <a:ea typeface="+mn-lt"/>
              <a:cs typeface="+mn-lt"/>
            </a:endParaRPr>
          </a:p>
          <a:p>
            <a:pPr marL="285750" indent="-285750" algn="ctr">
              <a:buFont typeface="Wingdings"/>
              <a:buChar char="Ø"/>
            </a:pPr>
            <a:endParaRPr lang="en-GB" sz="2000" dirty="0">
              <a:solidFill>
                <a:srgbClr val="000000"/>
              </a:solidFill>
              <a:ea typeface="+mn-lt"/>
              <a:cs typeface="+mn-lt"/>
            </a:endParaRPr>
          </a:p>
          <a:p>
            <a:pPr marL="285750" indent="-285750" algn="ctr">
              <a:buFont typeface="Wingdings"/>
              <a:buChar char="Ø"/>
            </a:pPr>
            <a:r>
              <a:rPr lang="en-GB" sz="2000" b="1" dirty="0">
                <a:solidFill>
                  <a:srgbClr val="FF0000"/>
                </a:solidFill>
                <a:ea typeface="+mn-lt"/>
                <a:cs typeface="+mn-lt"/>
              </a:rPr>
              <a:t>Stability:</a:t>
            </a:r>
            <a:r>
              <a:rPr lang="en-GB" sz="2000">
                <a:solidFill>
                  <a:srgbClr val="000000"/>
                </a:solidFill>
                <a:ea typeface="+mn-lt"/>
                <a:cs typeface="+mn-lt"/>
              </a:rPr>
              <a:t> This weakened aerodynamics results in a stability penalty, making the counter-swirler highly </a:t>
            </a:r>
            <a:r>
              <a:rPr lang="en-GB" sz="2000" dirty="0">
                <a:solidFill>
                  <a:srgbClr val="000000"/>
                </a:solidFill>
                <a:ea typeface="+mn-lt"/>
                <a:cs typeface="+mn-lt"/>
              </a:rPr>
              <a:t>vulnerable to flashback under 100% H₂ premixed </a:t>
            </a:r>
            <a:r>
              <a:rPr lang="en-GB" sz="2000">
                <a:solidFill>
                  <a:srgbClr val="000000"/>
                </a:solidFill>
                <a:ea typeface="+mn-lt"/>
                <a:cs typeface="+mn-lt"/>
              </a:rPr>
              <a:t>operation.</a:t>
            </a:r>
            <a:endParaRPr lang="en-GB" sz="2000"/>
          </a:p>
          <a:p>
            <a:pPr marL="285750" indent="-285750" algn="ctr">
              <a:buFont typeface="Wingdings"/>
              <a:buChar char="Ø"/>
            </a:pPr>
            <a:endParaRPr lang="en-GB" sz="2000" dirty="0">
              <a:solidFill>
                <a:srgbClr val="000000"/>
              </a:solidFill>
              <a:ea typeface="+mn-lt"/>
              <a:cs typeface="+mn-lt"/>
            </a:endParaRPr>
          </a:p>
          <a:p>
            <a:pPr marL="285750" indent="-285750" algn="ctr">
              <a:buFont typeface="Wingdings"/>
              <a:buChar char="Ø"/>
            </a:pPr>
            <a:r>
              <a:rPr lang="en-GB" sz="2000" b="1">
                <a:solidFill>
                  <a:srgbClr val="FF0000"/>
                </a:solidFill>
                <a:ea typeface="+mn-lt"/>
                <a:cs typeface="+mn-lt"/>
              </a:rPr>
              <a:t>Emissions:</a:t>
            </a:r>
            <a:r>
              <a:rPr lang="en-GB" sz="2000">
                <a:solidFill>
                  <a:srgbClr val="000000"/>
                </a:solidFill>
                <a:ea typeface="+mn-lt"/>
                <a:cs typeface="+mn-lt"/>
              </a:rPr>
              <a:t> Flashback limits preclude the confirmation of any systematic NOx benefit. </a:t>
            </a:r>
            <a:endParaRPr lang="en-GB" sz="2000"/>
          </a:p>
        </p:txBody>
      </p:sp>
      <p:sp>
        <p:nvSpPr>
          <p:cNvPr id="6" name="TextBox 5">
            <a:extLst>
              <a:ext uri="{FF2B5EF4-FFF2-40B4-BE49-F238E27FC236}">
                <a16:creationId xmlns:a16="http://schemas.microsoft.com/office/drawing/2014/main" id="{56A34CA9-1A29-5FED-6F54-C12EB1B74BF4}"/>
              </a:ext>
            </a:extLst>
          </p:cNvPr>
          <p:cNvSpPr txBox="1"/>
          <p:nvPr/>
        </p:nvSpPr>
        <p:spPr>
          <a:xfrm>
            <a:off x="2" y="3839308"/>
            <a:ext cx="12191997" cy="23442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2175"/>
              </a:lnSpc>
            </a:pPr>
            <a:r>
              <a:rPr lang="en-US" sz="2000" b="1">
                <a:solidFill>
                  <a:srgbClr val="0070C0"/>
                </a:solidFill>
                <a:latin typeface="Aptos"/>
                <a:ea typeface="Arial"/>
                <a:cs typeface="Arial"/>
              </a:rPr>
              <a:t>                     </a:t>
            </a:r>
            <a:r>
              <a:rPr lang="en-US" sz="2400" b="1" i="0" u="none" strike="noStrike" baseline="0">
                <a:solidFill>
                  <a:srgbClr val="0070C0"/>
                </a:solidFill>
                <a:latin typeface="Aptos"/>
                <a:ea typeface="Arial"/>
                <a:cs typeface="Arial"/>
              </a:rPr>
              <a:t>Future Work:</a:t>
            </a:r>
            <a:r>
              <a:rPr lang="en-US" sz="2400" b="0" i="0" dirty="0">
                <a:solidFill>
                  <a:srgbClr val="000000"/>
                </a:solidFill>
                <a:latin typeface="Aptos"/>
                <a:ea typeface="Arial"/>
                <a:cs typeface="Arial"/>
              </a:rPr>
              <a:t>​</a:t>
            </a:r>
          </a:p>
          <a:p>
            <a:pPr algn="l" rtl="0">
              <a:lnSpc>
                <a:spcPts val="2175"/>
              </a:lnSpc>
            </a:pPr>
            <a:r>
              <a:rPr lang="en-US" sz="2000" b="0" i="0">
                <a:solidFill>
                  <a:srgbClr val="000000"/>
                </a:solidFill>
                <a:latin typeface="Aptos"/>
                <a:ea typeface="Arial"/>
                <a:cs typeface="Arial"/>
              </a:rPr>
              <a:t>​</a:t>
            </a:r>
          </a:p>
          <a:p>
            <a:pPr marL="342900" lvl="0" indent="-342900" algn="l" rtl="0">
              <a:lnSpc>
                <a:spcPts val="2175"/>
              </a:lnSpc>
              <a:buFont typeface="Wingdings,sans-serif"/>
              <a:buChar char="v"/>
            </a:pPr>
            <a:r>
              <a:rPr lang="en-US" sz="2000" b="1" i="0" u="none" strike="noStrike" baseline="0" dirty="0">
                <a:solidFill>
                  <a:srgbClr val="0070C0"/>
                </a:solidFill>
                <a:latin typeface="Aptos"/>
                <a:ea typeface="Arial"/>
                <a:cs typeface="Arial"/>
              </a:rPr>
              <a:t>Reacting LES &amp; Kinetics:</a:t>
            </a:r>
            <a:r>
              <a:rPr lang="en-US" sz="2000" b="0" i="0" u="none" strike="noStrike" baseline="0" dirty="0">
                <a:solidFill>
                  <a:srgbClr val="0070C0"/>
                </a:solidFill>
                <a:latin typeface="Aptos"/>
                <a:ea typeface="Arial"/>
                <a:cs typeface="Arial"/>
              </a:rPr>
              <a:t> </a:t>
            </a:r>
            <a:r>
              <a:rPr lang="en-US" sz="2000" b="0" i="0" u="none" strike="noStrike" baseline="0" dirty="0">
                <a:solidFill>
                  <a:srgbClr val="000000"/>
                </a:solidFill>
                <a:latin typeface="Aptos"/>
                <a:ea typeface="Arial"/>
                <a:cs typeface="Arial"/>
              </a:rPr>
              <a:t>Transition to reacting LES coupled with detailed kinetic mechanisms (</a:t>
            </a:r>
            <a:r>
              <a:rPr lang="en-US" sz="2000" b="0" i="0" u="none" strike="noStrike" baseline="0" dirty="0" err="1">
                <a:solidFill>
                  <a:srgbClr val="000000"/>
                </a:solidFill>
                <a:latin typeface="Aptos"/>
                <a:ea typeface="Arial"/>
                <a:cs typeface="Arial"/>
              </a:rPr>
              <a:t>Chemkin</a:t>
            </a:r>
            <a:r>
              <a:rPr lang="en-US" sz="2000" b="0" i="0" u="none" strike="noStrike" baseline="0" dirty="0">
                <a:solidFill>
                  <a:srgbClr val="000000"/>
                </a:solidFill>
                <a:latin typeface="Aptos"/>
                <a:ea typeface="Arial"/>
                <a:cs typeface="Arial"/>
              </a:rPr>
              <a:t>) to study thermal expansion effects on CRZ stability and NOx pathways.</a:t>
            </a:r>
            <a:r>
              <a:rPr lang="en-US" sz="2000" b="0" i="0" dirty="0">
                <a:solidFill>
                  <a:srgbClr val="000000"/>
                </a:solidFill>
                <a:latin typeface="Aptos"/>
                <a:ea typeface="Arial"/>
                <a:cs typeface="Arial"/>
              </a:rPr>
              <a:t>​</a:t>
            </a:r>
          </a:p>
          <a:p>
            <a:pPr>
              <a:lnSpc>
                <a:spcPts val="2175"/>
              </a:lnSpc>
            </a:pPr>
            <a:endParaRPr lang="en-US" sz="2000" dirty="0">
              <a:solidFill>
                <a:srgbClr val="000000"/>
              </a:solidFill>
              <a:latin typeface="Aptos"/>
              <a:ea typeface="Arial"/>
              <a:cs typeface="Arial"/>
            </a:endParaRPr>
          </a:p>
          <a:p>
            <a:pPr marL="342900" lvl="0" indent="-342900" algn="l" rtl="0">
              <a:lnSpc>
                <a:spcPts val="2175"/>
              </a:lnSpc>
              <a:buFont typeface="Wingdings,sans-serif"/>
              <a:buChar char="v"/>
            </a:pPr>
            <a:r>
              <a:rPr lang="en-US" sz="2000" b="1" i="0" u="none" strike="noStrike" baseline="0">
                <a:solidFill>
                  <a:srgbClr val="0070C0"/>
                </a:solidFill>
                <a:latin typeface="Aptos"/>
                <a:ea typeface="Arial"/>
                <a:cs typeface="Arial"/>
              </a:rPr>
              <a:t>Physics-Informed AI (PINNs):</a:t>
            </a:r>
            <a:r>
              <a:rPr lang="en-US" sz="2000" b="0" i="0" u="none" strike="noStrike" baseline="0" dirty="0">
                <a:solidFill>
                  <a:srgbClr val="0070C0"/>
                </a:solidFill>
                <a:latin typeface="Aptos"/>
                <a:ea typeface="Arial"/>
                <a:cs typeface="Arial"/>
              </a:rPr>
              <a:t> </a:t>
            </a:r>
            <a:r>
              <a:rPr lang="en-US" sz="2000" b="0" i="0" u="none" strike="noStrike" baseline="0">
                <a:solidFill>
                  <a:srgbClr val="000000"/>
                </a:solidFill>
                <a:latin typeface="Aptos"/>
                <a:ea typeface="Arial"/>
                <a:cs typeface="Arial"/>
              </a:rPr>
              <a:t>Leverage validated PIV and CFD datasets to train PINNs for inferring unmeasured flow fields, specifically 3D pressure distribution and core recirculation dynamics.</a:t>
            </a:r>
            <a:r>
              <a:rPr lang="en-US" sz="2000" b="0" i="0">
                <a:solidFill>
                  <a:srgbClr val="000000"/>
                </a:solidFill>
                <a:latin typeface="Aptos"/>
                <a:ea typeface="Arial"/>
                <a:cs typeface="Arial"/>
              </a:rPr>
              <a:t>​</a:t>
            </a:r>
          </a:p>
          <a:p>
            <a:pPr algn="ctr"/>
            <a:endParaRPr lang="en-GB"/>
          </a:p>
        </p:txBody>
      </p:sp>
    </p:spTree>
    <p:extLst>
      <p:ext uri="{BB962C8B-B14F-4D97-AF65-F5344CB8AC3E}">
        <p14:creationId xmlns:p14="http://schemas.microsoft.com/office/powerpoint/2010/main" val="3330303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A6EFD-8D9B-CF8C-EBD0-1054B73774C8}"/>
              </a:ext>
            </a:extLst>
          </p:cNvPr>
          <p:cNvSpPr>
            <a:spLocks noGrp="1"/>
          </p:cNvSpPr>
          <p:nvPr>
            <p:ph type="title"/>
          </p:nvPr>
        </p:nvSpPr>
        <p:spPr/>
        <p:txBody>
          <a:bodyPr/>
          <a:lstStyle/>
          <a:p>
            <a:r>
              <a:rPr lang="en-GB"/>
              <a:t>Closing</a:t>
            </a:r>
          </a:p>
        </p:txBody>
      </p:sp>
      <p:sp>
        <p:nvSpPr>
          <p:cNvPr id="3" name="TextBox 2">
            <a:extLst>
              <a:ext uri="{FF2B5EF4-FFF2-40B4-BE49-F238E27FC236}">
                <a16:creationId xmlns:a16="http://schemas.microsoft.com/office/drawing/2014/main" id="{EF2D6B6F-C339-C729-B3D1-6E3BC3F34E60}"/>
              </a:ext>
            </a:extLst>
          </p:cNvPr>
          <p:cNvSpPr txBox="1"/>
          <p:nvPr/>
        </p:nvSpPr>
        <p:spPr>
          <a:xfrm>
            <a:off x="3368757" y="2841218"/>
            <a:ext cx="545692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b="1" i="1"/>
              <a:t>Thank you for your Attention</a:t>
            </a:r>
          </a:p>
        </p:txBody>
      </p:sp>
    </p:spTree>
    <p:extLst>
      <p:ext uri="{BB962C8B-B14F-4D97-AF65-F5344CB8AC3E}">
        <p14:creationId xmlns:p14="http://schemas.microsoft.com/office/powerpoint/2010/main" val="1877208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E8B1D-72B4-0688-9D4C-4577FA4A128A}"/>
              </a:ext>
            </a:extLst>
          </p:cNvPr>
          <p:cNvSpPr>
            <a:spLocks noGrp="1"/>
          </p:cNvSpPr>
          <p:nvPr>
            <p:ph type="title"/>
          </p:nvPr>
        </p:nvSpPr>
        <p:spPr/>
        <p:txBody>
          <a:bodyPr/>
          <a:lstStyle/>
          <a:p>
            <a:r>
              <a:rPr lang="en-GB"/>
              <a:t>Appendix A.0 : Hydrogen Properties</a:t>
            </a:r>
          </a:p>
        </p:txBody>
      </p:sp>
      <p:pic>
        <p:nvPicPr>
          <p:cNvPr id="3" name="Picture 2" descr="Comprehensive experimental assessment of NOX emissions in swirling  diffusion flames of natural gas–hydrogen blends - ScienceDirect">
            <a:extLst>
              <a:ext uri="{FF2B5EF4-FFF2-40B4-BE49-F238E27FC236}">
                <a16:creationId xmlns:a16="http://schemas.microsoft.com/office/drawing/2014/main" id="{BB7EA541-8379-94DF-4855-B80BF04B49CF}"/>
              </a:ext>
            </a:extLst>
          </p:cNvPr>
          <p:cNvPicPr>
            <a:picLocks noChangeAspect="1"/>
          </p:cNvPicPr>
          <p:nvPr/>
        </p:nvPicPr>
        <p:blipFill>
          <a:blip r:embed="rId2"/>
          <a:stretch>
            <a:fillRect/>
          </a:stretch>
        </p:blipFill>
        <p:spPr>
          <a:xfrm>
            <a:off x="3500967" y="1149879"/>
            <a:ext cx="3041651" cy="2706159"/>
          </a:xfrm>
          <a:prstGeom prst="rect">
            <a:avLst/>
          </a:prstGeom>
        </p:spPr>
      </p:pic>
      <p:pic>
        <p:nvPicPr>
          <p:cNvPr id="4" name="Picture 3" descr="Line graph compares laminar burning velocity, \(S_{L,u}\) in cm/s, against equivalence ratio \(\phi\) for H₂ and CH₄ at 1 atm and 298 K. Black H₂ simulation and literature points rise to roughly 280–300 cm/s near \(\phi=1.5\)–1.8 before declining, while red CH₄ data remain below 40 cm/s and peak near \(\phi=1.1\).&#10;&#10;AI-generated content may be incorrect.">
            <a:extLst>
              <a:ext uri="{FF2B5EF4-FFF2-40B4-BE49-F238E27FC236}">
                <a16:creationId xmlns:a16="http://schemas.microsoft.com/office/drawing/2014/main" id="{A40B8C7A-04F9-950F-A1B1-B75E38CFD72A}"/>
              </a:ext>
            </a:extLst>
          </p:cNvPr>
          <p:cNvPicPr>
            <a:picLocks noChangeAspect="1"/>
          </p:cNvPicPr>
          <p:nvPr/>
        </p:nvPicPr>
        <p:blipFill>
          <a:blip r:embed="rId3"/>
          <a:stretch>
            <a:fillRect/>
          </a:stretch>
        </p:blipFill>
        <p:spPr>
          <a:xfrm>
            <a:off x="109538" y="1239308"/>
            <a:ext cx="3231093" cy="2696634"/>
          </a:xfrm>
          <a:prstGeom prst="rect">
            <a:avLst/>
          </a:prstGeom>
        </p:spPr>
      </p:pic>
      <p:pic>
        <p:nvPicPr>
          <p:cNvPr id="8" name="Picture 7" descr="A graph of different colored lines&#10;&#10;AI-generated content may be incorrect.">
            <a:extLst>
              <a:ext uri="{FF2B5EF4-FFF2-40B4-BE49-F238E27FC236}">
                <a16:creationId xmlns:a16="http://schemas.microsoft.com/office/drawing/2014/main" id="{D42F05AD-FF4A-F345-E988-998D4C4DEA44}"/>
              </a:ext>
            </a:extLst>
          </p:cNvPr>
          <p:cNvPicPr>
            <a:picLocks noChangeAspect="1"/>
          </p:cNvPicPr>
          <p:nvPr/>
        </p:nvPicPr>
        <p:blipFill>
          <a:blip r:embed="rId4"/>
          <a:stretch>
            <a:fillRect/>
          </a:stretch>
        </p:blipFill>
        <p:spPr>
          <a:xfrm>
            <a:off x="6825827" y="1153583"/>
            <a:ext cx="4007696" cy="2475230"/>
          </a:xfrm>
          <a:prstGeom prst="rect">
            <a:avLst/>
          </a:prstGeom>
        </p:spPr>
      </p:pic>
      <p:pic>
        <p:nvPicPr>
          <p:cNvPr id="9" name="Picture 8" descr="WHA's Hydrogen Fire Risk Management Philosophy | Hydrogen Fire Safety - WHA  International, Inc.">
            <a:extLst>
              <a:ext uri="{FF2B5EF4-FFF2-40B4-BE49-F238E27FC236}">
                <a16:creationId xmlns:a16="http://schemas.microsoft.com/office/drawing/2014/main" id="{93F61347-33FE-D2A3-1157-56B08F1A9D1E}"/>
              </a:ext>
            </a:extLst>
          </p:cNvPr>
          <p:cNvPicPr>
            <a:picLocks noChangeAspect="1"/>
          </p:cNvPicPr>
          <p:nvPr/>
        </p:nvPicPr>
        <p:blipFill>
          <a:blip r:embed="rId5"/>
          <a:stretch>
            <a:fillRect/>
          </a:stretch>
        </p:blipFill>
        <p:spPr>
          <a:xfrm>
            <a:off x="266700" y="3936472"/>
            <a:ext cx="3234267" cy="2244725"/>
          </a:xfrm>
          <a:prstGeom prst="rect">
            <a:avLst/>
          </a:prstGeom>
        </p:spPr>
      </p:pic>
      <p:pic>
        <p:nvPicPr>
          <p:cNvPr id="10" name="Picture 9">
            <a:extLst>
              <a:ext uri="{FF2B5EF4-FFF2-40B4-BE49-F238E27FC236}">
                <a16:creationId xmlns:a16="http://schemas.microsoft.com/office/drawing/2014/main" id="{ED4FEFBF-664B-65B7-942E-86A9F13D4188}"/>
              </a:ext>
            </a:extLst>
          </p:cNvPr>
          <p:cNvPicPr>
            <a:picLocks noChangeAspect="1"/>
          </p:cNvPicPr>
          <p:nvPr/>
        </p:nvPicPr>
        <p:blipFill>
          <a:blip r:embed="rId6"/>
          <a:stretch>
            <a:fillRect/>
          </a:stretch>
        </p:blipFill>
        <p:spPr>
          <a:xfrm>
            <a:off x="3506258" y="3895196"/>
            <a:ext cx="3528484" cy="2327276"/>
          </a:xfrm>
          <a:prstGeom prst="rect">
            <a:avLst/>
          </a:prstGeom>
        </p:spPr>
      </p:pic>
      <p:pic>
        <p:nvPicPr>
          <p:cNvPr id="6" name="Picture 5" descr="Adiabatic Flame Temperature - an overview | ScienceDirect Topics">
            <a:extLst>
              <a:ext uri="{FF2B5EF4-FFF2-40B4-BE49-F238E27FC236}">
                <a16:creationId xmlns:a16="http://schemas.microsoft.com/office/drawing/2014/main" id="{2A769F91-456E-0B3C-2473-8021B3D35D03}"/>
              </a:ext>
            </a:extLst>
          </p:cNvPr>
          <p:cNvPicPr>
            <a:picLocks noChangeAspect="1"/>
          </p:cNvPicPr>
          <p:nvPr/>
        </p:nvPicPr>
        <p:blipFill>
          <a:blip r:embed="rId7"/>
          <a:stretch>
            <a:fillRect/>
          </a:stretch>
        </p:blipFill>
        <p:spPr>
          <a:xfrm>
            <a:off x="7180910" y="3627733"/>
            <a:ext cx="2865366" cy="2477362"/>
          </a:xfrm>
          <a:prstGeom prst="rect">
            <a:avLst/>
          </a:prstGeom>
        </p:spPr>
      </p:pic>
      <p:sp>
        <p:nvSpPr>
          <p:cNvPr id="12" name="TextBox 11">
            <a:extLst>
              <a:ext uri="{FF2B5EF4-FFF2-40B4-BE49-F238E27FC236}">
                <a16:creationId xmlns:a16="http://schemas.microsoft.com/office/drawing/2014/main" id="{9A988178-6DD4-DDCD-C8B5-1E951244C87B}"/>
              </a:ext>
            </a:extLst>
          </p:cNvPr>
          <p:cNvSpPr txBox="1"/>
          <p:nvPr/>
        </p:nvSpPr>
        <p:spPr>
          <a:xfrm>
            <a:off x="10255250" y="4064000"/>
            <a:ext cx="1735667"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Picture [</a:t>
            </a:r>
            <a:r>
              <a:rPr lang="en-US" sz="1400" b="1"/>
              <a:t>Ref B</a:t>
            </a:r>
            <a:r>
              <a:rPr lang="en-US" sz="1400"/>
              <a:t>]: International</a:t>
            </a:r>
            <a:r>
              <a:rPr lang="en-US" sz="1400" dirty="0"/>
              <a:t> Energy Agency. (2021). </a:t>
            </a:r>
            <a:r>
              <a:rPr lang="en-US" sz="1400" b="0" i="1" u="none" strike="noStrike" dirty="0">
                <a:latin typeface="Google Sans"/>
                <a:ea typeface="Google Sans"/>
                <a:cs typeface="Google Sans"/>
              </a:rPr>
              <a:t>Net Zero by 2050: A roadmap for the global energy sector</a:t>
            </a:r>
            <a:r>
              <a:rPr lang="en-US" sz="1400" dirty="0"/>
              <a:t>. IEA. (chapter 3)</a:t>
            </a:r>
          </a:p>
        </p:txBody>
      </p:sp>
    </p:spTree>
    <p:extLst>
      <p:ext uri="{BB962C8B-B14F-4D97-AF65-F5344CB8AC3E}">
        <p14:creationId xmlns:p14="http://schemas.microsoft.com/office/powerpoint/2010/main" val="3349731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08152-43B5-2096-5F26-30A982538340}"/>
              </a:ext>
            </a:extLst>
          </p:cNvPr>
          <p:cNvSpPr>
            <a:spLocks noGrp="1"/>
          </p:cNvSpPr>
          <p:nvPr>
            <p:ph type="title"/>
          </p:nvPr>
        </p:nvSpPr>
        <p:spPr>
          <a:xfrm>
            <a:off x="105355" y="90617"/>
            <a:ext cx="10791854" cy="543697"/>
          </a:xfrm>
        </p:spPr>
        <p:txBody>
          <a:bodyPr>
            <a:normAutofit/>
          </a:bodyPr>
          <a:lstStyle/>
          <a:p>
            <a:r>
              <a:rPr lang="en-GB">
                <a:ea typeface="+mj-lt"/>
                <a:cs typeface="+mj-lt"/>
              </a:rPr>
              <a:t>Appendix A:  Detailed Numerical Methodology</a:t>
            </a:r>
            <a:endParaRPr lang="en-US"/>
          </a:p>
        </p:txBody>
      </p:sp>
      <p:sp>
        <p:nvSpPr>
          <p:cNvPr id="3" name="TextBox 2">
            <a:extLst>
              <a:ext uri="{FF2B5EF4-FFF2-40B4-BE49-F238E27FC236}">
                <a16:creationId xmlns:a16="http://schemas.microsoft.com/office/drawing/2014/main" id="{0F2C73D9-74FC-C82F-B434-D2C240A1DF86}"/>
              </a:ext>
            </a:extLst>
          </p:cNvPr>
          <p:cNvSpPr txBox="1"/>
          <p:nvPr/>
        </p:nvSpPr>
        <p:spPr>
          <a:xfrm>
            <a:off x="-4071" y="996464"/>
            <a:ext cx="716491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a:latin typeface="Aptos Display"/>
                <a:ea typeface="+mn-lt"/>
                <a:cs typeface="+mn-lt"/>
              </a:rPr>
              <a:t>Turbulence Modelling:</a:t>
            </a:r>
            <a:r>
              <a:rPr lang="en-GB" sz="1600">
                <a:latin typeface="Aptos Display"/>
                <a:ea typeface="+mn-lt"/>
                <a:cs typeface="+mn-lt"/>
              </a:rPr>
              <a:t> The </a:t>
            </a:r>
            <a:r>
              <a:rPr lang="en-GB" sz="1600" b="1" i="1">
                <a:latin typeface="Aptos Display"/>
                <a:ea typeface="+mn-lt"/>
                <a:cs typeface="+mn-lt"/>
              </a:rPr>
              <a:t>Shear-Stress Transport (SST) k-</a:t>
            </a:r>
            <a:r>
              <a:rPr lang="en-US" sz="1600" b="1" i="1">
                <a:latin typeface="Aptos Display"/>
                <a:ea typeface="+mn-lt"/>
                <a:cs typeface="+mn-lt"/>
              </a:rPr>
              <a:t>ω</a:t>
            </a:r>
            <a:r>
              <a:rPr lang="en-GB" sz="1600" b="1" i="1">
                <a:latin typeface="Aptos Display"/>
                <a:ea typeface="+mn-lt"/>
                <a:cs typeface="+mn-lt"/>
              </a:rPr>
              <a:t> model</a:t>
            </a:r>
            <a:r>
              <a:rPr lang="en-GB" sz="1600">
                <a:latin typeface="Aptos Display"/>
                <a:ea typeface="+mn-lt"/>
                <a:cs typeface="+mn-lt"/>
              </a:rPr>
              <a:t> was employed to bridge near-wall accuracy with free-stream stability. To capture the highly anisotropic dynamics of the double-swirl burner</a:t>
            </a:r>
            <a:endParaRPr lang="en-US" sz="1600">
              <a:latin typeface="Aptos"/>
            </a:endParaRPr>
          </a:p>
        </p:txBody>
      </p:sp>
      <p:pic>
        <p:nvPicPr>
          <p:cNvPr id="4" name="Picture 3" descr="Ansys Fluent Expert Review, Pricing and Alternatives 2025 | WorQuick">
            <a:extLst>
              <a:ext uri="{FF2B5EF4-FFF2-40B4-BE49-F238E27FC236}">
                <a16:creationId xmlns:a16="http://schemas.microsoft.com/office/drawing/2014/main" id="{C8EDF0B2-1AB6-D962-4A4E-B4C9B57CD3A2}"/>
              </a:ext>
            </a:extLst>
          </p:cNvPr>
          <p:cNvPicPr>
            <a:picLocks noChangeAspect="1"/>
          </p:cNvPicPr>
          <p:nvPr/>
        </p:nvPicPr>
        <p:blipFill>
          <a:blip r:embed="rId2"/>
          <a:stretch>
            <a:fillRect/>
          </a:stretch>
        </p:blipFill>
        <p:spPr>
          <a:xfrm>
            <a:off x="3956792" y="1927437"/>
            <a:ext cx="3205693" cy="2595032"/>
          </a:xfrm>
          <a:prstGeom prst="rect">
            <a:avLst/>
          </a:prstGeom>
        </p:spPr>
      </p:pic>
      <p:sp>
        <p:nvSpPr>
          <p:cNvPr id="7" name="Rectangle: Rounded Corners 6">
            <a:extLst>
              <a:ext uri="{FF2B5EF4-FFF2-40B4-BE49-F238E27FC236}">
                <a16:creationId xmlns:a16="http://schemas.microsoft.com/office/drawing/2014/main" id="{0648C819-3353-BFFB-CA32-C019E8F07CEB}"/>
              </a:ext>
            </a:extLst>
          </p:cNvPr>
          <p:cNvSpPr/>
          <p:nvPr/>
        </p:nvSpPr>
        <p:spPr>
          <a:xfrm>
            <a:off x="103145" y="3863974"/>
            <a:ext cx="3762375" cy="89746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b="1">
                <a:solidFill>
                  <a:schemeClr val="accent1"/>
                </a:solidFill>
                <a:latin typeface="Aptos Display"/>
              </a:rPr>
              <a:t>Corner Flow Correction:</a:t>
            </a:r>
            <a:r>
              <a:rPr lang="en-GB" sz="1400">
                <a:solidFill>
                  <a:srgbClr val="000000"/>
                </a:solidFill>
                <a:latin typeface="Aptos Display"/>
              </a:rPr>
              <a:t> Dynamically modifies turbulent viscosity to preserve swirling streamlines and prevent over-predicting corner separation.</a:t>
            </a:r>
            <a:endParaRPr lang="en-US" sz="1400"/>
          </a:p>
        </p:txBody>
      </p:sp>
      <p:sp>
        <p:nvSpPr>
          <p:cNvPr id="11" name="Rectangle: Rounded Corners 10">
            <a:extLst>
              <a:ext uri="{FF2B5EF4-FFF2-40B4-BE49-F238E27FC236}">
                <a16:creationId xmlns:a16="http://schemas.microsoft.com/office/drawing/2014/main" id="{F574A71C-BBEC-18C5-396D-1C54C5AC03A1}"/>
              </a:ext>
            </a:extLst>
          </p:cNvPr>
          <p:cNvSpPr/>
          <p:nvPr/>
        </p:nvSpPr>
        <p:spPr>
          <a:xfrm>
            <a:off x="4456640" y="3521075"/>
            <a:ext cx="2486025" cy="14287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800" b="1" i="1" u="none" strike="noStrike" baseline="0">
                <a:solidFill>
                  <a:schemeClr val="bg1"/>
                </a:solidFill>
                <a:latin typeface="Aptos Display"/>
              </a:rPr>
              <a:t>URANS</a:t>
            </a:r>
            <a:endParaRPr lang="en-US">
              <a:solidFill>
                <a:schemeClr val="bg1"/>
              </a:solidFill>
            </a:endParaRPr>
          </a:p>
          <a:p>
            <a:pPr algn="ctr"/>
            <a:r>
              <a:rPr lang="en-GB" b="1" i="1">
                <a:solidFill>
                  <a:schemeClr val="bg1"/>
                </a:solidFill>
                <a:latin typeface="Aptos Display"/>
              </a:rPr>
              <a:t>3D isothermal</a:t>
            </a:r>
            <a:br>
              <a:rPr lang="en-GB" b="1" i="1">
                <a:solidFill>
                  <a:schemeClr val="bg1"/>
                </a:solidFill>
                <a:latin typeface="Aptos Display"/>
              </a:rPr>
            </a:br>
            <a:r>
              <a:rPr lang="en-GB" b="1" i="1">
                <a:solidFill>
                  <a:schemeClr val="bg1"/>
                </a:solidFill>
                <a:latin typeface="Aptos Display"/>
              </a:rPr>
              <a:t>(SST) k-</a:t>
            </a:r>
            <a:r>
              <a:rPr lang="en-US" b="1" i="1">
                <a:solidFill>
                  <a:schemeClr val="bg1"/>
                </a:solidFill>
                <a:latin typeface="Aptos Display"/>
              </a:rPr>
              <a:t>ω</a:t>
            </a:r>
            <a:r>
              <a:rPr lang="en-GB" b="1" i="1">
                <a:solidFill>
                  <a:schemeClr val="bg1"/>
                </a:solidFill>
                <a:latin typeface="Aptos Display"/>
              </a:rPr>
              <a:t> model</a:t>
            </a:r>
            <a:endParaRPr lang="en-GB">
              <a:solidFill>
                <a:schemeClr val="bg1"/>
              </a:solidFill>
            </a:endParaRPr>
          </a:p>
        </p:txBody>
      </p:sp>
      <p:sp>
        <p:nvSpPr>
          <p:cNvPr id="12" name="Arrow: Left 11">
            <a:extLst>
              <a:ext uri="{FF2B5EF4-FFF2-40B4-BE49-F238E27FC236}">
                <a16:creationId xmlns:a16="http://schemas.microsoft.com/office/drawing/2014/main" id="{63F70B9D-7AEC-3E7B-B419-971FD50207B7}"/>
              </a:ext>
            </a:extLst>
          </p:cNvPr>
          <p:cNvSpPr/>
          <p:nvPr/>
        </p:nvSpPr>
        <p:spPr>
          <a:xfrm rot="12480000">
            <a:off x="3968287" y="3275048"/>
            <a:ext cx="430742" cy="353484"/>
          </a:xfrm>
          <a:prstGeom prst="lef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Arrow: Right 12">
            <a:extLst>
              <a:ext uri="{FF2B5EF4-FFF2-40B4-BE49-F238E27FC236}">
                <a16:creationId xmlns:a16="http://schemas.microsoft.com/office/drawing/2014/main" id="{B7A4B4D3-193D-069B-D341-697DC5CC1F34}"/>
              </a:ext>
            </a:extLst>
          </p:cNvPr>
          <p:cNvSpPr/>
          <p:nvPr/>
        </p:nvSpPr>
        <p:spPr>
          <a:xfrm rot="-1800000">
            <a:off x="3952875" y="4970992"/>
            <a:ext cx="400049" cy="333374"/>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Down 13">
            <a:extLst>
              <a:ext uri="{FF2B5EF4-FFF2-40B4-BE49-F238E27FC236}">
                <a16:creationId xmlns:a16="http://schemas.microsoft.com/office/drawing/2014/main" id="{1BC74B51-0A7D-4A63-FBCA-38A0DFE31F55}"/>
              </a:ext>
            </a:extLst>
          </p:cNvPr>
          <p:cNvSpPr/>
          <p:nvPr/>
        </p:nvSpPr>
        <p:spPr>
          <a:xfrm rot="-5400000">
            <a:off x="3963946" y="4125221"/>
            <a:ext cx="380999" cy="400050"/>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3B387D64-CCAA-3270-B400-B6962E2BEEB6}"/>
              </a:ext>
            </a:extLst>
          </p:cNvPr>
          <p:cNvSpPr/>
          <p:nvPr/>
        </p:nvSpPr>
        <p:spPr>
          <a:xfrm>
            <a:off x="105831" y="2136351"/>
            <a:ext cx="3759199" cy="139213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400" b="1">
                <a:solidFill>
                  <a:schemeClr val="accent1"/>
                </a:solidFill>
                <a:latin typeface="Aptos Display"/>
              </a:rPr>
              <a:t>Kato-Launder Limiters:</a:t>
            </a:r>
            <a:r>
              <a:rPr lang="en-GB" sz="1400">
                <a:solidFill>
                  <a:schemeClr val="accent1"/>
                </a:solidFill>
                <a:latin typeface="Aptos Display"/>
              </a:rPr>
              <a:t> </a:t>
            </a:r>
            <a:r>
              <a:rPr lang="en-GB" sz="1400">
                <a:solidFill>
                  <a:srgbClr val="000000"/>
                </a:solidFill>
                <a:latin typeface="Aptos Display"/>
              </a:rPr>
              <a:t>Replaces strain with vorticity in the production term to suppress the unphysical generation of turbulent kinetic energy (TKE) near irrotational stagnation points.</a:t>
            </a:r>
            <a:endParaRPr lang="en-GB"/>
          </a:p>
        </p:txBody>
      </p:sp>
      <p:sp>
        <p:nvSpPr>
          <p:cNvPr id="15" name="Rectangle: Rounded Corners 14">
            <a:extLst>
              <a:ext uri="{FF2B5EF4-FFF2-40B4-BE49-F238E27FC236}">
                <a16:creationId xmlns:a16="http://schemas.microsoft.com/office/drawing/2014/main" id="{AD384932-C53A-D84C-41E5-A8E1E8E1304F}"/>
              </a:ext>
            </a:extLst>
          </p:cNvPr>
          <p:cNvSpPr/>
          <p:nvPr/>
        </p:nvSpPr>
        <p:spPr>
          <a:xfrm>
            <a:off x="136525" y="5133973"/>
            <a:ext cx="3762375" cy="89746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b="1" dirty="0">
                <a:solidFill>
                  <a:schemeClr val="accent1"/>
                </a:solidFill>
                <a:latin typeface="Aptos Display"/>
              </a:rPr>
              <a:t>Curvature Correction:</a:t>
            </a:r>
            <a:r>
              <a:rPr lang="en-GB" sz="1400" dirty="0">
                <a:solidFill>
                  <a:srgbClr val="000000"/>
                </a:solidFill>
                <a:latin typeface="Aptos Display"/>
              </a:rPr>
              <a:t> Sensitizes the turbulence production to rotation, preventing the artificial dampening of angular momentum critical for </a:t>
            </a:r>
            <a:r>
              <a:rPr lang="en-GB" sz="1400">
                <a:solidFill>
                  <a:srgbClr val="000000"/>
                </a:solidFill>
                <a:latin typeface="Aptos Display"/>
              </a:rPr>
              <a:t>the Central</a:t>
            </a:r>
            <a:r>
              <a:rPr lang="en-GB" sz="1400" dirty="0">
                <a:solidFill>
                  <a:srgbClr val="000000"/>
                </a:solidFill>
                <a:latin typeface="Aptos Display"/>
              </a:rPr>
              <a:t> Recirculation Zone (CRZ).</a:t>
            </a:r>
            <a:endParaRPr lang="en-US" sz="1400" dirty="0"/>
          </a:p>
        </p:txBody>
      </p:sp>
      <p:graphicFrame>
        <p:nvGraphicFramePr>
          <p:cNvPr id="10" name="Table 9">
            <a:extLst>
              <a:ext uri="{FF2B5EF4-FFF2-40B4-BE49-F238E27FC236}">
                <a16:creationId xmlns:a16="http://schemas.microsoft.com/office/drawing/2014/main" id="{5B0D7DF8-CD85-130E-456F-C84191340AF3}"/>
              </a:ext>
            </a:extLst>
          </p:cNvPr>
          <p:cNvGraphicFramePr>
            <a:graphicFrameLocks noGrp="1"/>
          </p:cNvGraphicFramePr>
          <p:nvPr>
            <p:extLst>
              <p:ext uri="{D42A27DB-BD31-4B8C-83A1-F6EECF244321}">
                <p14:modId xmlns:p14="http://schemas.microsoft.com/office/powerpoint/2010/main" val="3745463365"/>
              </p:ext>
            </p:extLst>
          </p:nvPr>
        </p:nvGraphicFramePr>
        <p:xfrm>
          <a:off x="7239000" y="992717"/>
          <a:ext cx="4624916" cy="5041784"/>
        </p:xfrm>
        <a:graphic>
          <a:graphicData uri="http://schemas.openxmlformats.org/drawingml/2006/table">
            <a:tbl>
              <a:tblPr firstRow="1" firstCol="1" bandRow="1">
                <a:tableStyleId>{5C22544A-7EE6-4342-B048-85BDC9FD1C3A}</a:tableStyleId>
              </a:tblPr>
              <a:tblGrid>
                <a:gridCol w="2312458">
                  <a:extLst>
                    <a:ext uri="{9D8B030D-6E8A-4147-A177-3AD203B41FA5}">
                      <a16:colId xmlns:a16="http://schemas.microsoft.com/office/drawing/2014/main" val="2594285298"/>
                    </a:ext>
                  </a:extLst>
                </a:gridCol>
                <a:gridCol w="2312458">
                  <a:extLst>
                    <a:ext uri="{9D8B030D-6E8A-4147-A177-3AD203B41FA5}">
                      <a16:colId xmlns:a16="http://schemas.microsoft.com/office/drawing/2014/main" val="2339159371"/>
                    </a:ext>
                  </a:extLst>
                </a:gridCol>
              </a:tblGrid>
              <a:tr h="317384">
                <a:tc>
                  <a:txBody>
                    <a:bodyPr/>
                    <a:lstStyle/>
                    <a:p>
                      <a:pPr>
                        <a:buNone/>
                      </a:pPr>
                      <a:r>
                        <a:rPr lang="en-GB" sz="1000" b="1" kern="0">
                          <a:solidFill>
                            <a:srgbClr val="FF0000"/>
                          </a:solidFill>
                          <a:effectLst/>
                          <a:latin typeface="Arial"/>
                        </a:rPr>
                        <a:t>Parameter</a:t>
                      </a:r>
                      <a:endParaRPr lang="en-GB" sz="1000">
                        <a:solidFill>
                          <a:srgbClr val="FF0000"/>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buNone/>
                      </a:pPr>
                      <a:r>
                        <a:rPr lang="en-GB" sz="1000" b="1" kern="0">
                          <a:solidFill>
                            <a:srgbClr val="FF0000"/>
                          </a:solidFill>
                          <a:effectLst/>
                          <a:latin typeface="Arial"/>
                          <a:ea typeface="Times New Roman" panose="02020603050405020304" pitchFamily="18" charset="0"/>
                        </a:rPr>
                        <a:t>Selected Setting in </a:t>
                      </a:r>
                      <a:r>
                        <a:rPr lang="en-GB" sz="1000" b="1" kern="0" dirty="0">
                          <a:solidFill>
                            <a:srgbClr val="FF0000"/>
                          </a:solidFill>
                          <a:effectLst/>
                          <a:latin typeface="Arial"/>
                          <a:ea typeface="Times New Roman" panose="02020603050405020304" pitchFamily="18" charset="0"/>
                        </a:rPr>
                        <a:t>Thesis</a:t>
                      </a:r>
                      <a:endParaRPr lang="en-GB" sz="1000">
                        <a:solidFill>
                          <a:srgbClr val="FF0000"/>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272558202"/>
                  </a:ext>
                </a:extLst>
              </a:tr>
              <a:tr h="0">
                <a:tc>
                  <a:txBody>
                    <a:bodyPr/>
                    <a:lstStyle/>
                    <a:p>
                      <a:pPr>
                        <a:buNone/>
                      </a:pPr>
                      <a:r>
                        <a:rPr lang="en-GB" sz="1000" b="1" kern="0">
                          <a:solidFill>
                            <a:schemeClr val="tx1"/>
                          </a:solidFill>
                          <a:effectLst/>
                          <a:latin typeface="Arial"/>
                          <a:ea typeface="Times New Roman" panose="02020603050405020304" pitchFamily="18" charset="0"/>
                        </a:rPr>
                        <a:t>Discretization Framework</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buNone/>
                      </a:pPr>
                      <a:r>
                        <a:rPr lang="en-GB" sz="1000" kern="0">
                          <a:solidFill>
                            <a:schemeClr val="tx1"/>
                          </a:solidFill>
                          <a:effectLst/>
                          <a:latin typeface="Arial"/>
                          <a:ea typeface="Times New Roman" panose="02020603050405020304" pitchFamily="18" charset="0"/>
                        </a:rPr>
                        <a:t>Finite Volume Method (FVM) </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944236963"/>
                  </a:ext>
                </a:extLst>
              </a:tr>
              <a:tr h="317384">
                <a:tc>
                  <a:txBody>
                    <a:bodyPr/>
                    <a:lstStyle/>
                    <a:p>
                      <a:pPr>
                        <a:buNone/>
                      </a:pPr>
                      <a:r>
                        <a:rPr lang="en-GB" sz="1000" b="1" kern="0">
                          <a:solidFill>
                            <a:schemeClr val="tx1"/>
                          </a:solidFill>
                          <a:effectLst/>
                          <a:latin typeface="Arial"/>
                          <a:ea typeface="Times New Roman" panose="02020603050405020304" pitchFamily="18" charset="0"/>
                        </a:rPr>
                        <a:t>Mesh Topology</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buNone/>
                      </a:pPr>
                      <a:r>
                        <a:rPr lang="en-GB" sz="1000" kern="0">
                          <a:solidFill>
                            <a:schemeClr val="tx1"/>
                          </a:solidFill>
                          <a:effectLst/>
                          <a:latin typeface="Arial"/>
                          <a:ea typeface="Times New Roman" panose="02020603050405020304" pitchFamily="18" charset="0"/>
                        </a:rPr>
                        <a:t>Polyhedral Mesh with Inflation Layers </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964174516"/>
                  </a:ext>
                </a:extLst>
              </a:tr>
              <a:tr h="0">
                <a:tc>
                  <a:txBody>
                    <a:bodyPr/>
                    <a:lstStyle/>
                    <a:p>
                      <a:pPr>
                        <a:buNone/>
                      </a:pPr>
                      <a:r>
                        <a:rPr lang="en-GB" sz="1000" b="1" kern="0">
                          <a:solidFill>
                            <a:schemeClr val="tx1"/>
                          </a:solidFill>
                          <a:effectLst/>
                          <a:latin typeface="Arial"/>
                          <a:ea typeface="Times New Roman" panose="02020603050405020304" pitchFamily="18" charset="0"/>
                        </a:rPr>
                        <a:t>Local Refinement Strategy</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buNone/>
                      </a:pPr>
                      <a:r>
                        <a:rPr lang="en-GB" sz="1000" kern="0">
                          <a:solidFill>
                            <a:schemeClr val="tx1"/>
                          </a:solidFill>
                          <a:effectLst/>
                          <a:latin typeface="Arial"/>
                          <a:ea typeface="Times New Roman" panose="02020603050405020304" pitchFamily="18" charset="0"/>
                        </a:rPr>
                        <a:t>Body of Influence (BOI) </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725157360"/>
                  </a:ext>
                </a:extLst>
              </a:tr>
              <a:tr h="317384">
                <a:tc>
                  <a:txBody>
                    <a:bodyPr/>
                    <a:lstStyle/>
                    <a:p>
                      <a:pPr>
                        <a:buNone/>
                      </a:pPr>
                      <a:r>
                        <a:rPr lang="en-GB" sz="1000" b="1" kern="0">
                          <a:solidFill>
                            <a:schemeClr val="tx1"/>
                          </a:solidFill>
                          <a:effectLst/>
                          <a:latin typeface="Arial"/>
                          <a:ea typeface="Times New Roman" panose="02020603050405020304" pitchFamily="18" charset="0"/>
                        </a:rPr>
                        <a:t>Turbulence Approach</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buNone/>
                      </a:pPr>
                      <a:r>
                        <a:rPr lang="en-GB" sz="1000" kern="0">
                          <a:solidFill>
                            <a:schemeClr val="tx1"/>
                          </a:solidFill>
                          <a:effectLst/>
                          <a:latin typeface="Arial"/>
                          <a:ea typeface="Times New Roman" panose="02020603050405020304" pitchFamily="18" charset="0"/>
                        </a:rPr>
                        <a:t>Unsteady Reynolds-Averaged Navier-Stokes (URANS) </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100998466"/>
                  </a:ext>
                </a:extLst>
              </a:tr>
              <a:tr h="324941">
                <a:tc>
                  <a:txBody>
                    <a:bodyPr/>
                    <a:lstStyle/>
                    <a:p>
                      <a:pPr>
                        <a:buNone/>
                      </a:pPr>
                      <a:r>
                        <a:rPr lang="en-GB" sz="1000" b="1" kern="0">
                          <a:solidFill>
                            <a:schemeClr val="tx1"/>
                          </a:solidFill>
                          <a:effectLst/>
                          <a:latin typeface="Arial"/>
                          <a:ea typeface="Times New Roman" panose="02020603050405020304" pitchFamily="18" charset="0"/>
                        </a:rPr>
                        <a:t>Turbulence Model</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buNone/>
                      </a:pPr>
                      <a:r>
                        <a:rPr lang="en-GB" sz="1000" kern="0">
                          <a:solidFill>
                            <a:schemeClr val="tx1"/>
                          </a:solidFill>
                          <a:effectLst/>
                          <a:latin typeface="Arial"/>
                          <a:ea typeface="Times New Roman" panose="02020603050405020304" pitchFamily="18" charset="0"/>
                        </a:rPr>
                        <a:t>Shear-Stress Transport (SST) </a:t>
                      </a:r>
                      <a:r>
                        <a:rPr lang="en-GB" sz="1000" i="1" kern="0">
                          <a:solidFill>
                            <a:schemeClr val="tx1"/>
                          </a:solidFill>
                          <a:effectLst/>
                          <a:latin typeface="Cambria Math"/>
                          <a:ea typeface="Times New Roman" panose="02020603050405020304" pitchFamily="18" charset="0"/>
                          <a:cs typeface="Arial"/>
                        </a:rPr>
                        <a:t>k-ω</a:t>
                      </a:r>
                      <a:r>
                        <a:rPr lang="en-GB" sz="1000" kern="0" dirty="0">
                          <a:solidFill>
                            <a:schemeClr val="tx1"/>
                          </a:solidFill>
                          <a:effectLst/>
                          <a:latin typeface="Arial"/>
                          <a:ea typeface="Times New Roman" panose="02020603050405020304" pitchFamily="18" charset="0"/>
                        </a:rPr>
                        <a:t> </a:t>
                      </a:r>
                      <a:r>
                        <a:rPr lang="en-GB" sz="1000" kern="0">
                          <a:solidFill>
                            <a:schemeClr val="tx1"/>
                          </a:solidFill>
                          <a:effectLst/>
                          <a:latin typeface="Arial"/>
                          <a:ea typeface="Times New Roman" panose="02020603050405020304" pitchFamily="18" charset="0"/>
                        </a:rPr>
                        <a:t>Model </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791523986"/>
                  </a:ext>
                </a:extLst>
              </a:tr>
              <a:tr h="324941">
                <a:tc>
                  <a:txBody>
                    <a:bodyPr/>
                    <a:lstStyle/>
                    <a:p>
                      <a:pPr>
                        <a:buNone/>
                      </a:pPr>
                      <a:r>
                        <a:rPr lang="en-GB" sz="1000" b="1" kern="0">
                          <a:solidFill>
                            <a:schemeClr val="tx1"/>
                          </a:solidFill>
                          <a:effectLst/>
                          <a:latin typeface="Arial"/>
                          <a:ea typeface="Times New Roman" panose="02020603050405020304" pitchFamily="18" charset="0"/>
                        </a:rPr>
                        <a:t>Near-Wall Treatment</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buNone/>
                      </a:pPr>
                      <a:r>
                        <a:rPr lang="en-GB" sz="1000" kern="0">
                          <a:solidFill>
                            <a:schemeClr val="tx1"/>
                          </a:solidFill>
                          <a:effectLst/>
                          <a:latin typeface="Arial"/>
                          <a:ea typeface="Times New Roman" panose="02020603050405020304" pitchFamily="18" charset="0"/>
                        </a:rPr>
                        <a:t>Kader Blending (Automatic Wall Treatment, </a:t>
                      </a:r>
                      <a:r>
                        <a:rPr lang="en-GB" sz="1000" i="1" kern="0">
                          <a:solidFill>
                            <a:schemeClr val="tx1"/>
                          </a:solidFill>
                          <a:effectLst/>
                          <a:latin typeface="Cambria Math"/>
                          <a:ea typeface="Times New Roman" panose="02020603050405020304" pitchFamily="18" charset="0"/>
                          <a:cs typeface="Arial"/>
                        </a:rPr>
                        <a:t>y+∼1</a:t>
                      </a:r>
                      <a:r>
                        <a:rPr lang="en-GB" sz="1000" kern="0">
                          <a:solidFill>
                            <a:schemeClr val="tx1"/>
                          </a:solidFill>
                          <a:effectLst/>
                          <a:latin typeface="Arial"/>
                          <a:ea typeface="Times New Roman" panose="02020603050405020304" pitchFamily="18" charset="0"/>
                        </a:rPr>
                        <a:t> to Buffer Region) </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655428006"/>
                  </a:ext>
                </a:extLst>
              </a:tr>
              <a:tr h="0">
                <a:tc>
                  <a:txBody>
                    <a:bodyPr/>
                    <a:lstStyle/>
                    <a:p>
                      <a:pPr>
                        <a:buNone/>
                      </a:pPr>
                      <a:r>
                        <a:rPr lang="en-GB" sz="1000" b="1" kern="0">
                          <a:solidFill>
                            <a:schemeClr val="tx1"/>
                          </a:solidFill>
                          <a:effectLst/>
                          <a:latin typeface="Arial"/>
                          <a:ea typeface="Times New Roman" panose="02020603050405020304" pitchFamily="18" charset="0"/>
                        </a:rPr>
                        <a:t>Swirl Correction</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buNone/>
                      </a:pPr>
                      <a:r>
                        <a:rPr lang="en-GB" sz="1000" kern="0">
                          <a:solidFill>
                            <a:schemeClr val="tx1"/>
                          </a:solidFill>
                          <a:effectLst/>
                          <a:latin typeface="Arial"/>
                          <a:ea typeface="Times New Roman" panose="02020603050405020304" pitchFamily="18" charset="0"/>
                        </a:rPr>
                        <a:t>Curvature Correction </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329885365"/>
                  </a:ext>
                </a:extLst>
              </a:tr>
              <a:tr h="0">
                <a:tc>
                  <a:txBody>
                    <a:bodyPr/>
                    <a:lstStyle/>
                    <a:p>
                      <a:pPr>
                        <a:buNone/>
                      </a:pPr>
                      <a:r>
                        <a:rPr lang="en-GB" sz="1000" b="1" kern="0">
                          <a:solidFill>
                            <a:schemeClr val="tx1"/>
                          </a:solidFill>
                          <a:effectLst/>
                          <a:latin typeface="Arial"/>
                          <a:ea typeface="Times New Roman" panose="02020603050405020304" pitchFamily="18" charset="0"/>
                        </a:rPr>
                        <a:t>Flow Correction</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buNone/>
                      </a:pPr>
                      <a:r>
                        <a:rPr lang="en-GB" sz="1000" kern="0">
                          <a:solidFill>
                            <a:schemeClr val="tx1"/>
                          </a:solidFill>
                          <a:effectLst/>
                          <a:latin typeface="Arial"/>
                          <a:ea typeface="Times New Roman" panose="02020603050405020304" pitchFamily="18" charset="0"/>
                        </a:rPr>
                        <a:t>Corner Flow Correction </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657619356"/>
                  </a:ext>
                </a:extLst>
              </a:tr>
              <a:tr h="0">
                <a:tc>
                  <a:txBody>
                    <a:bodyPr/>
                    <a:lstStyle/>
                    <a:p>
                      <a:pPr>
                        <a:buNone/>
                      </a:pPr>
                      <a:r>
                        <a:rPr lang="en-GB" sz="1000" b="1" kern="0">
                          <a:solidFill>
                            <a:schemeClr val="tx1"/>
                          </a:solidFill>
                          <a:effectLst/>
                          <a:latin typeface="Arial"/>
                          <a:ea typeface="Times New Roman" panose="02020603050405020304" pitchFamily="18" charset="0"/>
                        </a:rPr>
                        <a:t>Turbulence Production Limiter</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buNone/>
                      </a:pPr>
                      <a:r>
                        <a:rPr lang="en-GB" sz="1000" kern="0">
                          <a:solidFill>
                            <a:schemeClr val="tx1"/>
                          </a:solidFill>
                          <a:effectLst/>
                          <a:latin typeface="Arial"/>
                          <a:ea typeface="Times New Roman" panose="02020603050405020304" pitchFamily="18" charset="0"/>
                        </a:rPr>
                        <a:t>Kato-Launder Production Limiter </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061873587"/>
                  </a:ext>
                </a:extLst>
              </a:tr>
              <a:tr h="0">
                <a:tc>
                  <a:txBody>
                    <a:bodyPr/>
                    <a:lstStyle/>
                    <a:p>
                      <a:pPr>
                        <a:buNone/>
                      </a:pPr>
                      <a:r>
                        <a:rPr lang="en-GB" sz="1000" b="1" kern="0">
                          <a:solidFill>
                            <a:schemeClr val="tx1"/>
                          </a:solidFill>
                          <a:effectLst/>
                          <a:latin typeface="Arial"/>
                          <a:ea typeface="Times New Roman" panose="02020603050405020304" pitchFamily="18" charset="0"/>
                        </a:rPr>
                        <a:t>Pressure-Velocity Coupling</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buNone/>
                      </a:pPr>
                      <a:r>
                        <a:rPr lang="en-GB" sz="1000" kern="0">
                          <a:solidFill>
                            <a:schemeClr val="tx1"/>
                          </a:solidFill>
                          <a:effectLst/>
                          <a:latin typeface="Arial"/>
                          <a:ea typeface="Times New Roman" panose="02020603050405020304" pitchFamily="18" charset="0"/>
                        </a:rPr>
                        <a:t>Coupled Scheme </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399004025"/>
                  </a:ext>
                </a:extLst>
              </a:tr>
              <a:tr h="317384">
                <a:tc>
                  <a:txBody>
                    <a:bodyPr/>
                    <a:lstStyle/>
                    <a:p>
                      <a:pPr>
                        <a:buNone/>
                      </a:pPr>
                      <a:r>
                        <a:rPr lang="en-GB" sz="1000" b="1" kern="0">
                          <a:solidFill>
                            <a:schemeClr val="tx1"/>
                          </a:solidFill>
                          <a:effectLst/>
                          <a:latin typeface="Arial"/>
                          <a:ea typeface="Times New Roman" panose="02020603050405020304" pitchFamily="18" charset="0"/>
                        </a:rPr>
                        <a:t>Transient Formulation</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buNone/>
                      </a:pPr>
                      <a:r>
                        <a:rPr lang="en-GB" sz="1000" kern="0">
                          <a:solidFill>
                            <a:schemeClr val="tx1"/>
                          </a:solidFill>
                          <a:effectLst/>
                          <a:latin typeface="Arial"/>
                          <a:ea typeface="Times New Roman" panose="02020603050405020304" pitchFamily="18" charset="0"/>
                        </a:rPr>
                        <a:t>Bounded Second-Order Implicit Formulation </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25315606"/>
                  </a:ext>
                </a:extLst>
              </a:tr>
              <a:tr h="0">
                <a:tc>
                  <a:txBody>
                    <a:bodyPr/>
                    <a:lstStyle/>
                    <a:p>
                      <a:pPr>
                        <a:buNone/>
                      </a:pPr>
                      <a:r>
                        <a:rPr lang="en-GB" sz="1000" b="1" kern="0">
                          <a:solidFill>
                            <a:schemeClr val="tx1"/>
                          </a:solidFill>
                          <a:effectLst/>
                          <a:latin typeface="Arial"/>
                          <a:ea typeface="Times New Roman" panose="02020603050405020304" pitchFamily="18" charset="0"/>
                        </a:rPr>
                        <a:t>Spatial Discretization</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buNone/>
                      </a:pPr>
                      <a:r>
                        <a:rPr lang="en-GB" sz="1000" kern="0">
                          <a:solidFill>
                            <a:schemeClr val="tx1"/>
                          </a:solidFill>
                          <a:effectLst/>
                          <a:latin typeface="Arial"/>
                          <a:ea typeface="Times New Roman" panose="02020603050405020304" pitchFamily="18" charset="0"/>
                        </a:rPr>
                        <a:t>Second-Order Upwind Scheme</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904630023"/>
                  </a:ext>
                </a:extLst>
              </a:tr>
              <a:tr h="0">
                <a:tc>
                  <a:txBody>
                    <a:bodyPr/>
                    <a:lstStyle/>
                    <a:p>
                      <a:pPr>
                        <a:buNone/>
                      </a:pPr>
                      <a:r>
                        <a:rPr lang="en-GB" sz="1000" b="1" kern="0">
                          <a:solidFill>
                            <a:schemeClr val="tx1"/>
                          </a:solidFill>
                          <a:effectLst/>
                          <a:latin typeface="Arial"/>
                          <a:ea typeface="Times New Roman" panose="02020603050405020304" pitchFamily="18" charset="0"/>
                        </a:rPr>
                        <a:t>Gradient Evaluation</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tc>
                  <a:txBody>
                    <a:bodyPr/>
                    <a:lstStyle/>
                    <a:p>
                      <a:pPr>
                        <a:buNone/>
                      </a:pPr>
                      <a:r>
                        <a:rPr lang="en-GB" sz="1000" kern="0">
                          <a:solidFill>
                            <a:schemeClr val="tx1"/>
                          </a:solidFill>
                          <a:effectLst/>
                          <a:latin typeface="Arial"/>
                          <a:ea typeface="Times New Roman" panose="02020603050405020304" pitchFamily="18" charset="0"/>
                        </a:rPr>
                        <a:t>Least Squares Cell-Based Method</a:t>
                      </a:r>
                      <a:endParaRPr lang="en-GB" sz="1000">
                        <a:solidFill>
                          <a:schemeClr val="tx1"/>
                        </a:solidFill>
                        <a:effectLst/>
                        <a:latin typeface="Arial"/>
                      </a:endParaRPr>
                    </a:p>
                  </a:txBody>
                  <a:tcPr marL="114300" marR="114300" marT="76200" marB="76200" anchor="ctr">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505327840"/>
                  </a:ext>
                </a:extLst>
              </a:tr>
            </a:tbl>
          </a:graphicData>
        </a:graphic>
      </p:graphicFrame>
      <p:pic>
        <p:nvPicPr>
          <p:cNvPr id="16" name="Picture 15">
            <a:extLst>
              <a:ext uri="{FF2B5EF4-FFF2-40B4-BE49-F238E27FC236}">
                <a16:creationId xmlns:a16="http://schemas.microsoft.com/office/drawing/2014/main" id="{0E22D885-ECC3-A5C1-A08E-2FD7351C7DA8}"/>
              </a:ext>
            </a:extLst>
          </p:cNvPr>
          <p:cNvPicPr>
            <a:picLocks noChangeAspect="1"/>
          </p:cNvPicPr>
          <p:nvPr/>
        </p:nvPicPr>
        <p:blipFill>
          <a:blip r:embed="rId3"/>
          <a:stretch>
            <a:fillRect/>
          </a:stretch>
        </p:blipFill>
        <p:spPr>
          <a:xfrm>
            <a:off x="142875" y="142875"/>
            <a:ext cx="381000" cy="209550"/>
          </a:xfrm>
          <a:prstGeom prst="rect">
            <a:avLst/>
          </a:prstGeom>
        </p:spPr>
      </p:pic>
      <p:pic>
        <p:nvPicPr>
          <p:cNvPr id="17" name="Picture 16">
            <a:extLst>
              <a:ext uri="{FF2B5EF4-FFF2-40B4-BE49-F238E27FC236}">
                <a16:creationId xmlns:a16="http://schemas.microsoft.com/office/drawing/2014/main" id="{04AE41A7-BAF4-D2F0-4C2F-90A19952DBFF}"/>
              </a:ext>
            </a:extLst>
          </p:cNvPr>
          <p:cNvPicPr>
            <a:picLocks noChangeAspect="1"/>
          </p:cNvPicPr>
          <p:nvPr/>
        </p:nvPicPr>
        <p:blipFill>
          <a:blip r:embed="rId4"/>
          <a:stretch>
            <a:fillRect/>
          </a:stretch>
        </p:blipFill>
        <p:spPr>
          <a:xfrm>
            <a:off x="285750" y="285750"/>
            <a:ext cx="457200" cy="209550"/>
          </a:xfrm>
          <a:prstGeom prst="rect">
            <a:avLst/>
          </a:prstGeom>
        </p:spPr>
      </p:pic>
    </p:spTree>
    <p:extLst>
      <p:ext uri="{BB962C8B-B14F-4D97-AF65-F5344CB8AC3E}">
        <p14:creationId xmlns:p14="http://schemas.microsoft.com/office/powerpoint/2010/main" val="3853464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91414-5845-3657-F68D-899C39F7D18D}"/>
              </a:ext>
            </a:extLst>
          </p:cNvPr>
          <p:cNvSpPr>
            <a:spLocks noGrp="1"/>
          </p:cNvSpPr>
          <p:nvPr>
            <p:ph type="title"/>
          </p:nvPr>
        </p:nvSpPr>
        <p:spPr>
          <a:xfrm>
            <a:off x="144431" y="90617"/>
            <a:ext cx="8563656" cy="543697"/>
          </a:xfrm>
        </p:spPr>
        <p:txBody>
          <a:bodyPr>
            <a:normAutofit/>
          </a:bodyPr>
          <a:lstStyle/>
          <a:p>
            <a:r>
              <a:rPr lang="en-GB">
                <a:solidFill>
                  <a:srgbClr val="FFFFFF"/>
                </a:solidFill>
              </a:rPr>
              <a:t>Appendix A:  Detailed Numerical Methodology</a:t>
            </a:r>
            <a:endParaRPr lang="en-US"/>
          </a:p>
        </p:txBody>
      </p:sp>
      <p:graphicFrame>
        <p:nvGraphicFramePr>
          <p:cNvPr id="5" name="Table 4">
            <a:extLst>
              <a:ext uri="{FF2B5EF4-FFF2-40B4-BE49-F238E27FC236}">
                <a16:creationId xmlns:a16="http://schemas.microsoft.com/office/drawing/2014/main" id="{C22DFE66-B3E2-D47F-0E0C-7248EF5F4DC0}"/>
              </a:ext>
            </a:extLst>
          </p:cNvPr>
          <p:cNvGraphicFramePr>
            <a:graphicFrameLocks noGrp="1"/>
          </p:cNvGraphicFramePr>
          <p:nvPr/>
        </p:nvGraphicFramePr>
        <p:xfrm>
          <a:off x="146539" y="1092200"/>
          <a:ext cx="12009436" cy="2133600"/>
        </p:xfrm>
        <a:graphic>
          <a:graphicData uri="http://schemas.openxmlformats.org/drawingml/2006/table">
            <a:tbl>
              <a:tblPr bandRow="1">
                <a:tableStyleId>{5C22544A-7EE6-4342-B048-85BDC9FD1C3A}</a:tableStyleId>
              </a:tblPr>
              <a:tblGrid>
                <a:gridCol w="6004718">
                  <a:extLst>
                    <a:ext uri="{9D8B030D-6E8A-4147-A177-3AD203B41FA5}">
                      <a16:colId xmlns:a16="http://schemas.microsoft.com/office/drawing/2014/main" val="2666447914"/>
                    </a:ext>
                  </a:extLst>
                </a:gridCol>
                <a:gridCol w="6004718">
                  <a:extLst>
                    <a:ext uri="{9D8B030D-6E8A-4147-A177-3AD203B41FA5}">
                      <a16:colId xmlns:a16="http://schemas.microsoft.com/office/drawing/2014/main" val="241852973"/>
                    </a:ext>
                  </a:extLst>
                </a:gridCol>
              </a:tblGrid>
              <a:tr h="0">
                <a:tc>
                  <a:txBody>
                    <a:bodyPr/>
                    <a:lstStyle/>
                    <a:p>
                      <a:pPr marL="0" marR="0">
                        <a:spcAft>
                          <a:spcPts val="2400"/>
                        </a:spcAft>
                        <a:buNone/>
                      </a:pPr>
                      <a:r>
                        <a:rPr lang="en-GB" b="1">
                          <a:effectLst/>
                          <a:latin typeface="Aptos Display"/>
                        </a:rPr>
                        <a:t>Inlet Patch</a:t>
                      </a:r>
                      <a:endParaRPr lang="en-GB">
                        <a:effectLst/>
                        <a:latin typeface="Aptos Display"/>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b="1">
                          <a:effectLst/>
                          <a:latin typeface="Aptos Display"/>
                        </a:rPr>
                        <a:t>Computed Velocity</a:t>
                      </a:r>
                      <a:endParaRPr lang="en-GB">
                        <a:effectLst/>
                        <a:latin typeface="Aptos Display"/>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237910227"/>
                  </a:ext>
                </a:extLst>
              </a:tr>
              <a:tr h="0">
                <a:tc>
                  <a:txBody>
                    <a:bodyPr/>
                    <a:lstStyle/>
                    <a:p>
                      <a:pPr marL="0" marR="0">
                        <a:spcAft>
                          <a:spcPts val="2400"/>
                        </a:spcAft>
                        <a:buNone/>
                      </a:pPr>
                      <a:r>
                        <a:rPr lang="en-GB">
                          <a:effectLst/>
                          <a:latin typeface="Aptos Display"/>
                        </a:rPr>
                        <a:t>Secondary Axial Air</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a:effectLst/>
                          <a:latin typeface="Aptos Display"/>
                        </a:rPr>
                        <a:t>0.510 m/s </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903337780"/>
                  </a:ext>
                </a:extLst>
              </a:tr>
              <a:tr h="0">
                <a:tc>
                  <a:txBody>
                    <a:bodyPr/>
                    <a:lstStyle/>
                    <a:p>
                      <a:pPr marL="0" marR="0">
                        <a:spcAft>
                          <a:spcPts val="2400"/>
                        </a:spcAft>
                        <a:buNone/>
                      </a:pPr>
                      <a:r>
                        <a:rPr lang="en-GB">
                          <a:effectLst/>
                          <a:latin typeface="Aptos Display"/>
                        </a:rPr>
                        <a:t>Secondary Tangential Air</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a:effectLst/>
                          <a:latin typeface="Aptos Display"/>
                        </a:rPr>
                        <a:t>4.352 m/s </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209767307"/>
                  </a:ext>
                </a:extLst>
              </a:tr>
              <a:tr h="0">
                <a:tc>
                  <a:txBody>
                    <a:bodyPr/>
                    <a:lstStyle/>
                    <a:p>
                      <a:pPr marL="0" marR="0">
                        <a:spcAft>
                          <a:spcPts val="2400"/>
                        </a:spcAft>
                        <a:buNone/>
                      </a:pPr>
                      <a:r>
                        <a:rPr lang="en-GB">
                          <a:effectLst/>
                          <a:latin typeface="Aptos Display"/>
                        </a:rPr>
                        <a:t>Premix Air</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a:effectLst/>
                          <a:latin typeface="Aptos Display"/>
                        </a:rPr>
                        <a:t>7.278 m/s </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638650559"/>
                  </a:ext>
                </a:extLst>
              </a:tr>
              <a:tr h="0">
                <a:tc>
                  <a:txBody>
                    <a:bodyPr/>
                    <a:lstStyle/>
                    <a:p>
                      <a:pPr marL="0" marR="0">
                        <a:spcAft>
                          <a:spcPts val="2400"/>
                        </a:spcAft>
                        <a:buNone/>
                      </a:pPr>
                      <a:r>
                        <a:rPr lang="en-GB" b="1" i="1">
                          <a:effectLst/>
                          <a:latin typeface="Aptos Display"/>
                        </a:rPr>
                        <a:t>Air Substituting H2 *</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a:effectLst/>
                          <a:latin typeface="Aptos Display"/>
                        </a:rPr>
                        <a:t>1.041 m/s </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124407897"/>
                  </a:ext>
                </a:extLst>
              </a:tr>
            </a:tbl>
          </a:graphicData>
        </a:graphic>
      </p:graphicFrame>
      <p:sp>
        <p:nvSpPr>
          <p:cNvPr id="7" name="TextBox 6">
            <a:extLst>
              <a:ext uri="{FF2B5EF4-FFF2-40B4-BE49-F238E27FC236}">
                <a16:creationId xmlns:a16="http://schemas.microsoft.com/office/drawing/2014/main" id="{5F6A4641-C8C9-1152-B66F-5EE79F94A60B}"/>
              </a:ext>
            </a:extLst>
          </p:cNvPr>
          <p:cNvSpPr txBox="1"/>
          <p:nvPr/>
        </p:nvSpPr>
        <p:spPr>
          <a:xfrm>
            <a:off x="840316" y="3428999"/>
            <a:ext cx="110278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ptos"/>
                <a:cs typeface="Segoe UI"/>
              </a:rPr>
              <a:t>Operational Boundary Conditions (Baseline: </a:t>
            </a:r>
            <a:r>
              <a:rPr lang="en-US" b="1">
                <a:ea typeface="+mn-lt"/>
                <a:cs typeface="+mn-lt"/>
              </a:rPr>
              <a:t>Φ</a:t>
            </a:r>
            <a:r>
              <a:rPr lang="en-US" b="1">
                <a:latin typeface="Aptos"/>
                <a:ea typeface="+mn-lt"/>
                <a:cs typeface="Segoe UI"/>
              </a:rPr>
              <a:t> global </a:t>
            </a:r>
            <a:r>
              <a:rPr lang="en-US" b="1">
                <a:latin typeface="Aptos"/>
                <a:cs typeface="Segoe UI"/>
              </a:rPr>
              <a:t>= 0.45 , </a:t>
            </a:r>
            <a:r>
              <a:rPr lang="en-US" b="1">
                <a:ea typeface="+mn-lt"/>
                <a:cs typeface="+mn-lt"/>
              </a:rPr>
              <a:t>Φ premix = 5, </a:t>
            </a:r>
            <a:r>
              <a:rPr lang="en-US" b="1">
                <a:latin typeface="Aptos"/>
                <a:ea typeface="+mn-lt"/>
                <a:cs typeface="Segoe UI"/>
              </a:rPr>
              <a:t>SR</a:t>
            </a:r>
            <a:r>
              <a:rPr lang="en-US" b="1">
                <a:latin typeface="Aptos"/>
                <a:cs typeface="Segoe UI"/>
              </a:rPr>
              <a:t> = 0.60)</a:t>
            </a:r>
            <a:endParaRPr lang="en-US">
              <a:latin typeface="Aptos"/>
              <a:cs typeface="Segoe UI"/>
            </a:endParaRPr>
          </a:p>
        </p:txBody>
      </p:sp>
      <p:sp>
        <p:nvSpPr>
          <p:cNvPr id="3" name="TextBox 2">
            <a:extLst>
              <a:ext uri="{FF2B5EF4-FFF2-40B4-BE49-F238E27FC236}">
                <a16:creationId xmlns:a16="http://schemas.microsoft.com/office/drawing/2014/main" id="{1A7F9940-93A2-791E-9428-F2CC18AE9FA5}"/>
              </a:ext>
            </a:extLst>
          </p:cNvPr>
          <p:cNvSpPr txBox="1"/>
          <p:nvPr/>
        </p:nvSpPr>
        <p:spPr>
          <a:xfrm>
            <a:off x="224692" y="4083538"/>
            <a:ext cx="827447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ptos Display"/>
              </a:rPr>
              <a:t>*Safety Scaling:</a:t>
            </a:r>
            <a:r>
              <a:rPr lang="en-US">
                <a:latin typeface="Aptos Display"/>
              </a:rPr>
              <a:t> To safely conduct isothermal simulations and non-reacting tests, the actual H2 flow was substituted with a momentum-equivalent air flow rate to precisely preserve the inner jet momentum flux. </a:t>
            </a:r>
          </a:p>
          <a:p>
            <a:pPr algn="ctr"/>
            <a:endParaRPr lang="en-US"/>
          </a:p>
        </p:txBody>
      </p:sp>
      <p:sp>
        <p:nvSpPr>
          <p:cNvPr id="4" name="Rectangle 3">
            <a:extLst>
              <a:ext uri="{FF2B5EF4-FFF2-40B4-BE49-F238E27FC236}">
                <a16:creationId xmlns:a16="http://schemas.microsoft.com/office/drawing/2014/main" id="{A17AE64C-82E4-2BBD-9B91-5F0D341FCF6F}"/>
              </a:ext>
            </a:extLst>
          </p:cNvPr>
          <p:cNvSpPr/>
          <p:nvPr/>
        </p:nvSpPr>
        <p:spPr>
          <a:xfrm>
            <a:off x="221826" y="4085590"/>
            <a:ext cx="8282940" cy="1028276"/>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A7B71710-5490-9832-7ABB-F9CA0252A8C4}"/>
              </a:ext>
            </a:extLst>
          </p:cNvPr>
          <p:cNvSpPr/>
          <p:nvPr/>
        </p:nvSpPr>
        <p:spPr>
          <a:xfrm>
            <a:off x="211667" y="2825749"/>
            <a:ext cx="2116666" cy="359833"/>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62B7F65A-AF68-D4F6-B7BA-B262AA3E72F9}"/>
              </a:ext>
            </a:extLst>
          </p:cNvPr>
          <p:cNvPicPr>
            <a:picLocks noChangeAspect="1"/>
          </p:cNvPicPr>
          <p:nvPr/>
        </p:nvPicPr>
        <p:blipFill>
          <a:blip r:embed="rId2"/>
          <a:srcRect l="37835" t="28190" r="28295" b="44434"/>
          <a:stretch>
            <a:fillRect/>
          </a:stretch>
        </p:blipFill>
        <p:spPr>
          <a:xfrm>
            <a:off x="8614291" y="4084320"/>
            <a:ext cx="3338883" cy="1877442"/>
          </a:xfrm>
          <a:prstGeom prst="rect">
            <a:avLst/>
          </a:prstGeom>
        </p:spPr>
      </p:pic>
      <p:sp>
        <p:nvSpPr>
          <p:cNvPr id="9" name="Arrow: Up 8">
            <a:extLst>
              <a:ext uri="{FF2B5EF4-FFF2-40B4-BE49-F238E27FC236}">
                <a16:creationId xmlns:a16="http://schemas.microsoft.com/office/drawing/2014/main" id="{E5206794-5DF3-1055-0BA0-1BA47BD1A118}"/>
              </a:ext>
            </a:extLst>
          </p:cNvPr>
          <p:cNvSpPr/>
          <p:nvPr/>
        </p:nvSpPr>
        <p:spPr>
          <a:xfrm>
            <a:off x="9600458" y="3892973"/>
            <a:ext cx="240030" cy="40259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Arrow: Up 9">
            <a:extLst>
              <a:ext uri="{FF2B5EF4-FFF2-40B4-BE49-F238E27FC236}">
                <a16:creationId xmlns:a16="http://schemas.microsoft.com/office/drawing/2014/main" id="{47B4CCD3-EB17-13D1-B976-82140B34A8F3}"/>
              </a:ext>
            </a:extLst>
          </p:cNvPr>
          <p:cNvSpPr/>
          <p:nvPr/>
        </p:nvSpPr>
        <p:spPr>
          <a:xfrm>
            <a:off x="10052155" y="3803225"/>
            <a:ext cx="240030" cy="40259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Arrow: Up 10">
            <a:extLst>
              <a:ext uri="{FF2B5EF4-FFF2-40B4-BE49-F238E27FC236}">
                <a16:creationId xmlns:a16="http://schemas.microsoft.com/office/drawing/2014/main" id="{F99928A2-3C7D-3193-C0DC-1C8C962D5B92}"/>
              </a:ext>
            </a:extLst>
          </p:cNvPr>
          <p:cNvSpPr/>
          <p:nvPr/>
        </p:nvSpPr>
        <p:spPr>
          <a:xfrm>
            <a:off x="9251526" y="4089822"/>
            <a:ext cx="240030" cy="40259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Arrow: Up 11">
            <a:extLst>
              <a:ext uri="{FF2B5EF4-FFF2-40B4-BE49-F238E27FC236}">
                <a16:creationId xmlns:a16="http://schemas.microsoft.com/office/drawing/2014/main" id="{16C8178A-8B3E-07CC-CCAE-F844576A57F6}"/>
              </a:ext>
            </a:extLst>
          </p:cNvPr>
          <p:cNvSpPr/>
          <p:nvPr/>
        </p:nvSpPr>
        <p:spPr>
          <a:xfrm>
            <a:off x="10686308" y="3878685"/>
            <a:ext cx="240030" cy="40259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Arrow: Up 12">
            <a:extLst>
              <a:ext uri="{FF2B5EF4-FFF2-40B4-BE49-F238E27FC236}">
                <a16:creationId xmlns:a16="http://schemas.microsoft.com/office/drawing/2014/main" id="{3D8CC343-B657-6974-B072-573411EBB3F1}"/>
              </a:ext>
            </a:extLst>
          </p:cNvPr>
          <p:cNvSpPr/>
          <p:nvPr/>
        </p:nvSpPr>
        <p:spPr>
          <a:xfrm>
            <a:off x="11119378" y="4073947"/>
            <a:ext cx="240030" cy="40259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Up 13">
            <a:extLst>
              <a:ext uri="{FF2B5EF4-FFF2-40B4-BE49-F238E27FC236}">
                <a16:creationId xmlns:a16="http://schemas.microsoft.com/office/drawing/2014/main" id="{36815CB6-CD81-106A-46A8-C11D72062B77}"/>
              </a:ext>
            </a:extLst>
          </p:cNvPr>
          <p:cNvSpPr/>
          <p:nvPr/>
        </p:nvSpPr>
        <p:spPr>
          <a:xfrm>
            <a:off x="9243588" y="4478125"/>
            <a:ext cx="240030" cy="40259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Arrow: Up 14">
            <a:extLst>
              <a:ext uri="{FF2B5EF4-FFF2-40B4-BE49-F238E27FC236}">
                <a16:creationId xmlns:a16="http://schemas.microsoft.com/office/drawing/2014/main" id="{F4188623-C660-A801-8A45-98CE710672F7}"/>
              </a:ext>
            </a:extLst>
          </p:cNvPr>
          <p:cNvSpPr/>
          <p:nvPr/>
        </p:nvSpPr>
        <p:spPr>
          <a:xfrm>
            <a:off x="11360996" y="4396845"/>
            <a:ext cx="240030" cy="40259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Arrow: Up 15">
            <a:extLst>
              <a:ext uri="{FF2B5EF4-FFF2-40B4-BE49-F238E27FC236}">
                <a16:creationId xmlns:a16="http://schemas.microsoft.com/office/drawing/2014/main" id="{FFD33288-E117-AC68-4256-07869CD423C9}"/>
              </a:ext>
            </a:extLst>
          </p:cNvPr>
          <p:cNvSpPr/>
          <p:nvPr/>
        </p:nvSpPr>
        <p:spPr>
          <a:xfrm>
            <a:off x="11334326" y="4719742"/>
            <a:ext cx="240030" cy="40259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Arrow: Up 16">
            <a:extLst>
              <a:ext uri="{FF2B5EF4-FFF2-40B4-BE49-F238E27FC236}">
                <a16:creationId xmlns:a16="http://schemas.microsoft.com/office/drawing/2014/main" id="{6DBC428B-072D-1EBC-710C-775317BC683C}"/>
              </a:ext>
            </a:extLst>
          </p:cNvPr>
          <p:cNvSpPr/>
          <p:nvPr/>
        </p:nvSpPr>
        <p:spPr>
          <a:xfrm>
            <a:off x="10996823" y="4920720"/>
            <a:ext cx="240030" cy="40259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Arrow: Up 17">
            <a:extLst>
              <a:ext uri="{FF2B5EF4-FFF2-40B4-BE49-F238E27FC236}">
                <a16:creationId xmlns:a16="http://schemas.microsoft.com/office/drawing/2014/main" id="{DCC45ACA-60A2-D5FB-D8BB-11D32A194F15}"/>
              </a:ext>
            </a:extLst>
          </p:cNvPr>
          <p:cNvSpPr/>
          <p:nvPr/>
        </p:nvSpPr>
        <p:spPr>
          <a:xfrm>
            <a:off x="10508826" y="5024542"/>
            <a:ext cx="240030" cy="40259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Arrow: Up 18">
            <a:extLst>
              <a:ext uri="{FF2B5EF4-FFF2-40B4-BE49-F238E27FC236}">
                <a16:creationId xmlns:a16="http://schemas.microsoft.com/office/drawing/2014/main" id="{FD4408AA-D483-A07E-31E2-9FC8AFD4109B}"/>
              </a:ext>
            </a:extLst>
          </p:cNvPr>
          <p:cNvSpPr/>
          <p:nvPr/>
        </p:nvSpPr>
        <p:spPr>
          <a:xfrm>
            <a:off x="9932246" y="4920720"/>
            <a:ext cx="240030" cy="40259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Arrow: Up 19">
            <a:extLst>
              <a:ext uri="{FF2B5EF4-FFF2-40B4-BE49-F238E27FC236}">
                <a16:creationId xmlns:a16="http://schemas.microsoft.com/office/drawing/2014/main" id="{491D5EFD-E834-B883-652E-715893FB0545}"/>
              </a:ext>
            </a:extLst>
          </p:cNvPr>
          <p:cNvSpPr/>
          <p:nvPr/>
        </p:nvSpPr>
        <p:spPr>
          <a:xfrm>
            <a:off x="9485206" y="4719742"/>
            <a:ext cx="240030" cy="40259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457D0B5F-D9EA-009E-EED0-A6C169CD0199}"/>
              </a:ext>
            </a:extLst>
          </p:cNvPr>
          <p:cNvSpPr/>
          <p:nvPr/>
        </p:nvSpPr>
        <p:spPr>
          <a:xfrm>
            <a:off x="438149" y="3257550"/>
            <a:ext cx="200025" cy="742950"/>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Right 22">
            <a:extLst>
              <a:ext uri="{FF2B5EF4-FFF2-40B4-BE49-F238E27FC236}">
                <a16:creationId xmlns:a16="http://schemas.microsoft.com/office/drawing/2014/main" id="{F577EF5B-DD62-B707-C40F-3C4877932C74}"/>
              </a:ext>
            </a:extLst>
          </p:cNvPr>
          <p:cNvSpPr/>
          <p:nvPr/>
        </p:nvSpPr>
        <p:spPr>
          <a:xfrm>
            <a:off x="8591549" y="4524374"/>
            <a:ext cx="428625" cy="200025"/>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70931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7741B-0E00-D0DB-9DDE-4E98A02F0FC6}"/>
              </a:ext>
            </a:extLst>
          </p:cNvPr>
          <p:cNvSpPr>
            <a:spLocks noGrp="1"/>
          </p:cNvSpPr>
          <p:nvPr>
            <p:ph type="title"/>
          </p:nvPr>
        </p:nvSpPr>
        <p:spPr/>
        <p:txBody>
          <a:bodyPr>
            <a:normAutofit fontScale="90000"/>
          </a:bodyPr>
          <a:lstStyle/>
          <a:p>
            <a:r>
              <a:rPr lang="en-GB">
                <a:solidFill>
                  <a:srgbClr val="FFFFFF"/>
                </a:solidFill>
              </a:rPr>
              <a:t>Appendix A:  Detailed Numerical Methodology</a:t>
            </a:r>
            <a:endParaRPr lang="en-US"/>
          </a:p>
        </p:txBody>
      </p:sp>
      <p:sp>
        <p:nvSpPr>
          <p:cNvPr id="3" name="TextBox 2">
            <a:extLst>
              <a:ext uri="{FF2B5EF4-FFF2-40B4-BE49-F238E27FC236}">
                <a16:creationId xmlns:a16="http://schemas.microsoft.com/office/drawing/2014/main" id="{D07599D4-F46C-986D-D330-09EBD08A6708}"/>
              </a:ext>
            </a:extLst>
          </p:cNvPr>
          <p:cNvSpPr txBox="1"/>
          <p:nvPr/>
        </p:nvSpPr>
        <p:spPr>
          <a:xfrm>
            <a:off x="105833" y="1132417"/>
            <a:ext cx="569383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GB" b="1">
                <a:solidFill>
                  <a:srgbClr val="000000"/>
                </a:solidFill>
                <a:latin typeface="Aptos"/>
                <a:ea typeface="+mn-lt"/>
                <a:cs typeface="Arial"/>
              </a:rPr>
              <a:t>Meshing</a:t>
            </a:r>
            <a:r>
              <a:rPr lang="en-GB" b="1">
                <a:solidFill>
                  <a:srgbClr val="000000"/>
                </a:solidFill>
                <a:ea typeface="+mn-lt"/>
                <a:cs typeface="+mn-lt"/>
              </a:rPr>
              <a:t> Strategy &amp; Independence:</a:t>
            </a:r>
            <a:r>
              <a:rPr lang="en-GB">
                <a:solidFill>
                  <a:srgbClr val="000000"/>
                </a:solidFill>
                <a:ea typeface="+mn-lt"/>
                <a:cs typeface="+mn-lt"/>
              </a:rPr>
              <a:t> A 3D polyhedral mesh topology (see figure below) was utilized to maximize spatial gradient approximations and limit numerical diffusion in the swirling flows. </a:t>
            </a:r>
          </a:p>
          <a:p>
            <a:pPr>
              <a:buFont typeface="Arial"/>
              <a:buChar char="•"/>
            </a:pPr>
            <a:r>
              <a:rPr lang="en-GB">
                <a:solidFill>
                  <a:srgbClr val="000000"/>
                </a:solidFill>
                <a:ea typeface="+mn-lt"/>
                <a:cs typeface="+mn-lt"/>
              </a:rPr>
              <a:t>A </a:t>
            </a:r>
            <a:r>
              <a:rPr lang="en-GB" b="1" i="1">
                <a:solidFill>
                  <a:srgbClr val="000000"/>
                </a:solidFill>
                <a:ea typeface="+mn-lt"/>
                <a:cs typeface="+mn-lt"/>
              </a:rPr>
              <a:t>Body of Influence (BOI)</a:t>
            </a:r>
            <a:r>
              <a:rPr lang="en-GB">
                <a:solidFill>
                  <a:srgbClr val="000000"/>
                </a:solidFill>
                <a:ea typeface="+mn-lt"/>
                <a:cs typeface="+mn-lt"/>
              </a:rPr>
              <a:t> cylinder (see green cylinder in the left picture) restricted aggressive local refinement to the near-field mixing and CRZ regions (far right picture), yielding final counts of </a:t>
            </a:r>
            <a:r>
              <a:rPr lang="en-GB" b="1">
                <a:solidFill>
                  <a:srgbClr val="000000"/>
                </a:solidFill>
                <a:ea typeface="+mn-lt"/>
                <a:cs typeface="+mn-lt"/>
              </a:rPr>
              <a:t>~2.8 million cells (co-swirl)</a:t>
            </a:r>
            <a:r>
              <a:rPr lang="en-GB">
                <a:solidFill>
                  <a:srgbClr val="000000"/>
                </a:solidFill>
                <a:ea typeface="+mn-lt"/>
                <a:cs typeface="+mn-lt"/>
              </a:rPr>
              <a:t> and </a:t>
            </a:r>
            <a:r>
              <a:rPr lang="en-GB" b="1">
                <a:solidFill>
                  <a:srgbClr val="000000"/>
                </a:solidFill>
                <a:ea typeface="+mn-lt"/>
                <a:cs typeface="+mn-lt"/>
              </a:rPr>
              <a:t>~2.2 million cells (counter-swirl)</a:t>
            </a:r>
            <a:r>
              <a:rPr lang="en-GB">
                <a:solidFill>
                  <a:srgbClr val="000000"/>
                </a:solidFill>
                <a:ea typeface="+mn-lt"/>
                <a:cs typeface="+mn-lt"/>
              </a:rPr>
              <a:t>. </a:t>
            </a:r>
            <a:endParaRPr lang="en-GB"/>
          </a:p>
        </p:txBody>
      </p:sp>
      <p:pic>
        <p:nvPicPr>
          <p:cNvPr id="4" name="Picture 3">
            <a:extLst>
              <a:ext uri="{FF2B5EF4-FFF2-40B4-BE49-F238E27FC236}">
                <a16:creationId xmlns:a16="http://schemas.microsoft.com/office/drawing/2014/main" id="{8BC543AD-34C6-79FB-B453-A4994A2BB722}"/>
              </a:ext>
            </a:extLst>
          </p:cNvPr>
          <p:cNvPicPr>
            <a:picLocks noChangeAspect="1"/>
          </p:cNvPicPr>
          <p:nvPr/>
        </p:nvPicPr>
        <p:blipFill>
          <a:blip r:embed="rId2"/>
          <a:srcRect l="165" t="-418" b="209"/>
          <a:stretch>
            <a:fillRect/>
          </a:stretch>
        </p:blipFill>
        <p:spPr>
          <a:xfrm>
            <a:off x="5795433" y="1049337"/>
            <a:ext cx="6390226" cy="5087430"/>
          </a:xfrm>
          <a:prstGeom prst="rect">
            <a:avLst/>
          </a:prstGeom>
        </p:spPr>
      </p:pic>
      <p:pic>
        <p:nvPicPr>
          <p:cNvPr id="5" name="Picture 4" descr="An Inside-Out Method For Arbitrary Polyhedra In cfMesh">
            <a:extLst>
              <a:ext uri="{FF2B5EF4-FFF2-40B4-BE49-F238E27FC236}">
                <a16:creationId xmlns:a16="http://schemas.microsoft.com/office/drawing/2014/main" id="{39039C9E-CFB1-2420-504C-C07BC3918A28}"/>
              </a:ext>
            </a:extLst>
          </p:cNvPr>
          <p:cNvPicPr>
            <a:picLocks noChangeAspect="1"/>
          </p:cNvPicPr>
          <p:nvPr/>
        </p:nvPicPr>
        <p:blipFill>
          <a:blip r:embed="rId3"/>
          <a:stretch>
            <a:fillRect/>
          </a:stretch>
        </p:blipFill>
        <p:spPr>
          <a:xfrm>
            <a:off x="1718734" y="3781146"/>
            <a:ext cx="2224618" cy="1539371"/>
          </a:xfrm>
          <a:prstGeom prst="rect">
            <a:avLst/>
          </a:prstGeom>
        </p:spPr>
      </p:pic>
      <p:sp>
        <p:nvSpPr>
          <p:cNvPr id="6" name="Oval 5">
            <a:extLst>
              <a:ext uri="{FF2B5EF4-FFF2-40B4-BE49-F238E27FC236}">
                <a16:creationId xmlns:a16="http://schemas.microsoft.com/office/drawing/2014/main" id="{5B32F1E8-0D5E-74E1-22FA-C35FD1F5E534}"/>
              </a:ext>
            </a:extLst>
          </p:cNvPr>
          <p:cNvSpPr/>
          <p:nvPr/>
        </p:nvSpPr>
        <p:spPr>
          <a:xfrm>
            <a:off x="6455833" y="3302000"/>
            <a:ext cx="1238250" cy="138641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Arrow: Right 6">
            <a:extLst>
              <a:ext uri="{FF2B5EF4-FFF2-40B4-BE49-F238E27FC236}">
                <a16:creationId xmlns:a16="http://schemas.microsoft.com/office/drawing/2014/main" id="{BED3CBC8-7894-1369-FAE3-13E78F2AC49B}"/>
              </a:ext>
            </a:extLst>
          </p:cNvPr>
          <p:cNvSpPr/>
          <p:nvPr/>
        </p:nvSpPr>
        <p:spPr>
          <a:xfrm rot="8280000">
            <a:off x="6053666" y="4445000"/>
            <a:ext cx="645583" cy="476250"/>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A61E4958-1B77-857B-0AF0-98F4C78093A1}"/>
              </a:ext>
            </a:extLst>
          </p:cNvPr>
          <p:cNvSpPr/>
          <p:nvPr/>
        </p:nvSpPr>
        <p:spPr>
          <a:xfrm>
            <a:off x="5397500" y="4688417"/>
            <a:ext cx="1058332" cy="5609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chemeClr val="tx1"/>
                </a:solidFill>
              </a:rPr>
              <a:t>BOI</a:t>
            </a:r>
          </a:p>
        </p:txBody>
      </p:sp>
      <p:sp>
        <p:nvSpPr>
          <p:cNvPr id="9" name="Arrow: Right 8">
            <a:extLst>
              <a:ext uri="{FF2B5EF4-FFF2-40B4-BE49-F238E27FC236}">
                <a16:creationId xmlns:a16="http://schemas.microsoft.com/office/drawing/2014/main" id="{908E71CC-85ED-54D0-C08B-060935EA459B}"/>
              </a:ext>
            </a:extLst>
          </p:cNvPr>
          <p:cNvSpPr/>
          <p:nvPr/>
        </p:nvSpPr>
        <p:spPr>
          <a:xfrm rot="12480000">
            <a:off x="8263139" y="2062970"/>
            <a:ext cx="1037167" cy="560917"/>
          </a:xfrm>
          <a:prstGeom prst="righ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Arrow: Left 9">
            <a:extLst>
              <a:ext uri="{FF2B5EF4-FFF2-40B4-BE49-F238E27FC236}">
                <a16:creationId xmlns:a16="http://schemas.microsoft.com/office/drawing/2014/main" id="{D0785067-3E52-DA30-D803-C200DC0A81EF}"/>
              </a:ext>
            </a:extLst>
          </p:cNvPr>
          <p:cNvSpPr/>
          <p:nvPr/>
        </p:nvSpPr>
        <p:spPr>
          <a:xfrm>
            <a:off x="9347530" y="4557918"/>
            <a:ext cx="2264834" cy="582083"/>
          </a:xfrm>
          <a:prstGeom prst="lef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D8906F5D-FC48-A52B-8B90-59626962FBDC}"/>
              </a:ext>
            </a:extLst>
          </p:cNvPr>
          <p:cNvSpPr/>
          <p:nvPr/>
        </p:nvSpPr>
        <p:spPr>
          <a:xfrm>
            <a:off x="11609916" y="4561417"/>
            <a:ext cx="412750" cy="59266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9E5353F6-4F8D-BD77-61EF-492D806F8F6A}"/>
              </a:ext>
            </a:extLst>
          </p:cNvPr>
          <p:cNvSpPr/>
          <p:nvPr/>
        </p:nvSpPr>
        <p:spPr>
          <a:xfrm>
            <a:off x="7207249" y="1714499"/>
            <a:ext cx="1598083" cy="37041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solidFill>
                  <a:srgbClr val="FF0000"/>
                </a:solidFill>
              </a:rPr>
              <a:t>Refinement</a:t>
            </a:r>
          </a:p>
        </p:txBody>
      </p:sp>
      <p:sp>
        <p:nvSpPr>
          <p:cNvPr id="13" name="Rectangle 12">
            <a:extLst>
              <a:ext uri="{FF2B5EF4-FFF2-40B4-BE49-F238E27FC236}">
                <a16:creationId xmlns:a16="http://schemas.microsoft.com/office/drawing/2014/main" id="{FD81D737-D58F-AE2B-8932-63C712C1600C}"/>
              </a:ext>
            </a:extLst>
          </p:cNvPr>
          <p:cNvSpPr/>
          <p:nvPr/>
        </p:nvSpPr>
        <p:spPr>
          <a:xfrm>
            <a:off x="7694082" y="4286248"/>
            <a:ext cx="1809749" cy="8572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rgbClr val="FF0000"/>
                </a:solidFill>
              </a:rPr>
              <a:t>Boundary layering</a:t>
            </a:r>
            <a:endParaRPr lang="en-US">
              <a:solidFill>
                <a:srgbClr val="FF0000"/>
              </a:solidFill>
            </a:endParaRPr>
          </a:p>
          <a:p>
            <a:pPr algn="ctr"/>
            <a:r>
              <a:rPr lang="en-GB" sz="1400">
                <a:solidFill>
                  <a:srgbClr val="FF0000"/>
                </a:solidFill>
              </a:rPr>
              <a:t>- Wall treatment</a:t>
            </a:r>
            <a:endParaRPr lang="en-GB">
              <a:solidFill>
                <a:srgbClr val="FF0000"/>
              </a:solidFill>
            </a:endParaRPr>
          </a:p>
        </p:txBody>
      </p:sp>
      <p:sp>
        <p:nvSpPr>
          <p:cNvPr id="14" name="Rectangle: Rounded Corners 13">
            <a:extLst>
              <a:ext uri="{FF2B5EF4-FFF2-40B4-BE49-F238E27FC236}">
                <a16:creationId xmlns:a16="http://schemas.microsoft.com/office/drawing/2014/main" id="{9DF3438E-6EAC-26E7-00FB-6FBF06544307}"/>
              </a:ext>
            </a:extLst>
          </p:cNvPr>
          <p:cNvSpPr/>
          <p:nvPr/>
        </p:nvSpPr>
        <p:spPr>
          <a:xfrm>
            <a:off x="4070" y="5381221"/>
            <a:ext cx="5478911" cy="824684"/>
          </a:xfrm>
          <a:prstGeom prst="round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buFont typeface="Wingdings"/>
              <a:buChar char="ü"/>
            </a:pPr>
            <a:endParaRPr lang="en-GB" sz="1600" b="1">
              <a:solidFill>
                <a:srgbClr val="1F1F1F"/>
              </a:solidFill>
              <a:latin typeface="Aptos Display"/>
            </a:endParaRPr>
          </a:p>
          <a:p>
            <a:r>
              <a:rPr lang="en-GB" sz="1600" b="1">
                <a:solidFill>
                  <a:srgbClr val="1F1F1F"/>
                </a:solidFill>
                <a:latin typeface="Aptos Display"/>
              </a:rPr>
              <a:t>Meshing Strategy:</a:t>
            </a:r>
            <a:r>
              <a:rPr lang="en-GB" sz="1600">
                <a:solidFill>
                  <a:srgbClr val="1F1F1F"/>
                </a:solidFill>
                <a:latin typeface="Aptos Display"/>
              </a:rPr>
              <a:t> Volume Extract &gt; Water-tight geometry mesh approach</a:t>
            </a:r>
            <a:r>
              <a:rPr lang="en-US" sz="1600">
                <a:solidFill>
                  <a:srgbClr val="000000"/>
                </a:solidFill>
                <a:latin typeface="Aptos Display"/>
              </a:rPr>
              <a:t> &gt; </a:t>
            </a:r>
            <a:r>
              <a:rPr lang="en-US" sz="1600" i="1">
                <a:solidFill>
                  <a:srgbClr val="000000"/>
                </a:solidFill>
                <a:latin typeface="Aptos Display"/>
              </a:rPr>
              <a:t>Targeted Refinement, </a:t>
            </a:r>
            <a:r>
              <a:rPr lang="en-GB" sz="1600" i="1">
                <a:solidFill>
                  <a:srgbClr val="1F1F1F"/>
                </a:solidFill>
                <a:latin typeface="Aptos Display"/>
              </a:rPr>
              <a:t>Body of Influence (BOI) </a:t>
            </a:r>
            <a:r>
              <a:rPr lang="en-US" sz="1600" i="1">
                <a:solidFill>
                  <a:srgbClr val="000000"/>
                </a:solidFill>
                <a:latin typeface="Aptos Display"/>
              </a:rPr>
              <a:t>&amp; Boundary Layering  </a:t>
            </a:r>
            <a:r>
              <a:rPr lang="en-US" sz="1600">
                <a:solidFill>
                  <a:srgbClr val="000000"/>
                </a:solidFill>
                <a:latin typeface="Aptos Display"/>
              </a:rPr>
              <a:t>&gt;</a:t>
            </a:r>
            <a:r>
              <a:rPr lang="en-GB" sz="1600" b="1">
                <a:solidFill>
                  <a:srgbClr val="1F1F1F"/>
                </a:solidFill>
                <a:latin typeface="Aptos Display"/>
              </a:rPr>
              <a:t> </a:t>
            </a:r>
            <a:r>
              <a:rPr lang="en-GB" sz="1600" b="1">
                <a:solidFill>
                  <a:srgbClr val="FF0000"/>
                </a:solidFill>
                <a:latin typeface="Aptos Display"/>
              </a:rPr>
              <a:t> Polyhedral 3D</a:t>
            </a:r>
            <a:r>
              <a:rPr lang="en-GB" sz="1600">
                <a:solidFill>
                  <a:srgbClr val="1F1F1F"/>
                </a:solidFill>
                <a:latin typeface="Aptos Display"/>
              </a:rPr>
              <a:t> meshing</a:t>
            </a:r>
            <a:r>
              <a:rPr lang="en-US" sz="1600">
                <a:solidFill>
                  <a:srgbClr val="000000"/>
                </a:solidFill>
                <a:latin typeface="Aptos Display"/>
              </a:rPr>
              <a:t> </a:t>
            </a:r>
          </a:p>
          <a:p>
            <a:pPr marL="285750" indent="-285750" algn="ctr">
              <a:buFont typeface="Wingdings"/>
              <a:buChar char="ü"/>
            </a:pPr>
            <a:endParaRPr lang="en-US"/>
          </a:p>
        </p:txBody>
      </p:sp>
    </p:spTree>
    <p:extLst>
      <p:ext uri="{BB962C8B-B14F-4D97-AF65-F5344CB8AC3E}">
        <p14:creationId xmlns:p14="http://schemas.microsoft.com/office/powerpoint/2010/main" val="2588445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0E4FB-AFC0-D624-42FA-71B38F1F0D1D}"/>
              </a:ext>
            </a:extLst>
          </p:cNvPr>
          <p:cNvSpPr>
            <a:spLocks noGrp="1"/>
          </p:cNvSpPr>
          <p:nvPr>
            <p:ph type="title"/>
          </p:nvPr>
        </p:nvSpPr>
        <p:spPr/>
        <p:txBody>
          <a:bodyPr>
            <a:normAutofit fontScale="90000"/>
          </a:bodyPr>
          <a:lstStyle/>
          <a:p>
            <a:r>
              <a:rPr lang="en-GB"/>
              <a:t>Appendix A: Detailed  Numerical Methodology</a:t>
            </a:r>
            <a:endParaRPr lang="en-GB" b="0" i="0">
              <a:solidFill>
                <a:srgbClr val="000000"/>
              </a:solidFill>
            </a:endParaRPr>
          </a:p>
        </p:txBody>
      </p:sp>
      <p:sp>
        <p:nvSpPr>
          <p:cNvPr id="4" name="TextBox 3">
            <a:extLst>
              <a:ext uri="{FF2B5EF4-FFF2-40B4-BE49-F238E27FC236}">
                <a16:creationId xmlns:a16="http://schemas.microsoft.com/office/drawing/2014/main" id="{9DC88E61-54BC-6392-5BE9-7912CC2F0DC0}"/>
              </a:ext>
            </a:extLst>
          </p:cNvPr>
          <p:cNvSpPr txBox="1"/>
          <p:nvPr/>
        </p:nvSpPr>
        <p:spPr>
          <a:xfrm>
            <a:off x="312615" y="1211385"/>
            <a:ext cx="5783385"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Google Sans Text"/>
                <a:ea typeface="Google Sans Text"/>
                <a:cs typeface="Google Sans Text"/>
              </a:rPr>
              <a:t>Near-Wall Treatment &amp; Y+:</a:t>
            </a:r>
            <a:r>
              <a:rPr lang="en-US">
                <a:latin typeface="Google Sans Text"/>
                <a:ea typeface="Google Sans Text"/>
                <a:cs typeface="Google Sans Text"/>
              </a:rPr>
              <a:t> The mesh featured 5 prism inflation layers with a targeted y+ close to 1 and strictly under 5. However, intense velocity gradients inside the outer-swirler bottle inevitably caused localized y+ peaks between 20-45. </a:t>
            </a:r>
          </a:p>
          <a:p>
            <a:endParaRPr lang="en-US">
              <a:latin typeface="Google Sans Text"/>
              <a:ea typeface="Google Sans Text"/>
              <a:cs typeface="Google Sans Text"/>
            </a:endParaRPr>
          </a:p>
          <a:p>
            <a:pPr marL="228600" indent="-228600">
              <a:buFont typeface=""/>
              <a:buChar char="•"/>
            </a:pPr>
            <a:r>
              <a:rPr lang="en-US">
                <a:latin typeface="Google Sans Text"/>
                <a:ea typeface="Google Sans Text"/>
                <a:cs typeface="Google Sans Text"/>
              </a:rPr>
              <a:t>Enforcing a uniform y+ ~ 1 everywhere would cause cell counts to explode and the mesh to collapse due to extreme transition scales. </a:t>
            </a:r>
            <a:br>
              <a:rPr lang="en-US">
                <a:latin typeface="Google Sans Text"/>
                <a:ea typeface="Google Sans Text"/>
                <a:cs typeface="Google Sans Text"/>
              </a:rPr>
            </a:br>
            <a:endParaRPr lang="en-US">
              <a:latin typeface="Google Sans Text"/>
              <a:ea typeface="Google Sans Text"/>
              <a:cs typeface="Google Sans Text"/>
            </a:endParaRPr>
          </a:p>
          <a:p>
            <a:pPr marL="228600" indent="-228600">
              <a:buFont typeface=""/>
              <a:buChar char="•"/>
            </a:pPr>
            <a:r>
              <a:rPr lang="en-US">
                <a:latin typeface="Google Sans Text"/>
                <a:ea typeface="Google Sans Text"/>
                <a:cs typeface="Google Sans Text"/>
              </a:rPr>
              <a:t>To safely resolve this, the </a:t>
            </a:r>
            <a:r>
              <a:rPr lang="en-US" b="1">
                <a:latin typeface="Google Sans Text"/>
                <a:ea typeface="Google Sans Text"/>
                <a:cs typeface="Google Sans Text"/>
              </a:rPr>
              <a:t>Kader blending wall function</a:t>
            </a:r>
            <a:r>
              <a:rPr lang="en-US">
                <a:latin typeface="Google Sans Text"/>
                <a:ea typeface="Google Sans Text"/>
                <a:cs typeface="Google Sans Text"/>
              </a:rPr>
              <a:t> was strictly enforced. This mathematically bridges the</a:t>
            </a:r>
            <a:r>
              <a:rPr lang="en-US" b="1">
                <a:latin typeface="Google Sans Text"/>
                <a:ea typeface="Google Sans Text"/>
                <a:cs typeface="Google Sans Text"/>
              </a:rPr>
              <a:t> laminar sublayer </a:t>
            </a:r>
            <a:r>
              <a:rPr lang="en-US">
                <a:latin typeface="Google Sans Text"/>
                <a:ea typeface="Google Sans Text"/>
                <a:cs typeface="Google Sans Text"/>
              </a:rPr>
              <a:t>[y+~1-5] &amp; the </a:t>
            </a:r>
            <a:r>
              <a:rPr lang="en-US" b="1">
                <a:latin typeface="Google Sans Text"/>
                <a:ea typeface="Google Sans Text"/>
                <a:cs typeface="Google Sans Text"/>
              </a:rPr>
              <a:t>logarithmic law-of-the-wall </a:t>
            </a:r>
            <a:r>
              <a:rPr lang="en-US">
                <a:latin typeface="Google Sans Text"/>
                <a:ea typeface="Google Sans Text"/>
                <a:cs typeface="Google Sans Text"/>
              </a:rPr>
              <a:t>[y+~30-300], providing a necessary, accurate trade-off that protects global mass conservation without unaffordable computational costs.</a:t>
            </a:r>
            <a:r>
              <a:rPr lang="en-US" sz="1600">
                <a:latin typeface="Google Sans Text"/>
                <a:ea typeface="Google Sans Text"/>
                <a:cs typeface="Google Sans Text"/>
              </a:rPr>
              <a:t> </a:t>
            </a:r>
          </a:p>
          <a:p>
            <a:pPr algn="ctr"/>
            <a:endParaRPr lang="en-GB"/>
          </a:p>
        </p:txBody>
      </p:sp>
      <p:pic>
        <p:nvPicPr>
          <p:cNvPr id="6" name="Picture 5" descr="A screenshot of a computer screen&#10;&#10;AI-generated content may be incorrect.">
            <a:extLst>
              <a:ext uri="{FF2B5EF4-FFF2-40B4-BE49-F238E27FC236}">
                <a16:creationId xmlns:a16="http://schemas.microsoft.com/office/drawing/2014/main" id="{C8C65BDB-B6E4-B419-164E-4B0AB461FB18}"/>
              </a:ext>
            </a:extLst>
          </p:cNvPr>
          <p:cNvPicPr>
            <a:picLocks noChangeAspect="1"/>
          </p:cNvPicPr>
          <p:nvPr/>
        </p:nvPicPr>
        <p:blipFill>
          <a:blip r:embed="rId2"/>
          <a:stretch>
            <a:fillRect/>
          </a:stretch>
        </p:blipFill>
        <p:spPr>
          <a:xfrm>
            <a:off x="9210797" y="1017221"/>
            <a:ext cx="2982791" cy="3514481"/>
          </a:xfrm>
          <a:prstGeom prst="rect">
            <a:avLst/>
          </a:prstGeom>
        </p:spPr>
      </p:pic>
      <p:pic>
        <p:nvPicPr>
          <p:cNvPr id="7" name="Picture 6">
            <a:extLst>
              <a:ext uri="{FF2B5EF4-FFF2-40B4-BE49-F238E27FC236}">
                <a16:creationId xmlns:a16="http://schemas.microsoft.com/office/drawing/2014/main" id="{4ABCD12F-2EB5-D0ED-C8C9-F78D37CE799C}"/>
              </a:ext>
            </a:extLst>
          </p:cNvPr>
          <p:cNvPicPr>
            <a:picLocks noChangeAspect="1"/>
          </p:cNvPicPr>
          <p:nvPr/>
        </p:nvPicPr>
        <p:blipFill>
          <a:blip r:embed="rId3"/>
          <a:stretch>
            <a:fillRect/>
          </a:stretch>
        </p:blipFill>
        <p:spPr>
          <a:xfrm>
            <a:off x="6782900" y="984493"/>
            <a:ext cx="2094279" cy="1469780"/>
          </a:xfrm>
          <a:prstGeom prst="rect">
            <a:avLst/>
          </a:prstGeom>
        </p:spPr>
      </p:pic>
      <p:pic>
        <p:nvPicPr>
          <p:cNvPr id="12" name="Picture 11">
            <a:extLst>
              <a:ext uri="{FF2B5EF4-FFF2-40B4-BE49-F238E27FC236}">
                <a16:creationId xmlns:a16="http://schemas.microsoft.com/office/drawing/2014/main" id="{73B42FF9-6473-B7A2-7FE3-8E632213ABE8}"/>
              </a:ext>
            </a:extLst>
          </p:cNvPr>
          <p:cNvPicPr>
            <a:picLocks noChangeAspect="1"/>
          </p:cNvPicPr>
          <p:nvPr/>
        </p:nvPicPr>
        <p:blipFill>
          <a:blip r:embed="rId4"/>
          <a:stretch>
            <a:fillRect/>
          </a:stretch>
        </p:blipFill>
        <p:spPr>
          <a:xfrm>
            <a:off x="6471745" y="2609239"/>
            <a:ext cx="1954581" cy="994753"/>
          </a:xfrm>
          <a:prstGeom prst="rect">
            <a:avLst/>
          </a:prstGeom>
        </p:spPr>
      </p:pic>
      <p:pic>
        <p:nvPicPr>
          <p:cNvPr id="13" name="Picture 12">
            <a:extLst>
              <a:ext uri="{FF2B5EF4-FFF2-40B4-BE49-F238E27FC236}">
                <a16:creationId xmlns:a16="http://schemas.microsoft.com/office/drawing/2014/main" id="{4509A140-6C63-DD41-AA52-A0D32CC88CC2}"/>
              </a:ext>
            </a:extLst>
          </p:cNvPr>
          <p:cNvPicPr>
            <a:picLocks noChangeAspect="1"/>
          </p:cNvPicPr>
          <p:nvPr/>
        </p:nvPicPr>
        <p:blipFill>
          <a:blip r:embed="rId5"/>
          <a:stretch>
            <a:fillRect/>
          </a:stretch>
        </p:blipFill>
        <p:spPr>
          <a:xfrm>
            <a:off x="9458081" y="5193810"/>
            <a:ext cx="2732455" cy="993533"/>
          </a:xfrm>
          <a:prstGeom prst="rect">
            <a:avLst/>
          </a:prstGeom>
        </p:spPr>
      </p:pic>
      <p:pic>
        <p:nvPicPr>
          <p:cNvPr id="14" name="Picture 13" descr="What is y+?">
            <a:extLst>
              <a:ext uri="{FF2B5EF4-FFF2-40B4-BE49-F238E27FC236}">
                <a16:creationId xmlns:a16="http://schemas.microsoft.com/office/drawing/2014/main" id="{B8840CB8-A54C-F99A-86C1-351B80D48745}"/>
              </a:ext>
            </a:extLst>
          </p:cNvPr>
          <p:cNvPicPr>
            <a:picLocks noChangeAspect="1"/>
          </p:cNvPicPr>
          <p:nvPr/>
        </p:nvPicPr>
        <p:blipFill>
          <a:blip r:embed="rId6"/>
          <a:stretch>
            <a:fillRect/>
          </a:stretch>
        </p:blipFill>
        <p:spPr>
          <a:xfrm>
            <a:off x="6346093" y="3720658"/>
            <a:ext cx="2743200" cy="2464683"/>
          </a:xfrm>
          <a:prstGeom prst="rect">
            <a:avLst/>
          </a:prstGeom>
        </p:spPr>
      </p:pic>
      <p:sp>
        <p:nvSpPr>
          <p:cNvPr id="16" name="Arrow: Right 15">
            <a:extLst>
              <a:ext uri="{FF2B5EF4-FFF2-40B4-BE49-F238E27FC236}">
                <a16:creationId xmlns:a16="http://schemas.microsoft.com/office/drawing/2014/main" id="{678A67AB-FF05-C4D0-6A5B-C1323D18EB65}"/>
              </a:ext>
            </a:extLst>
          </p:cNvPr>
          <p:cNvSpPr/>
          <p:nvPr/>
        </p:nvSpPr>
        <p:spPr>
          <a:xfrm rot="-5400000">
            <a:off x="6403651" y="3791336"/>
            <a:ext cx="743946" cy="367402"/>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7DE2EB57-06A0-903E-3346-B3B3C94AD190}"/>
              </a:ext>
            </a:extLst>
          </p:cNvPr>
          <p:cNvSpPr/>
          <p:nvPr/>
        </p:nvSpPr>
        <p:spPr>
          <a:xfrm rot="18900000">
            <a:off x="8660988" y="4365047"/>
            <a:ext cx="444501" cy="1363621"/>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5859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4A40-B5C6-3F51-007D-C6FA5FEEA505}"/>
              </a:ext>
            </a:extLst>
          </p:cNvPr>
          <p:cNvSpPr>
            <a:spLocks noGrp="1"/>
          </p:cNvSpPr>
          <p:nvPr>
            <p:ph type="title"/>
          </p:nvPr>
        </p:nvSpPr>
        <p:spPr/>
        <p:txBody>
          <a:bodyPr>
            <a:normAutofit fontScale="90000"/>
          </a:bodyPr>
          <a:lstStyle/>
          <a:p>
            <a:r>
              <a:rPr lang="en-GB"/>
              <a:t>Appendix A: Detailed  Numerical Methodology</a:t>
            </a:r>
            <a:endParaRPr lang="en-GB" b="0" i="0">
              <a:solidFill>
                <a:srgbClr val="000000"/>
              </a:solidFill>
            </a:endParaRPr>
          </a:p>
        </p:txBody>
      </p:sp>
      <p:sp>
        <p:nvSpPr>
          <p:cNvPr id="3" name="TextBox 2">
            <a:extLst>
              <a:ext uri="{FF2B5EF4-FFF2-40B4-BE49-F238E27FC236}">
                <a16:creationId xmlns:a16="http://schemas.microsoft.com/office/drawing/2014/main" id="{A7B36D82-293B-E1A2-1664-80409822F28B}"/>
              </a:ext>
            </a:extLst>
          </p:cNvPr>
          <p:cNvSpPr txBox="1"/>
          <p:nvPr/>
        </p:nvSpPr>
        <p:spPr>
          <a:xfrm>
            <a:off x="179917" y="1090083"/>
            <a:ext cx="728133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ptos Display"/>
                <a:ea typeface="Google Sans Text"/>
                <a:cs typeface="Google Sans Text"/>
              </a:rPr>
              <a:t>Solver Dynamics &amp; CFL Condition:</a:t>
            </a:r>
            <a:r>
              <a:rPr lang="en-US">
                <a:latin typeface="Aptos Display"/>
                <a:ea typeface="Google Sans Text"/>
                <a:cs typeface="Google Sans Text"/>
              </a:rPr>
              <a:t> A two-phase solution strategy was executed using a Pressure-Based Coupled Solver, which resolves mass and momentum simultaneously to enhance numerical robustness against severe adverse pressure gradients.</a:t>
            </a:r>
            <a:br>
              <a:rPr lang="en-US">
                <a:latin typeface="Aptos Display"/>
                <a:ea typeface="Google Sans Text"/>
                <a:cs typeface="Google Sans Text"/>
              </a:rPr>
            </a:br>
            <a:endParaRPr lang="en-US">
              <a:latin typeface="Aptos Display"/>
              <a:ea typeface="Google Sans Text"/>
              <a:cs typeface="Google Sans Text"/>
            </a:endParaRPr>
          </a:p>
          <a:p>
            <a:r>
              <a:rPr lang="en-US">
                <a:latin typeface="Aptos Display"/>
                <a:ea typeface="+mn-lt"/>
                <a:cs typeface="+mn-lt"/>
              </a:rPr>
              <a:t>The solution was executed utilizing a two-phase solver strategy to balance physical accuracy with computational efficiency (saves on time steps needed for the flow development &amp; CRZ establishment)</a:t>
            </a:r>
            <a:endParaRPr lang="en-US">
              <a:latin typeface="Aptos Display"/>
            </a:endParaRPr>
          </a:p>
        </p:txBody>
      </p:sp>
      <p:pic>
        <p:nvPicPr>
          <p:cNvPr id="4" name="Picture 3">
            <a:extLst>
              <a:ext uri="{FF2B5EF4-FFF2-40B4-BE49-F238E27FC236}">
                <a16:creationId xmlns:a16="http://schemas.microsoft.com/office/drawing/2014/main" id="{EF20D920-0B74-2F95-B6DD-48838E36AACC}"/>
              </a:ext>
            </a:extLst>
          </p:cNvPr>
          <p:cNvPicPr>
            <a:picLocks noChangeAspect="1"/>
          </p:cNvPicPr>
          <p:nvPr/>
        </p:nvPicPr>
        <p:blipFill>
          <a:blip r:embed="rId2"/>
          <a:stretch>
            <a:fillRect/>
          </a:stretch>
        </p:blipFill>
        <p:spPr>
          <a:xfrm>
            <a:off x="8931273" y="1085850"/>
            <a:ext cx="2489201" cy="1532467"/>
          </a:xfrm>
          <a:prstGeom prst="rect">
            <a:avLst/>
          </a:prstGeom>
        </p:spPr>
      </p:pic>
      <p:sp>
        <p:nvSpPr>
          <p:cNvPr id="5" name="Rectangle 4">
            <a:extLst>
              <a:ext uri="{FF2B5EF4-FFF2-40B4-BE49-F238E27FC236}">
                <a16:creationId xmlns:a16="http://schemas.microsoft.com/office/drawing/2014/main" id="{19E1FF67-6C3B-4F9E-D72B-DCDF29D932CD}"/>
              </a:ext>
            </a:extLst>
          </p:cNvPr>
          <p:cNvSpPr/>
          <p:nvPr/>
        </p:nvSpPr>
        <p:spPr>
          <a:xfrm>
            <a:off x="423334" y="3619499"/>
            <a:ext cx="2772833" cy="22542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ea typeface="+mn-lt"/>
                <a:cs typeface="+mn-lt"/>
              </a:rPr>
              <a:t>Steady Initialization:</a:t>
            </a:r>
            <a:br>
              <a:rPr lang="en-US" b="1">
                <a:solidFill>
                  <a:schemeClr val="bg1"/>
                </a:solidFill>
                <a:ea typeface="+mn-lt"/>
                <a:cs typeface="+mn-lt"/>
              </a:rPr>
            </a:br>
            <a:r>
              <a:rPr lang="en-US" sz="1600">
                <a:solidFill>
                  <a:srgbClr val="000000"/>
                </a:solidFill>
                <a:ea typeface="+mn-lt"/>
                <a:cs typeface="+mn-lt"/>
              </a:rPr>
              <a:t> An initial steady-state run (3,000 iterations) established the fully developed velocity profiles and adverse pressure gradients, flushing out initialization noise.</a:t>
            </a:r>
            <a:endParaRPr lang="en-US"/>
          </a:p>
        </p:txBody>
      </p:sp>
      <p:sp>
        <p:nvSpPr>
          <p:cNvPr id="6" name="Rectangle 5">
            <a:extLst>
              <a:ext uri="{FF2B5EF4-FFF2-40B4-BE49-F238E27FC236}">
                <a16:creationId xmlns:a16="http://schemas.microsoft.com/office/drawing/2014/main" id="{93EBCDE9-A1C2-8215-1599-5E9631BCEB73}"/>
              </a:ext>
            </a:extLst>
          </p:cNvPr>
          <p:cNvSpPr/>
          <p:nvPr/>
        </p:nvSpPr>
        <p:spPr>
          <a:xfrm>
            <a:off x="4159249" y="3428999"/>
            <a:ext cx="3397250" cy="2624666"/>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ea typeface="+mn-lt"/>
                <a:cs typeface="+mn-lt"/>
              </a:rPr>
              <a:t>Transient Execution:</a:t>
            </a:r>
            <a:endParaRPr lang="en-US">
              <a:solidFill>
                <a:schemeClr val="bg1"/>
              </a:solidFill>
              <a:ea typeface="+mn-lt"/>
              <a:cs typeface="+mn-lt"/>
            </a:endParaRPr>
          </a:p>
          <a:p>
            <a:pPr algn="ctr"/>
            <a:r>
              <a:rPr lang="en-US">
                <a:solidFill>
                  <a:schemeClr val="bg1"/>
                </a:solidFill>
                <a:ea typeface="+mn-lt"/>
                <a:cs typeface="+mn-lt"/>
              </a:rPr>
              <a:t> </a:t>
            </a:r>
            <a:r>
              <a:rPr lang="en-US" sz="1600">
                <a:solidFill>
                  <a:srgbClr val="000000"/>
                </a:solidFill>
                <a:ea typeface="+mn-lt"/>
                <a:cs typeface="+mn-lt"/>
              </a:rPr>
              <a:t>The simulation transitioned to a bounded second-order implicit transient formulation. To prevent numerical shock, an "ease-in" time-stepping strategy was used (starting at 0.00001~s), before settling at an optimized 0.00025~s time step.</a:t>
            </a:r>
            <a:endParaRPr lang="en-US"/>
          </a:p>
        </p:txBody>
      </p:sp>
      <p:sp>
        <p:nvSpPr>
          <p:cNvPr id="7" name="TextBox 6">
            <a:extLst>
              <a:ext uri="{FF2B5EF4-FFF2-40B4-BE49-F238E27FC236}">
                <a16:creationId xmlns:a16="http://schemas.microsoft.com/office/drawing/2014/main" id="{CA2D6582-3D15-AA44-C2B7-9200E6301BE5}"/>
              </a:ext>
            </a:extLst>
          </p:cNvPr>
          <p:cNvSpPr txBox="1"/>
          <p:nvPr/>
        </p:nvSpPr>
        <p:spPr>
          <a:xfrm>
            <a:off x="8085666" y="2487083"/>
            <a:ext cx="3820583" cy="1625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lvl="0" indent="-228600" algn="l" rtl="0">
              <a:lnSpc>
                <a:spcPts val="1725"/>
              </a:lnSpc>
              <a:buFont typeface=""/>
              <a:buChar char="•"/>
            </a:pPr>
            <a:r>
              <a:rPr lang="en-US" b="1" i="0" u="none" strike="noStrike" baseline="0">
                <a:solidFill>
                  <a:srgbClr val="000000"/>
                </a:solidFill>
                <a:latin typeface="Aptos Display"/>
                <a:ea typeface="Arial"/>
                <a:cs typeface="Arial"/>
              </a:rPr>
              <a:t>CFL Constraints:</a:t>
            </a:r>
            <a:r>
              <a:rPr lang="en-US" b="0" i="0" u="none" strike="noStrike" baseline="0">
                <a:solidFill>
                  <a:srgbClr val="000000"/>
                </a:solidFill>
                <a:latin typeface="Aptos Display"/>
                <a:ea typeface="Arial"/>
                <a:cs typeface="Arial"/>
              </a:rPr>
              <a:t> This optimized time step maintained a highly conservative global Cell Convective Courant Number (CFL) of ~ 0.11, peaking at only 1.35 in the absolute highest-velocity regions, preserving extreme temporal fidelity. </a:t>
            </a:r>
            <a:r>
              <a:rPr lang="en-US" b="0" i="0">
                <a:solidFill>
                  <a:srgbClr val="000000"/>
                </a:solidFill>
                <a:latin typeface="Aptos Display"/>
                <a:ea typeface="Arial"/>
                <a:cs typeface="Arial"/>
              </a:rPr>
              <a:t>​</a:t>
            </a:r>
          </a:p>
        </p:txBody>
      </p:sp>
      <p:sp>
        <p:nvSpPr>
          <p:cNvPr id="8" name="Arrow: Right 7">
            <a:extLst>
              <a:ext uri="{FF2B5EF4-FFF2-40B4-BE49-F238E27FC236}">
                <a16:creationId xmlns:a16="http://schemas.microsoft.com/office/drawing/2014/main" id="{0D718BB7-A9CB-A643-80F6-7A41D56846BF}"/>
              </a:ext>
            </a:extLst>
          </p:cNvPr>
          <p:cNvSpPr/>
          <p:nvPr/>
        </p:nvSpPr>
        <p:spPr>
          <a:xfrm>
            <a:off x="3323166" y="4434416"/>
            <a:ext cx="730250" cy="613833"/>
          </a:xfrm>
          <a:prstGeom prst="rightArrow">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B8BD45AF-3C3F-7930-0FC6-52F6C2DE37CC}"/>
              </a:ext>
            </a:extLst>
          </p:cNvPr>
          <p:cNvSpPr/>
          <p:nvPr/>
        </p:nvSpPr>
        <p:spPr>
          <a:xfrm>
            <a:off x="8085667" y="4508500"/>
            <a:ext cx="3820582" cy="1619250"/>
          </a:xfrm>
          <a:prstGeom prst="rect">
            <a:avLst/>
          </a:prstGeom>
          <a:no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rgbClr val="0070C0"/>
                </a:solidFill>
              </a:rPr>
              <a:t>Both the cases were run for a physical time of </a:t>
            </a:r>
            <a:r>
              <a:rPr lang="en-GB" b="1" dirty="0">
                <a:solidFill>
                  <a:srgbClr val="0070C0"/>
                </a:solidFill>
              </a:rPr>
              <a:t>0.3s</a:t>
            </a:r>
            <a:r>
              <a:rPr lang="en-GB" dirty="0">
                <a:solidFill>
                  <a:srgbClr val="0070C0"/>
                </a:solidFill>
              </a:rPr>
              <a:t> (this is after the flow has established and stabilized </a:t>
            </a:r>
            <a:r>
              <a:rPr lang="en-GB">
                <a:solidFill>
                  <a:srgbClr val="0070C0"/>
                </a:solidFill>
              </a:rPr>
              <a:t>with the local FTT far exceeding the </a:t>
            </a:r>
            <a:r>
              <a:rPr lang="en-GB" dirty="0">
                <a:solidFill>
                  <a:srgbClr val="0070C0"/>
                </a:solidFill>
              </a:rPr>
              <a:t>3-5 threshold advised)</a:t>
            </a:r>
          </a:p>
        </p:txBody>
      </p:sp>
    </p:spTree>
    <p:extLst>
      <p:ext uri="{BB962C8B-B14F-4D97-AF65-F5344CB8AC3E}">
        <p14:creationId xmlns:p14="http://schemas.microsoft.com/office/powerpoint/2010/main" val="1492753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535E5-38DF-9AAE-92D3-EDB7D71F1311}"/>
              </a:ext>
            </a:extLst>
          </p:cNvPr>
          <p:cNvSpPr>
            <a:spLocks noGrp="1"/>
          </p:cNvSpPr>
          <p:nvPr>
            <p:ph type="title"/>
          </p:nvPr>
        </p:nvSpPr>
        <p:spPr/>
        <p:txBody>
          <a:bodyPr>
            <a:normAutofit fontScale="90000"/>
          </a:bodyPr>
          <a:lstStyle/>
          <a:p>
            <a:r>
              <a:rPr lang="en-GB"/>
              <a:t>Appendix A: Detailed  Numerical Methodology</a:t>
            </a:r>
            <a:endParaRPr lang="en-GB" b="0" i="0">
              <a:solidFill>
                <a:srgbClr val="000000"/>
              </a:solidFill>
            </a:endParaRPr>
          </a:p>
        </p:txBody>
      </p:sp>
      <p:sp>
        <p:nvSpPr>
          <p:cNvPr id="3" name="TextBox 2">
            <a:extLst>
              <a:ext uri="{FF2B5EF4-FFF2-40B4-BE49-F238E27FC236}">
                <a16:creationId xmlns:a16="http://schemas.microsoft.com/office/drawing/2014/main" id="{773C5BEB-7DB3-92EC-A647-73512E7E3906}"/>
              </a:ext>
            </a:extLst>
          </p:cNvPr>
          <p:cNvSpPr txBox="1"/>
          <p:nvPr/>
        </p:nvSpPr>
        <p:spPr>
          <a:xfrm>
            <a:off x="105833" y="1100667"/>
            <a:ext cx="5069417"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a:latin typeface="Aptos Display"/>
                <a:ea typeface="Google Sans Text"/>
                <a:cs typeface="Google Sans Text"/>
              </a:rPr>
              <a:t>Convergence Verification:</a:t>
            </a:r>
            <a:r>
              <a:rPr lang="en-US">
                <a:latin typeface="Aptos Display"/>
                <a:ea typeface="Google Sans Text"/>
                <a:cs typeface="Google Sans Text"/>
              </a:rPr>
              <a:t> Residual controls were enforced as follows: </a:t>
            </a:r>
            <a:br>
              <a:rPr lang="en-US">
                <a:latin typeface="Aptos Display"/>
                <a:ea typeface="Google Sans Text"/>
                <a:cs typeface="Google Sans Text"/>
              </a:rPr>
            </a:br>
            <a:r>
              <a:rPr lang="en-US" b="1">
                <a:latin typeface="Aptos Display"/>
                <a:ea typeface="Google Sans Text"/>
                <a:cs typeface="Google Sans Text"/>
              </a:rPr>
              <a:t>-1E-06</a:t>
            </a:r>
            <a:r>
              <a:rPr lang="en-US">
                <a:latin typeface="Aptos Display"/>
                <a:ea typeface="Google Sans Text"/>
                <a:cs typeface="Google Sans Text"/>
              </a:rPr>
              <a:t> for Cartesian velocity components to resolve directional shear</a:t>
            </a:r>
            <a:br>
              <a:rPr lang="en-US">
                <a:latin typeface="Aptos Display"/>
                <a:ea typeface="Google Sans Text"/>
                <a:cs typeface="Google Sans Text"/>
              </a:rPr>
            </a:br>
            <a:r>
              <a:rPr lang="en-US" b="1">
                <a:latin typeface="Aptos Display"/>
                <a:ea typeface="Google Sans Text"/>
                <a:cs typeface="Google Sans Text"/>
              </a:rPr>
              <a:t>-1E-05</a:t>
            </a:r>
            <a:r>
              <a:rPr lang="en-US">
                <a:latin typeface="Aptos Display"/>
                <a:ea typeface="Google Sans Text"/>
                <a:cs typeface="Google Sans Text"/>
              </a:rPr>
              <a:t> for k &amp; </a:t>
            </a:r>
            <a:r>
              <a:rPr lang="en-US">
                <a:latin typeface="Aptos Display"/>
                <a:ea typeface="+mn-lt"/>
                <a:cs typeface="+mn-lt"/>
              </a:rPr>
              <a:t>ω</a:t>
            </a:r>
            <a:br>
              <a:rPr lang="en-US">
                <a:latin typeface="Aptos Display"/>
                <a:ea typeface="Google Sans Text"/>
                <a:cs typeface="Google Sans Text"/>
              </a:rPr>
            </a:br>
            <a:r>
              <a:rPr lang="en-US">
                <a:latin typeface="Aptos Display"/>
                <a:ea typeface="Google Sans Text"/>
                <a:cs typeface="Google Sans Text"/>
              </a:rPr>
              <a:t>-The continuity residual naturally plateaued at </a:t>
            </a:r>
            <a:r>
              <a:rPr lang="en-US" b="1">
                <a:latin typeface="Aptos Display"/>
                <a:ea typeface="Google Sans Text"/>
                <a:cs typeface="Google Sans Text"/>
              </a:rPr>
              <a:t>1E-04</a:t>
            </a:r>
            <a:r>
              <a:rPr lang="en-US">
                <a:latin typeface="Aptos Display"/>
                <a:ea typeface="Google Sans Text"/>
                <a:cs typeface="Google Sans Text"/>
              </a:rPr>
              <a:t> due to intense pressure-velocity coupling: a global boundary mass flux evaluation yielded a negligible imbalance of </a:t>
            </a:r>
            <a:r>
              <a:rPr lang="en-US" b="1">
                <a:latin typeface="Aptos Display"/>
                <a:ea typeface="Google Sans Text"/>
                <a:cs typeface="Google Sans Text"/>
              </a:rPr>
              <a:t>0.0002%</a:t>
            </a:r>
            <a:r>
              <a:rPr lang="en-US">
                <a:latin typeface="Aptos Display"/>
                <a:ea typeface="Google Sans Text"/>
                <a:cs typeface="Google Sans Text"/>
              </a:rPr>
              <a:t>, satisfying the </a:t>
            </a:r>
            <a:r>
              <a:rPr lang="en-US" b="1">
                <a:latin typeface="Aptos Display"/>
                <a:ea typeface="Google Sans Text"/>
                <a:cs typeface="Google Sans Text"/>
              </a:rPr>
              <a:t>&lt;0.2%</a:t>
            </a:r>
            <a:r>
              <a:rPr lang="en-US">
                <a:latin typeface="Aptos Display"/>
                <a:ea typeface="Google Sans Text"/>
                <a:cs typeface="Google Sans Text"/>
              </a:rPr>
              <a:t> industry standard for continuity resolution.</a:t>
            </a:r>
            <a:endParaRPr lang="en-US">
              <a:latin typeface="Aptos Display"/>
            </a:endParaRPr>
          </a:p>
        </p:txBody>
      </p:sp>
      <p:pic>
        <p:nvPicPr>
          <p:cNvPr id="7" name="Picture 6" descr="A graph showing different colored lines&#10;&#10;AI-generated content may be incorrect.">
            <a:extLst>
              <a:ext uri="{FF2B5EF4-FFF2-40B4-BE49-F238E27FC236}">
                <a16:creationId xmlns:a16="http://schemas.microsoft.com/office/drawing/2014/main" id="{E042B711-67B0-A87C-33FF-26E86F4C0172}"/>
              </a:ext>
            </a:extLst>
          </p:cNvPr>
          <p:cNvPicPr>
            <a:picLocks noChangeAspect="1"/>
          </p:cNvPicPr>
          <p:nvPr/>
        </p:nvPicPr>
        <p:blipFill>
          <a:blip r:embed="rId2"/>
          <a:srcRect l="-566" t="627" r="775" b="7122"/>
          <a:stretch>
            <a:fillRect/>
          </a:stretch>
        </p:blipFill>
        <p:spPr>
          <a:xfrm>
            <a:off x="5175250" y="1100667"/>
            <a:ext cx="6808801" cy="3421030"/>
          </a:xfrm>
          <a:prstGeom prst="rect">
            <a:avLst/>
          </a:prstGeom>
        </p:spPr>
      </p:pic>
      <p:sp>
        <p:nvSpPr>
          <p:cNvPr id="4" name="Arrow: Down 3">
            <a:extLst>
              <a:ext uri="{FF2B5EF4-FFF2-40B4-BE49-F238E27FC236}">
                <a16:creationId xmlns:a16="http://schemas.microsoft.com/office/drawing/2014/main" id="{AFF56CCC-BACD-6322-5699-DDA366096923}"/>
              </a:ext>
            </a:extLst>
          </p:cNvPr>
          <p:cNvSpPr/>
          <p:nvPr/>
        </p:nvSpPr>
        <p:spPr>
          <a:xfrm rot="4020000">
            <a:off x="6057088" y="1505636"/>
            <a:ext cx="601049" cy="5063574"/>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372CFAC3-53C5-193A-6594-D2DCAF6180A2}"/>
              </a:ext>
            </a:extLst>
          </p:cNvPr>
          <p:cNvSpPr/>
          <p:nvPr/>
        </p:nvSpPr>
        <p:spPr>
          <a:xfrm>
            <a:off x="550333" y="4127500"/>
            <a:ext cx="3357359" cy="194489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sz="1600">
              <a:solidFill>
                <a:srgbClr val="000000"/>
              </a:solidFill>
              <a:latin typeface="Aptos Display"/>
            </a:endParaRPr>
          </a:p>
          <a:p>
            <a:r>
              <a:rPr lang="en-US" sz="1600">
                <a:solidFill>
                  <a:srgbClr val="000000"/>
                </a:solidFill>
                <a:latin typeface="Aptos Display"/>
              </a:rPr>
              <a:t>The transient residual </a:t>
            </a:r>
            <a:r>
              <a:rPr lang="en-US" sz="1600" b="1" i="1">
                <a:solidFill>
                  <a:srgbClr val="000000"/>
                </a:solidFill>
                <a:latin typeface="Aptos Display"/>
              </a:rPr>
              <a:t>"sawtooth"</a:t>
            </a:r>
            <a:r>
              <a:rPr lang="en-US" sz="1600">
                <a:solidFill>
                  <a:srgbClr val="000000"/>
                </a:solidFill>
                <a:latin typeface="Aptos Display"/>
              </a:rPr>
              <a:t> pattern visually maps the stabilization of the pressure-velocity coupling. As flow dynamics establish, internal iterations per time step decrease, yielding a densely packed, high-frequency residual footprint. </a:t>
            </a:r>
            <a:endParaRPr lang="en-US" sz="1600"/>
          </a:p>
          <a:p>
            <a:pPr algn="ctr"/>
            <a:endParaRPr lang="en-GB"/>
          </a:p>
        </p:txBody>
      </p:sp>
      <p:graphicFrame>
        <p:nvGraphicFramePr>
          <p:cNvPr id="8" name="Table 7">
            <a:extLst>
              <a:ext uri="{FF2B5EF4-FFF2-40B4-BE49-F238E27FC236}">
                <a16:creationId xmlns:a16="http://schemas.microsoft.com/office/drawing/2014/main" id="{4871A205-61ED-4488-DF05-A7D30D3F3928}"/>
              </a:ext>
            </a:extLst>
          </p:cNvPr>
          <p:cNvGraphicFramePr>
            <a:graphicFrameLocks noGrp="1"/>
          </p:cNvGraphicFramePr>
          <p:nvPr/>
        </p:nvGraphicFramePr>
        <p:xfrm>
          <a:off x="4688416" y="4942416"/>
          <a:ext cx="7503335" cy="1294083"/>
        </p:xfrm>
        <a:graphic>
          <a:graphicData uri="http://schemas.openxmlformats.org/drawingml/2006/table">
            <a:tbl>
              <a:tblPr bandRow="1">
                <a:tableStyleId>{5C22544A-7EE6-4342-B048-85BDC9FD1C3A}</a:tableStyleId>
              </a:tblPr>
              <a:tblGrid>
                <a:gridCol w="1071905">
                  <a:extLst>
                    <a:ext uri="{9D8B030D-6E8A-4147-A177-3AD203B41FA5}">
                      <a16:colId xmlns:a16="http://schemas.microsoft.com/office/drawing/2014/main" val="129184303"/>
                    </a:ext>
                  </a:extLst>
                </a:gridCol>
                <a:gridCol w="1071905">
                  <a:extLst>
                    <a:ext uri="{9D8B030D-6E8A-4147-A177-3AD203B41FA5}">
                      <a16:colId xmlns:a16="http://schemas.microsoft.com/office/drawing/2014/main" val="4077291432"/>
                    </a:ext>
                  </a:extLst>
                </a:gridCol>
                <a:gridCol w="1071905">
                  <a:extLst>
                    <a:ext uri="{9D8B030D-6E8A-4147-A177-3AD203B41FA5}">
                      <a16:colId xmlns:a16="http://schemas.microsoft.com/office/drawing/2014/main" val="3372121338"/>
                    </a:ext>
                  </a:extLst>
                </a:gridCol>
                <a:gridCol w="1071905">
                  <a:extLst>
                    <a:ext uri="{9D8B030D-6E8A-4147-A177-3AD203B41FA5}">
                      <a16:colId xmlns:a16="http://schemas.microsoft.com/office/drawing/2014/main" val="2943132882"/>
                    </a:ext>
                  </a:extLst>
                </a:gridCol>
                <a:gridCol w="1071905">
                  <a:extLst>
                    <a:ext uri="{9D8B030D-6E8A-4147-A177-3AD203B41FA5}">
                      <a16:colId xmlns:a16="http://schemas.microsoft.com/office/drawing/2014/main" val="2350868820"/>
                    </a:ext>
                  </a:extLst>
                </a:gridCol>
                <a:gridCol w="1071905">
                  <a:extLst>
                    <a:ext uri="{9D8B030D-6E8A-4147-A177-3AD203B41FA5}">
                      <a16:colId xmlns:a16="http://schemas.microsoft.com/office/drawing/2014/main" val="2830678395"/>
                    </a:ext>
                  </a:extLst>
                </a:gridCol>
                <a:gridCol w="1071905">
                  <a:extLst>
                    <a:ext uri="{9D8B030D-6E8A-4147-A177-3AD203B41FA5}">
                      <a16:colId xmlns:a16="http://schemas.microsoft.com/office/drawing/2014/main" val="3979967965"/>
                    </a:ext>
                  </a:extLst>
                </a:gridCol>
              </a:tblGrid>
              <a:tr h="431361">
                <a:tc>
                  <a:txBody>
                    <a:bodyPr/>
                    <a:lstStyle/>
                    <a:p>
                      <a:pPr marL="0" marR="0">
                        <a:spcAft>
                          <a:spcPts val="2400"/>
                        </a:spcAft>
                        <a:buNone/>
                      </a:pPr>
                      <a:r>
                        <a:rPr lang="en-GB" sz="1000" b="1">
                          <a:effectLst/>
                          <a:latin typeface="Google Sans Text"/>
                        </a:rPr>
                        <a:t>Configuration</a:t>
                      </a:r>
                      <a:endParaRPr lang="en-GB" sz="1000">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b="1">
                          <a:effectLst/>
                          <a:latin typeface="Google Sans Text"/>
                        </a:rPr>
                        <a:t>Continuity</a:t>
                      </a:r>
                      <a:endParaRPr lang="en-GB" sz="1000">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b="1">
                          <a:effectLst/>
                          <a:latin typeface="Google Sans Text"/>
                        </a:rPr>
                        <a:t>X-velocity</a:t>
                      </a:r>
                      <a:endParaRPr lang="en-GB" sz="1000">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b="1">
                          <a:effectLst/>
                          <a:latin typeface="Google Sans Text"/>
                        </a:rPr>
                        <a:t>Y-velocity</a:t>
                      </a:r>
                      <a:endParaRPr lang="en-GB" sz="1000">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b="1">
                          <a:effectLst/>
                          <a:latin typeface="Google Sans Text"/>
                        </a:rPr>
                        <a:t>Z-velocity</a:t>
                      </a:r>
                      <a:endParaRPr lang="en-GB" sz="1000">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b="1">
                          <a:effectLst/>
                          <a:latin typeface="Google Sans Text"/>
                        </a:rPr>
                        <a:t>k</a:t>
                      </a:r>
                      <a:endParaRPr lang="en-GB" sz="1000">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b="1">
                          <a:effectLst/>
                          <a:latin typeface="Google Sans Text"/>
                        </a:rPr>
                        <a:t>ω</a:t>
                      </a:r>
                      <a:endParaRPr lang="en-GB" sz="1000">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525857779"/>
                  </a:ext>
                </a:extLst>
              </a:tr>
              <a:tr h="431361">
                <a:tc>
                  <a:txBody>
                    <a:bodyPr/>
                    <a:lstStyle/>
                    <a:p>
                      <a:pPr marL="0" marR="0">
                        <a:spcAft>
                          <a:spcPts val="2400"/>
                        </a:spcAft>
                        <a:buNone/>
                      </a:pPr>
                      <a:r>
                        <a:rPr lang="en-GB" sz="1000" b="1">
                          <a:effectLst/>
                          <a:latin typeface="Google Sans Text"/>
                        </a:rPr>
                        <a:t>Counter-swirler</a:t>
                      </a:r>
                      <a:endParaRPr lang="en-GB" sz="1000">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a:effectLst/>
                          <a:latin typeface="Google Sans Text"/>
                        </a:rPr>
                        <a:t>2.8110e-03</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a:effectLst/>
                          <a:latin typeface="Google Sans Text"/>
                        </a:rPr>
                        <a:t>1.7880e-07</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a:effectLst/>
                          <a:latin typeface="Google Sans Text"/>
                        </a:rPr>
                        <a:t>1.4582e-06</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a:effectLst/>
                          <a:latin typeface="Google Sans Text"/>
                        </a:rPr>
                        <a:t>1.8488e-07</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a:effectLst/>
                          <a:latin typeface="Google Sans Text"/>
                        </a:rPr>
                        <a:t>6.1369e-06</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a:effectLst/>
                          <a:latin typeface="Google Sans Text"/>
                        </a:rPr>
                        <a:t>3.2720e-05</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701492388"/>
                  </a:ext>
                </a:extLst>
              </a:tr>
              <a:tr h="431361">
                <a:tc>
                  <a:txBody>
                    <a:bodyPr/>
                    <a:lstStyle/>
                    <a:p>
                      <a:pPr marL="0" marR="0">
                        <a:spcAft>
                          <a:spcPts val="2400"/>
                        </a:spcAft>
                        <a:buNone/>
                      </a:pPr>
                      <a:r>
                        <a:rPr lang="en-GB" sz="1000" b="1">
                          <a:effectLst/>
                          <a:latin typeface="Google Sans Text"/>
                        </a:rPr>
                        <a:t>Co-swirler</a:t>
                      </a:r>
                      <a:endParaRPr lang="en-GB" sz="1000">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a:effectLst/>
                          <a:latin typeface="Google Sans Text"/>
                        </a:rPr>
                        <a:t>2.5922e-03</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a:effectLst/>
                          <a:latin typeface="Google Sans Text"/>
                        </a:rPr>
                        <a:t>1.5932e-07</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a:effectLst/>
                          <a:latin typeface="Google Sans Text"/>
                        </a:rPr>
                        <a:t>3.4902e-07</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a:effectLst/>
                          <a:latin typeface="Google Sans Text"/>
                        </a:rPr>
                        <a:t>1.9510e-07</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a:effectLst/>
                          <a:latin typeface="Google Sans Text"/>
                        </a:rPr>
                        <a:t>3.2629e-06</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marL="0" marR="0">
                        <a:spcAft>
                          <a:spcPts val="2400"/>
                        </a:spcAft>
                        <a:buNone/>
                      </a:pPr>
                      <a:r>
                        <a:rPr lang="en-GB" sz="1000">
                          <a:effectLst/>
                          <a:latin typeface="Google Sans Text"/>
                        </a:rPr>
                        <a:t>4.0278e-05</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890158767"/>
                  </a:ext>
                </a:extLst>
              </a:tr>
            </a:tbl>
          </a:graphicData>
        </a:graphic>
      </p:graphicFrame>
      <p:sp>
        <p:nvSpPr>
          <p:cNvPr id="6" name="TextBox 5">
            <a:extLst>
              <a:ext uri="{FF2B5EF4-FFF2-40B4-BE49-F238E27FC236}">
                <a16:creationId xmlns:a16="http://schemas.microsoft.com/office/drawing/2014/main" id="{5FAD6E84-F7E5-89E5-D7AF-A5E2DCAD4DAF}"/>
              </a:ext>
            </a:extLst>
          </p:cNvPr>
          <p:cNvSpPr txBox="1"/>
          <p:nvPr/>
        </p:nvSpPr>
        <p:spPr>
          <a:xfrm>
            <a:off x="5355167" y="4571999"/>
            <a:ext cx="3810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Final residual values:</a:t>
            </a:r>
          </a:p>
        </p:txBody>
      </p:sp>
    </p:spTree>
    <p:extLst>
      <p:ext uri="{BB962C8B-B14F-4D97-AF65-F5344CB8AC3E}">
        <p14:creationId xmlns:p14="http://schemas.microsoft.com/office/powerpoint/2010/main" val="1704086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CC9C6-489F-FA69-32EC-E5BD94953CD9}"/>
              </a:ext>
            </a:extLst>
          </p:cNvPr>
          <p:cNvSpPr>
            <a:spLocks noGrp="1"/>
          </p:cNvSpPr>
          <p:nvPr>
            <p:ph type="title"/>
          </p:nvPr>
        </p:nvSpPr>
        <p:spPr/>
        <p:txBody>
          <a:bodyPr/>
          <a:lstStyle/>
          <a:p>
            <a:r>
              <a:rPr lang="en-GB">
                <a:solidFill>
                  <a:srgbClr val="FFFFFF"/>
                </a:solidFill>
              </a:rPr>
              <a:t>Appendix A: Mesh Independence</a:t>
            </a:r>
          </a:p>
        </p:txBody>
      </p:sp>
      <p:pic>
        <p:nvPicPr>
          <p:cNvPr id="3" name="Picture 2">
            <a:extLst>
              <a:ext uri="{FF2B5EF4-FFF2-40B4-BE49-F238E27FC236}">
                <a16:creationId xmlns:a16="http://schemas.microsoft.com/office/drawing/2014/main" id="{5B2A2318-D279-C1B7-CB8B-FB7C4268B623}"/>
              </a:ext>
            </a:extLst>
          </p:cNvPr>
          <p:cNvPicPr>
            <a:picLocks noChangeAspect="1"/>
          </p:cNvPicPr>
          <p:nvPr/>
        </p:nvPicPr>
        <p:blipFill>
          <a:blip r:embed="rId2"/>
          <a:stretch>
            <a:fillRect/>
          </a:stretch>
        </p:blipFill>
        <p:spPr>
          <a:xfrm>
            <a:off x="0" y="2861206"/>
            <a:ext cx="4624917" cy="3294592"/>
          </a:xfrm>
          <a:prstGeom prst="rect">
            <a:avLst/>
          </a:prstGeom>
        </p:spPr>
      </p:pic>
      <p:sp>
        <p:nvSpPr>
          <p:cNvPr id="5" name="TextBox 4">
            <a:extLst>
              <a:ext uri="{FF2B5EF4-FFF2-40B4-BE49-F238E27FC236}">
                <a16:creationId xmlns:a16="http://schemas.microsoft.com/office/drawing/2014/main" id="{E535D07D-1970-A96D-F1A4-E4B7E15630CF}"/>
              </a:ext>
            </a:extLst>
          </p:cNvPr>
          <p:cNvSpPr txBox="1"/>
          <p:nvPr/>
        </p:nvSpPr>
        <p:spPr>
          <a:xfrm>
            <a:off x="190500" y="1248833"/>
            <a:ext cx="4629801"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0" u="none" strike="noStrike" baseline="0">
                <a:solidFill>
                  <a:srgbClr val="000000"/>
                </a:solidFill>
                <a:latin typeface="Aptos Display"/>
              </a:rPr>
              <a:t>Mesh Independence:</a:t>
            </a:r>
            <a:r>
              <a:rPr lang="en-US" sz="1600" b="0" i="0" u="none" strike="noStrike" baseline="0">
                <a:solidFill>
                  <a:srgbClr val="000000"/>
                </a:solidFill>
                <a:latin typeface="Aptos Display"/>
              </a:rPr>
              <a:t> A sensitivity study across coarse (~440k</a:t>
            </a:r>
            <a:r>
              <a:rPr lang="en-US" sz="1600">
                <a:solidFill>
                  <a:srgbClr val="000000"/>
                </a:solidFill>
                <a:latin typeface="Aptos Display"/>
              </a:rPr>
              <a:t>)- red,</a:t>
            </a:r>
            <a:r>
              <a:rPr lang="en-US" sz="1600" b="0" i="0" u="none" strike="noStrike" baseline="0">
                <a:solidFill>
                  <a:srgbClr val="000000"/>
                </a:solidFill>
                <a:latin typeface="Aptos Display"/>
              </a:rPr>
              <a:t> medium (~830k</a:t>
            </a:r>
            <a:r>
              <a:rPr lang="en-US" sz="1600">
                <a:solidFill>
                  <a:srgbClr val="000000"/>
                </a:solidFill>
                <a:latin typeface="Aptos Display"/>
              </a:rPr>
              <a:t>)- green,</a:t>
            </a:r>
            <a:r>
              <a:rPr lang="en-US" sz="1600" b="0" i="0" u="none" strike="noStrike" baseline="0">
                <a:solidFill>
                  <a:srgbClr val="000000"/>
                </a:solidFill>
                <a:latin typeface="Aptos Display"/>
              </a:rPr>
              <a:t> and fine (~2.2M</a:t>
            </a:r>
            <a:r>
              <a:rPr lang="en-US" sz="1600">
                <a:solidFill>
                  <a:srgbClr val="000000"/>
                </a:solidFill>
                <a:latin typeface="Aptos Display"/>
              </a:rPr>
              <a:t>)- blue,</a:t>
            </a:r>
            <a:r>
              <a:rPr lang="en-US" sz="1600" b="0" i="0" u="none" strike="noStrike" baseline="0">
                <a:solidFill>
                  <a:srgbClr val="000000"/>
                </a:solidFill>
                <a:latin typeface="Aptos Display"/>
              </a:rPr>
              <a:t> grids proved independence, as the extracted velocity profiles for the medium and fine meshes exhibited near-identical overlay patterns</a:t>
            </a:r>
            <a:r>
              <a:rPr sz="1600" b="0" i="0">
                <a:solidFill>
                  <a:srgbClr val="000000"/>
                </a:solidFill>
                <a:latin typeface="Aptos Display"/>
                <a:ea typeface="Aptos Display"/>
                <a:cs typeface="Aptos Display"/>
              </a:rPr>
              <a:t>​</a:t>
            </a:r>
            <a:r>
              <a:rPr lang="en-US" sz="1600">
                <a:solidFill>
                  <a:srgbClr val="000000"/>
                </a:solidFill>
                <a:latin typeface="Aptos Display"/>
                <a:ea typeface="Aptos Display"/>
                <a:cs typeface="Aptos Display"/>
              </a:rPr>
              <a:t>.</a:t>
            </a:r>
            <a:endParaRPr lang="en-GB"/>
          </a:p>
          <a:p>
            <a:pPr algn="ctr"/>
            <a:endParaRPr lang="en-GB"/>
          </a:p>
        </p:txBody>
      </p:sp>
      <p:pic>
        <p:nvPicPr>
          <p:cNvPr id="6" name="Picture 5" descr="A graph of a graph&#10;&#10;AI-generated content may be incorrect.">
            <a:extLst>
              <a:ext uri="{FF2B5EF4-FFF2-40B4-BE49-F238E27FC236}">
                <a16:creationId xmlns:a16="http://schemas.microsoft.com/office/drawing/2014/main" id="{79278307-AE48-4763-3B7E-962DBA9A13D7}"/>
              </a:ext>
            </a:extLst>
          </p:cNvPr>
          <p:cNvPicPr>
            <a:picLocks noChangeAspect="1"/>
          </p:cNvPicPr>
          <p:nvPr/>
        </p:nvPicPr>
        <p:blipFill>
          <a:blip r:embed="rId3"/>
          <a:stretch>
            <a:fillRect/>
          </a:stretch>
        </p:blipFill>
        <p:spPr>
          <a:xfrm>
            <a:off x="4798483" y="1590147"/>
            <a:ext cx="7389283" cy="4640791"/>
          </a:xfrm>
          <a:prstGeom prst="rect">
            <a:avLst/>
          </a:prstGeom>
        </p:spPr>
      </p:pic>
      <p:sp>
        <p:nvSpPr>
          <p:cNvPr id="7" name="Rectangle 6">
            <a:extLst>
              <a:ext uri="{FF2B5EF4-FFF2-40B4-BE49-F238E27FC236}">
                <a16:creationId xmlns:a16="http://schemas.microsoft.com/office/drawing/2014/main" id="{12F242DD-B098-114F-8E0D-6F744B4328A0}"/>
              </a:ext>
            </a:extLst>
          </p:cNvPr>
          <p:cNvSpPr/>
          <p:nvPr/>
        </p:nvSpPr>
        <p:spPr>
          <a:xfrm>
            <a:off x="2497667" y="3122083"/>
            <a:ext cx="529166" cy="26035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Arrow: Right 7">
            <a:extLst>
              <a:ext uri="{FF2B5EF4-FFF2-40B4-BE49-F238E27FC236}">
                <a16:creationId xmlns:a16="http://schemas.microsoft.com/office/drawing/2014/main" id="{47D7B09F-4512-9313-2CF3-49CD646A5C97}"/>
              </a:ext>
            </a:extLst>
          </p:cNvPr>
          <p:cNvSpPr/>
          <p:nvPr/>
        </p:nvSpPr>
        <p:spPr>
          <a:xfrm>
            <a:off x="3026834" y="4508500"/>
            <a:ext cx="1979082" cy="941916"/>
          </a:xfrm>
          <a:prstGeom prst="rightArrow">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96091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99C4E-F335-1C52-27B9-30B6EE26F060}"/>
              </a:ext>
            </a:extLst>
          </p:cNvPr>
          <p:cNvSpPr>
            <a:spLocks noGrp="1"/>
          </p:cNvSpPr>
          <p:nvPr>
            <p:ph type="title"/>
          </p:nvPr>
        </p:nvSpPr>
        <p:spPr/>
        <p:txBody>
          <a:bodyPr>
            <a:normAutofit/>
          </a:bodyPr>
          <a:lstStyle/>
          <a:p>
            <a:r>
              <a:rPr lang="en-GB"/>
              <a:t>Appendix B: CFD vs PIV</a:t>
            </a:r>
            <a:endParaRPr lang="en-GB" b="0" i="0">
              <a:solidFill>
                <a:srgbClr val="000000"/>
              </a:solidFill>
            </a:endParaRPr>
          </a:p>
        </p:txBody>
      </p:sp>
      <p:pic>
        <p:nvPicPr>
          <p:cNvPr id="3" name="Picture 2">
            <a:extLst>
              <a:ext uri="{FF2B5EF4-FFF2-40B4-BE49-F238E27FC236}">
                <a16:creationId xmlns:a16="http://schemas.microsoft.com/office/drawing/2014/main" id="{CB56BB2E-A495-A8A1-8BD3-1E9AF18CBDD2}"/>
              </a:ext>
            </a:extLst>
          </p:cNvPr>
          <p:cNvPicPr>
            <a:picLocks noChangeAspect="1"/>
          </p:cNvPicPr>
          <p:nvPr/>
        </p:nvPicPr>
        <p:blipFill>
          <a:blip r:embed="rId2"/>
          <a:stretch>
            <a:fillRect/>
          </a:stretch>
        </p:blipFill>
        <p:spPr>
          <a:xfrm>
            <a:off x="-1587" y="1047749"/>
            <a:ext cx="5548841" cy="2571751"/>
          </a:xfrm>
          <a:prstGeom prst="rect">
            <a:avLst/>
          </a:prstGeom>
        </p:spPr>
      </p:pic>
      <p:pic>
        <p:nvPicPr>
          <p:cNvPr id="4" name="Picture 3">
            <a:extLst>
              <a:ext uri="{FF2B5EF4-FFF2-40B4-BE49-F238E27FC236}">
                <a16:creationId xmlns:a16="http://schemas.microsoft.com/office/drawing/2014/main" id="{4BDCD0D1-D5CF-1D91-75F0-6BCF961E8C4F}"/>
              </a:ext>
            </a:extLst>
          </p:cNvPr>
          <p:cNvPicPr>
            <a:picLocks noChangeAspect="1"/>
          </p:cNvPicPr>
          <p:nvPr/>
        </p:nvPicPr>
        <p:blipFill>
          <a:blip r:embed="rId3"/>
          <a:stretch>
            <a:fillRect/>
          </a:stretch>
        </p:blipFill>
        <p:spPr>
          <a:xfrm>
            <a:off x="530" y="3614208"/>
            <a:ext cx="5639858" cy="2561167"/>
          </a:xfrm>
          <a:prstGeom prst="rect">
            <a:avLst/>
          </a:prstGeom>
        </p:spPr>
      </p:pic>
      <p:pic>
        <p:nvPicPr>
          <p:cNvPr id="5" name="Picture 4" descr="A screenshot of a graph&#10;&#10;AI-generated content may be incorrect.">
            <a:extLst>
              <a:ext uri="{FF2B5EF4-FFF2-40B4-BE49-F238E27FC236}">
                <a16:creationId xmlns:a16="http://schemas.microsoft.com/office/drawing/2014/main" id="{FA5BF111-16FA-F5FF-7F73-E8320BC3125D}"/>
              </a:ext>
            </a:extLst>
          </p:cNvPr>
          <p:cNvPicPr>
            <a:picLocks noChangeAspect="1"/>
          </p:cNvPicPr>
          <p:nvPr/>
        </p:nvPicPr>
        <p:blipFill>
          <a:blip r:embed="rId4"/>
          <a:stretch>
            <a:fillRect/>
          </a:stretch>
        </p:blipFill>
        <p:spPr>
          <a:xfrm>
            <a:off x="5549371" y="1042458"/>
            <a:ext cx="5633509" cy="2571750"/>
          </a:xfrm>
          <a:prstGeom prst="rect">
            <a:avLst/>
          </a:prstGeom>
        </p:spPr>
      </p:pic>
      <p:sp>
        <p:nvSpPr>
          <p:cNvPr id="6" name="TextBox 5">
            <a:extLst>
              <a:ext uri="{FF2B5EF4-FFF2-40B4-BE49-F238E27FC236}">
                <a16:creationId xmlns:a16="http://schemas.microsoft.com/office/drawing/2014/main" id="{2CD32D79-3CD4-D48B-AF5B-62C9266447E4}"/>
              </a:ext>
            </a:extLst>
          </p:cNvPr>
          <p:cNvSpPr txBox="1"/>
          <p:nvPr/>
        </p:nvSpPr>
        <p:spPr>
          <a:xfrm>
            <a:off x="5715000" y="4093308"/>
            <a:ext cx="609600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GB" sz="1600" b="1" i="0" u="none" strike="noStrike" baseline="0">
                <a:solidFill>
                  <a:srgbClr val="000000"/>
                </a:solidFill>
                <a:latin typeface="Aptos"/>
                <a:ea typeface="Arial"/>
                <a:cs typeface="Arial"/>
              </a:rPr>
              <a:t>Co-Swirl Validation:</a:t>
            </a:r>
            <a:r>
              <a:rPr lang="en-GB" sz="1600" b="0" i="0" u="none" strike="noStrike" baseline="0">
                <a:solidFill>
                  <a:srgbClr val="000000"/>
                </a:solidFill>
                <a:latin typeface="Aptos"/>
                <a:ea typeface="Arial"/>
                <a:cs typeface="Arial"/>
              </a:rPr>
              <a:t> The transient CFD profiles successfully reproduce </a:t>
            </a:r>
            <a:r>
              <a:rPr lang="en-GB" sz="1600">
                <a:solidFill>
                  <a:srgbClr val="000000"/>
                </a:solidFill>
                <a:latin typeface="Aptos"/>
                <a:ea typeface="Arial"/>
                <a:cs typeface="Arial"/>
              </a:rPr>
              <a:t>the macroscopic</a:t>
            </a:r>
            <a:r>
              <a:rPr lang="en-GB" sz="1600" b="0" i="0" u="none" strike="noStrike" baseline="0">
                <a:solidFill>
                  <a:srgbClr val="000000"/>
                </a:solidFill>
                <a:latin typeface="Aptos"/>
                <a:ea typeface="Arial"/>
                <a:cs typeface="Arial"/>
              </a:rPr>
              <a:t> flow topology recorded in previous Stereo-PIV measurements,</a:t>
            </a:r>
            <a:r>
              <a:rPr lang="en-GB" sz="1600">
                <a:solidFill>
                  <a:srgbClr val="000000"/>
                </a:solidFill>
                <a:latin typeface="Aptos"/>
                <a:ea typeface="Arial"/>
                <a:cs typeface="Arial"/>
              </a:rPr>
              <a:t> </a:t>
            </a:r>
            <a:r>
              <a:rPr lang="en-GB" sz="1600" b="0" i="0" u="none" strike="noStrike" baseline="0">
                <a:solidFill>
                  <a:srgbClr val="000000"/>
                </a:solidFill>
                <a:latin typeface="Aptos"/>
                <a:ea typeface="Arial"/>
                <a:cs typeface="Arial"/>
              </a:rPr>
              <a:t>explicitly capturing the wide, M-shaped divergent jet trajectory and </a:t>
            </a:r>
            <a:r>
              <a:rPr lang="en-GB" sz="1600">
                <a:solidFill>
                  <a:srgbClr val="000000"/>
                </a:solidFill>
                <a:latin typeface="Aptos"/>
                <a:ea typeface="Arial"/>
                <a:cs typeface="Arial"/>
              </a:rPr>
              <a:t>the robust</a:t>
            </a:r>
            <a:r>
              <a:rPr lang="en-GB" sz="1600" b="0" i="0" u="none" strike="noStrike" baseline="0">
                <a:solidFill>
                  <a:srgbClr val="000000"/>
                </a:solidFill>
                <a:latin typeface="Aptos"/>
                <a:ea typeface="Arial"/>
                <a:cs typeface="Arial"/>
              </a:rPr>
              <a:t> reverse-flow pocket of the CRZ. </a:t>
            </a:r>
            <a:r>
              <a:rPr lang="en-US" sz="1600" b="0" i="0">
                <a:solidFill>
                  <a:srgbClr val="000000"/>
                </a:solidFill>
                <a:latin typeface="Aptos"/>
                <a:ea typeface="Arial"/>
                <a:cs typeface="Arial"/>
              </a:rPr>
              <a:t>​</a:t>
            </a:r>
          </a:p>
          <a:p>
            <a:pPr algn="ctr"/>
            <a:endParaRPr lang="en-GB"/>
          </a:p>
        </p:txBody>
      </p:sp>
    </p:spTree>
    <p:extLst>
      <p:ext uri="{BB962C8B-B14F-4D97-AF65-F5344CB8AC3E}">
        <p14:creationId xmlns:p14="http://schemas.microsoft.com/office/powerpoint/2010/main" val="3988131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B2516-F4E4-287E-3CF8-EBF247261356}"/>
              </a:ext>
            </a:extLst>
          </p:cNvPr>
          <p:cNvSpPr>
            <a:spLocks noGrp="1"/>
          </p:cNvSpPr>
          <p:nvPr>
            <p:ph type="title"/>
          </p:nvPr>
        </p:nvSpPr>
        <p:spPr/>
        <p:txBody>
          <a:bodyPr/>
          <a:lstStyle/>
          <a:p>
            <a:r>
              <a:rPr lang="en-GB"/>
              <a:t>Appendix B: CFD vs PIV</a:t>
            </a:r>
            <a:endParaRPr lang="en-US"/>
          </a:p>
        </p:txBody>
      </p:sp>
      <p:pic>
        <p:nvPicPr>
          <p:cNvPr id="3" name="Picture 2" descr="A graph of a graph of a graph&#10;&#10;AI-generated content may be incorrect.">
            <a:extLst>
              <a:ext uri="{FF2B5EF4-FFF2-40B4-BE49-F238E27FC236}">
                <a16:creationId xmlns:a16="http://schemas.microsoft.com/office/drawing/2014/main" id="{DDE42950-FC7E-2786-1219-FA325F7612AC}"/>
              </a:ext>
            </a:extLst>
          </p:cNvPr>
          <p:cNvPicPr>
            <a:picLocks noChangeAspect="1"/>
          </p:cNvPicPr>
          <p:nvPr/>
        </p:nvPicPr>
        <p:blipFill>
          <a:blip r:embed="rId2"/>
          <a:stretch>
            <a:fillRect/>
          </a:stretch>
        </p:blipFill>
        <p:spPr>
          <a:xfrm>
            <a:off x="0" y="989715"/>
            <a:ext cx="9271001" cy="2397188"/>
          </a:xfrm>
          <a:prstGeom prst="rect">
            <a:avLst/>
          </a:prstGeom>
        </p:spPr>
      </p:pic>
      <p:pic>
        <p:nvPicPr>
          <p:cNvPr id="4" name="Picture 3" descr="A graph of a graph&#10;&#10;AI-generated content may be incorrect.">
            <a:extLst>
              <a:ext uri="{FF2B5EF4-FFF2-40B4-BE49-F238E27FC236}">
                <a16:creationId xmlns:a16="http://schemas.microsoft.com/office/drawing/2014/main" id="{F7BF9AA4-FB73-97DC-F74B-7FEA5C686B51}"/>
              </a:ext>
            </a:extLst>
          </p:cNvPr>
          <p:cNvPicPr>
            <a:picLocks noChangeAspect="1"/>
          </p:cNvPicPr>
          <p:nvPr/>
        </p:nvPicPr>
        <p:blipFill>
          <a:blip r:embed="rId3"/>
          <a:stretch>
            <a:fillRect/>
          </a:stretch>
        </p:blipFill>
        <p:spPr>
          <a:xfrm>
            <a:off x="0" y="3267657"/>
            <a:ext cx="9271001" cy="2589147"/>
          </a:xfrm>
          <a:prstGeom prst="rect">
            <a:avLst/>
          </a:prstGeom>
        </p:spPr>
      </p:pic>
    </p:spTree>
    <p:extLst>
      <p:ext uri="{BB962C8B-B14F-4D97-AF65-F5344CB8AC3E}">
        <p14:creationId xmlns:p14="http://schemas.microsoft.com/office/powerpoint/2010/main" val="3246805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05E66-51EA-ABD3-F0A3-1F5ECE5C2721}"/>
              </a:ext>
            </a:extLst>
          </p:cNvPr>
          <p:cNvSpPr>
            <a:spLocks noGrp="1"/>
          </p:cNvSpPr>
          <p:nvPr>
            <p:ph type="title"/>
          </p:nvPr>
        </p:nvSpPr>
        <p:spPr/>
        <p:txBody>
          <a:bodyPr/>
          <a:lstStyle/>
          <a:p>
            <a:r>
              <a:rPr lang="en-GB"/>
              <a:t>Appendix B: CFD vs PIV</a:t>
            </a:r>
            <a:endParaRPr lang="en-US"/>
          </a:p>
        </p:txBody>
      </p:sp>
      <p:pic>
        <p:nvPicPr>
          <p:cNvPr id="3" name="Picture 2" descr="A graph of a graph of a graph&#10;&#10;AI-generated content may be incorrect.">
            <a:extLst>
              <a:ext uri="{FF2B5EF4-FFF2-40B4-BE49-F238E27FC236}">
                <a16:creationId xmlns:a16="http://schemas.microsoft.com/office/drawing/2014/main" id="{C83A03C1-7B73-F97B-603E-0FA8831C4129}"/>
              </a:ext>
            </a:extLst>
          </p:cNvPr>
          <p:cNvPicPr>
            <a:picLocks noChangeAspect="1"/>
          </p:cNvPicPr>
          <p:nvPr/>
        </p:nvPicPr>
        <p:blipFill>
          <a:blip r:embed="rId2"/>
          <a:stretch>
            <a:fillRect/>
          </a:stretch>
        </p:blipFill>
        <p:spPr>
          <a:xfrm>
            <a:off x="0" y="993450"/>
            <a:ext cx="9398000" cy="2648602"/>
          </a:xfrm>
          <a:prstGeom prst="rect">
            <a:avLst/>
          </a:prstGeom>
        </p:spPr>
      </p:pic>
      <p:pic>
        <p:nvPicPr>
          <p:cNvPr id="4" name="Picture 3" descr="A graph of a graph&#10;&#10;AI-generated content may be incorrect.">
            <a:extLst>
              <a:ext uri="{FF2B5EF4-FFF2-40B4-BE49-F238E27FC236}">
                <a16:creationId xmlns:a16="http://schemas.microsoft.com/office/drawing/2014/main" id="{923B91D6-0F17-1929-803F-268CD6E37D00}"/>
              </a:ext>
            </a:extLst>
          </p:cNvPr>
          <p:cNvPicPr>
            <a:picLocks noChangeAspect="1"/>
          </p:cNvPicPr>
          <p:nvPr/>
        </p:nvPicPr>
        <p:blipFill>
          <a:blip r:embed="rId3"/>
          <a:stretch>
            <a:fillRect/>
          </a:stretch>
        </p:blipFill>
        <p:spPr>
          <a:xfrm>
            <a:off x="0" y="3423941"/>
            <a:ext cx="9398000" cy="2655952"/>
          </a:xfrm>
          <a:prstGeom prst="rect">
            <a:avLst/>
          </a:prstGeom>
        </p:spPr>
      </p:pic>
    </p:spTree>
    <p:extLst>
      <p:ext uri="{BB962C8B-B14F-4D97-AF65-F5344CB8AC3E}">
        <p14:creationId xmlns:p14="http://schemas.microsoft.com/office/powerpoint/2010/main" val="4025621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12F77-2C99-B94C-783D-FE9C066BC05B}"/>
              </a:ext>
            </a:extLst>
          </p:cNvPr>
          <p:cNvSpPr>
            <a:spLocks noGrp="1"/>
          </p:cNvSpPr>
          <p:nvPr>
            <p:ph type="title"/>
          </p:nvPr>
        </p:nvSpPr>
        <p:spPr/>
        <p:txBody>
          <a:bodyPr/>
          <a:lstStyle/>
          <a:p>
            <a:r>
              <a:rPr lang="en-GB"/>
              <a:t>Appendix B: Co vs Counter</a:t>
            </a:r>
          </a:p>
        </p:txBody>
      </p:sp>
      <p:pic>
        <p:nvPicPr>
          <p:cNvPr id="3" name="Picture 2">
            <a:extLst>
              <a:ext uri="{FF2B5EF4-FFF2-40B4-BE49-F238E27FC236}">
                <a16:creationId xmlns:a16="http://schemas.microsoft.com/office/drawing/2014/main" id="{9EAF0350-6BDE-DA0E-99DA-7F32720BC225}"/>
              </a:ext>
            </a:extLst>
          </p:cNvPr>
          <p:cNvPicPr>
            <a:picLocks noChangeAspect="1"/>
          </p:cNvPicPr>
          <p:nvPr/>
        </p:nvPicPr>
        <p:blipFill>
          <a:blip r:embed="rId2"/>
          <a:stretch>
            <a:fillRect/>
          </a:stretch>
        </p:blipFill>
        <p:spPr>
          <a:xfrm>
            <a:off x="2646" y="977371"/>
            <a:ext cx="5699126" cy="2543177"/>
          </a:xfrm>
          <a:prstGeom prst="rect">
            <a:avLst/>
          </a:prstGeom>
        </p:spPr>
      </p:pic>
      <p:pic>
        <p:nvPicPr>
          <p:cNvPr id="4" name="Picture 3">
            <a:extLst>
              <a:ext uri="{FF2B5EF4-FFF2-40B4-BE49-F238E27FC236}">
                <a16:creationId xmlns:a16="http://schemas.microsoft.com/office/drawing/2014/main" id="{0CF02717-6AC8-AB23-F04C-2485D9BB4FB1}"/>
              </a:ext>
            </a:extLst>
          </p:cNvPr>
          <p:cNvPicPr>
            <a:picLocks noChangeAspect="1"/>
          </p:cNvPicPr>
          <p:nvPr/>
        </p:nvPicPr>
        <p:blipFill>
          <a:blip r:embed="rId3"/>
          <a:stretch>
            <a:fillRect/>
          </a:stretch>
        </p:blipFill>
        <p:spPr>
          <a:xfrm>
            <a:off x="0" y="3431136"/>
            <a:ext cx="5704417" cy="2546310"/>
          </a:xfrm>
          <a:prstGeom prst="rect">
            <a:avLst/>
          </a:prstGeom>
        </p:spPr>
      </p:pic>
      <p:pic>
        <p:nvPicPr>
          <p:cNvPr id="5" name="Picture 4" descr="A screenshot of a graph&#10;&#10;AI-generated content may be incorrect.">
            <a:extLst>
              <a:ext uri="{FF2B5EF4-FFF2-40B4-BE49-F238E27FC236}">
                <a16:creationId xmlns:a16="http://schemas.microsoft.com/office/drawing/2014/main" id="{682D228E-9244-B268-E082-B49A1F58A1FD}"/>
              </a:ext>
            </a:extLst>
          </p:cNvPr>
          <p:cNvPicPr>
            <a:picLocks noChangeAspect="1"/>
          </p:cNvPicPr>
          <p:nvPr/>
        </p:nvPicPr>
        <p:blipFill>
          <a:blip r:embed="rId4"/>
          <a:stretch>
            <a:fillRect/>
          </a:stretch>
        </p:blipFill>
        <p:spPr>
          <a:xfrm>
            <a:off x="5704416" y="978438"/>
            <a:ext cx="5704417" cy="2541040"/>
          </a:xfrm>
          <a:prstGeom prst="rect">
            <a:avLst/>
          </a:prstGeom>
        </p:spPr>
      </p:pic>
      <p:sp>
        <p:nvSpPr>
          <p:cNvPr id="6" name="TextBox 5">
            <a:extLst>
              <a:ext uri="{FF2B5EF4-FFF2-40B4-BE49-F238E27FC236}">
                <a16:creationId xmlns:a16="http://schemas.microsoft.com/office/drawing/2014/main" id="{C744F20D-A831-21B8-CBEC-715E4FE93F03}"/>
              </a:ext>
            </a:extLst>
          </p:cNvPr>
          <p:cNvSpPr txBox="1"/>
          <p:nvPr/>
        </p:nvSpPr>
        <p:spPr>
          <a:xfrm>
            <a:off x="5705231" y="4044462"/>
            <a:ext cx="6096000"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GB" sz="1600" b="1" i="0" u="none" strike="noStrike" baseline="0">
                <a:solidFill>
                  <a:srgbClr val="000000"/>
                </a:solidFill>
                <a:latin typeface="Aptos"/>
                <a:ea typeface="Arial"/>
                <a:cs typeface="Arial"/>
              </a:rPr>
              <a:t>Counter-Swirl Aerodynamics:</a:t>
            </a:r>
            <a:r>
              <a:rPr lang="en-GB" sz="1600" b="0" i="0" u="none" strike="noStrike" baseline="0">
                <a:solidFill>
                  <a:srgbClr val="000000"/>
                </a:solidFill>
                <a:latin typeface="Aptos"/>
                <a:ea typeface="Arial"/>
                <a:cs typeface="Arial"/>
              </a:rPr>
              <a:t> Reversing the inner swirl generates </a:t>
            </a:r>
            <a:r>
              <a:rPr lang="en-GB" sz="1600">
                <a:solidFill>
                  <a:srgbClr val="000000"/>
                </a:solidFill>
                <a:latin typeface="Aptos"/>
                <a:ea typeface="Arial"/>
                <a:cs typeface="Arial"/>
              </a:rPr>
              <a:t>intense interfacial</a:t>
            </a:r>
            <a:r>
              <a:rPr lang="en-GB" sz="1600" b="0" i="0" u="none" strike="noStrike" baseline="0">
                <a:solidFill>
                  <a:srgbClr val="000000"/>
                </a:solidFill>
                <a:latin typeface="Aptos"/>
                <a:ea typeface="Arial"/>
                <a:cs typeface="Arial"/>
              </a:rPr>
              <a:t> shear between the opposing rotational streams. </a:t>
            </a:r>
            <a:r>
              <a:rPr lang="en-GB" sz="1600" b="0" i="0">
                <a:solidFill>
                  <a:srgbClr val="000000"/>
                </a:solidFill>
                <a:latin typeface="Aptos"/>
                <a:ea typeface="Arial"/>
                <a:cs typeface="Arial"/>
              </a:rPr>
              <a:t>​</a:t>
            </a:r>
          </a:p>
          <a:p>
            <a:pPr algn="ctr"/>
            <a:endParaRPr lang="en-GB"/>
          </a:p>
        </p:txBody>
      </p:sp>
    </p:spTree>
    <p:extLst>
      <p:ext uri="{BB962C8B-B14F-4D97-AF65-F5344CB8AC3E}">
        <p14:creationId xmlns:p14="http://schemas.microsoft.com/office/powerpoint/2010/main" val="2333971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5226-D124-094E-5023-5EA559062630}"/>
              </a:ext>
            </a:extLst>
          </p:cNvPr>
          <p:cNvSpPr>
            <a:spLocks noGrp="1"/>
          </p:cNvSpPr>
          <p:nvPr>
            <p:ph type="title"/>
          </p:nvPr>
        </p:nvSpPr>
        <p:spPr/>
        <p:txBody>
          <a:bodyPr/>
          <a:lstStyle/>
          <a:p>
            <a:r>
              <a:rPr lang="en-GB"/>
              <a:t>Appendix B: Co vs Counter</a:t>
            </a:r>
            <a:endParaRPr lang="en-US"/>
          </a:p>
        </p:txBody>
      </p:sp>
      <p:pic>
        <p:nvPicPr>
          <p:cNvPr id="3" name="Picture 2" descr="A graph of a graph&#10;&#10;AI-generated content may be incorrect.">
            <a:extLst>
              <a:ext uri="{FF2B5EF4-FFF2-40B4-BE49-F238E27FC236}">
                <a16:creationId xmlns:a16="http://schemas.microsoft.com/office/drawing/2014/main" id="{9505F4CE-0036-E95E-D11C-28E47DD6FED9}"/>
              </a:ext>
            </a:extLst>
          </p:cNvPr>
          <p:cNvPicPr>
            <a:picLocks noChangeAspect="1"/>
          </p:cNvPicPr>
          <p:nvPr/>
        </p:nvPicPr>
        <p:blipFill>
          <a:blip r:embed="rId2"/>
          <a:stretch>
            <a:fillRect/>
          </a:stretch>
        </p:blipFill>
        <p:spPr>
          <a:xfrm>
            <a:off x="0" y="1092194"/>
            <a:ext cx="8244416" cy="2556947"/>
          </a:xfrm>
          <a:prstGeom prst="rect">
            <a:avLst/>
          </a:prstGeom>
        </p:spPr>
      </p:pic>
      <p:pic>
        <p:nvPicPr>
          <p:cNvPr id="4" name="Picture 3" descr="A graph of a graph&#10;&#10;AI-generated content may be incorrect.">
            <a:extLst>
              <a:ext uri="{FF2B5EF4-FFF2-40B4-BE49-F238E27FC236}">
                <a16:creationId xmlns:a16="http://schemas.microsoft.com/office/drawing/2014/main" id="{F4679701-3815-B714-5374-AF9E9502EACD}"/>
              </a:ext>
            </a:extLst>
          </p:cNvPr>
          <p:cNvPicPr>
            <a:picLocks noChangeAspect="1"/>
          </p:cNvPicPr>
          <p:nvPr/>
        </p:nvPicPr>
        <p:blipFill>
          <a:blip r:embed="rId3"/>
          <a:stretch>
            <a:fillRect/>
          </a:stretch>
        </p:blipFill>
        <p:spPr>
          <a:xfrm>
            <a:off x="0" y="3651897"/>
            <a:ext cx="8244416" cy="2559874"/>
          </a:xfrm>
          <a:prstGeom prst="rect">
            <a:avLst/>
          </a:prstGeom>
        </p:spPr>
      </p:pic>
    </p:spTree>
    <p:extLst>
      <p:ext uri="{BB962C8B-B14F-4D97-AF65-F5344CB8AC3E}">
        <p14:creationId xmlns:p14="http://schemas.microsoft.com/office/powerpoint/2010/main" val="1529367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F4D1-E951-0231-4EE4-3E8672C57C35}"/>
              </a:ext>
            </a:extLst>
          </p:cNvPr>
          <p:cNvSpPr>
            <a:spLocks noGrp="1"/>
          </p:cNvSpPr>
          <p:nvPr>
            <p:ph type="title"/>
          </p:nvPr>
        </p:nvSpPr>
        <p:spPr/>
        <p:txBody>
          <a:bodyPr/>
          <a:lstStyle/>
          <a:p>
            <a:r>
              <a:rPr lang="en-GB"/>
              <a:t>Appendix B: Co vs Counter</a:t>
            </a:r>
            <a:endParaRPr lang="en-US"/>
          </a:p>
        </p:txBody>
      </p:sp>
      <p:pic>
        <p:nvPicPr>
          <p:cNvPr id="3" name="Picture 2" descr="A graph of a graph&#10;&#10;AI-generated content may be incorrect.">
            <a:extLst>
              <a:ext uri="{FF2B5EF4-FFF2-40B4-BE49-F238E27FC236}">
                <a16:creationId xmlns:a16="http://schemas.microsoft.com/office/drawing/2014/main" id="{F93602B0-3EBF-C004-4407-E96FAA913F19}"/>
              </a:ext>
            </a:extLst>
          </p:cNvPr>
          <p:cNvPicPr>
            <a:picLocks noChangeAspect="1"/>
          </p:cNvPicPr>
          <p:nvPr/>
        </p:nvPicPr>
        <p:blipFill>
          <a:blip r:embed="rId2"/>
          <a:stretch>
            <a:fillRect/>
          </a:stretch>
        </p:blipFill>
        <p:spPr>
          <a:xfrm>
            <a:off x="0" y="1100768"/>
            <a:ext cx="8149167" cy="2592716"/>
          </a:xfrm>
          <a:prstGeom prst="rect">
            <a:avLst/>
          </a:prstGeom>
        </p:spPr>
      </p:pic>
      <p:pic>
        <p:nvPicPr>
          <p:cNvPr id="4" name="Picture 3" descr="A graph of a graph&#10;&#10;AI-generated content may be incorrect.">
            <a:extLst>
              <a:ext uri="{FF2B5EF4-FFF2-40B4-BE49-F238E27FC236}">
                <a16:creationId xmlns:a16="http://schemas.microsoft.com/office/drawing/2014/main" id="{BB74DE34-C424-7654-7DB2-F00573D63D9D}"/>
              </a:ext>
            </a:extLst>
          </p:cNvPr>
          <p:cNvPicPr>
            <a:picLocks noChangeAspect="1"/>
          </p:cNvPicPr>
          <p:nvPr/>
        </p:nvPicPr>
        <p:blipFill>
          <a:blip r:embed="rId3"/>
          <a:stretch>
            <a:fillRect/>
          </a:stretch>
        </p:blipFill>
        <p:spPr>
          <a:xfrm>
            <a:off x="0" y="3690838"/>
            <a:ext cx="8149167" cy="2460824"/>
          </a:xfrm>
          <a:prstGeom prst="rect">
            <a:avLst/>
          </a:prstGeom>
        </p:spPr>
      </p:pic>
    </p:spTree>
    <p:extLst>
      <p:ext uri="{BB962C8B-B14F-4D97-AF65-F5344CB8AC3E}">
        <p14:creationId xmlns:p14="http://schemas.microsoft.com/office/powerpoint/2010/main" val="3137555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96727-4B05-AD9E-8B78-BE1368EB8129}"/>
              </a:ext>
            </a:extLst>
          </p:cNvPr>
          <p:cNvSpPr>
            <a:spLocks noGrp="1"/>
          </p:cNvSpPr>
          <p:nvPr>
            <p:ph type="title"/>
          </p:nvPr>
        </p:nvSpPr>
        <p:spPr/>
        <p:txBody>
          <a:bodyPr/>
          <a:lstStyle/>
          <a:p>
            <a:r>
              <a:rPr lang="en-GB"/>
              <a:t>Appendix B: CRZ development downstream</a:t>
            </a:r>
            <a:endParaRPr lang="en-US"/>
          </a:p>
        </p:txBody>
      </p:sp>
      <p:pic>
        <p:nvPicPr>
          <p:cNvPr id="3" name="Picture 2" descr="A group of green squares with red and blue circles&#10;&#10;AI-generated content may be incorrect.">
            <a:extLst>
              <a:ext uri="{FF2B5EF4-FFF2-40B4-BE49-F238E27FC236}">
                <a16:creationId xmlns:a16="http://schemas.microsoft.com/office/drawing/2014/main" id="{86C54AB9-2CA6-F4F6-C274-3A2B8728847A}"/>
              </a:ext>
            </a:extLst>
          </p:cNvPr>
          <p:cNvPicPr>
            <a:picLocks noChangeAspect="1"/>
          </p:cNvPicPr>
          <p:nvPr/>
        </p:nvPicPr>
        <p:blipFill>
          <a:blip r:embed="rId2"/>
          <a:srcRect t="1667" b="238"/>
          <a:stretch>
            <a:fillRect/>
          </a:stretch>
        </p:blipFill>
        <p:spPr>
          <a:xfrm>
            <a:off x="0" y="1251478"/>
            <a:ext cx="3346750" cy="4331444"/>
          </a:xfrm>
          <a:prstGeom prst="rect">
            <a:avLst/>
          </a:prstGeom>
        </p:spPr>
      </p:pic>
      <p:pic>
        <p:nvPicPr>
          <p:cNvPr id="4" name="Picture 3" descr="A green and yellow bar with black text&#10;&#10;AI-generated content may be incorrect.">
            <a:extLst>
              <a:ext uri="{FF2B5EF4-FFF2-40B4-BE49-F238E27FC236}">
                <a16:creationId xmlns:a16="http://schemas.microsoft.com/office/drawing/2014/main" id="{62A6C81E-C8F5-EC73-62AF-D33FBF18CB59}"/>
              </a:ext>
            </a:extLst>
          </p:cNvPr>
          <p:cNvPicPr>
            <a:picLocks noChangeAspect="1"/>
          </p:cNvPicPr>
          <p:nvPr/>
        </p:nvPicPr>
        <p:blipFill>
          <a:blip r:embed="rId3"/>
          <a:stretch>
            <a:fillRect/>
          </a:stretch>
        </p:blipFill>
        <p:spPr>
          <a:xfrm>
            <a:off x="262996" y="5583239"/>
            <a:ext cx="3008842" cy="475191"/>
          </a:xfrm>
          <a:prstGeom prst="rect">
            <a:avLst/>
          </a:prstGeom>
        </p:spPr>
      </p:pic>
      <p:pic>
        <p:nvPicPr>
          <p:cNvPr id="5" name="Picture 4" descr="A group of images of different colors&#10;&#10;AI-generated content may be incorrect.">
            <a:extLst>
              <a:ext uri="{FF2B5EF4-FFF2-40B4-BE49-F238E27FC236}">
                <a16:creationId xmlns:a16="http://schemas.microsoft.com/office/drawing/2014/main" id="{89C1A0D9-4334-E831-2833-BF863610254D}"/>
              </a:ext>
            </a:extLst>
          </p:cNvPr>
          <p:cNvPicPr>
            <a:picLocks noChangeAspect="1"/>
          </p:cNvPicPr>
          <p:nvPr/>
        </p:nvPicPr>
        <p:blipFill>
          <a:blip r:embed="rId4"/>
          <a:stretch>
            <a:fillRect/>
          </a:stretch>
        </p:blipFill>
        <p:spPr>
          <a:xfrm>
            <a:off x="3342167" y="1217081"/>
            <a:ext cx="3105250" cy="4318001"/>
          </a:xfrm>
          <a:prstGeom prst="rect">
            <a:avLst/>
          </a:prstGeom>
        </p:spPr>
      </p:pic>
      <p:pic>
        <p:nvPicPr>
          <p:cNvPr id="6" name="Picture 5" descr="A green bar with black text&#10;&#10;AI-generated content may be incorrect.">
            <a:extLst>
              <a:ext uri="{FF2B5EF4-FFF2-40B4-BE49-F238E27FC236}">
                <a16:creationId xmlns:a16="http://schemas.microsoft.com/office/drawing/2014/main" id="{B9A1E192-DE22-3187-61B7-FB010F0354FC}"/>
              </a:ext>
            </a:extLst>
          </p:cNvPr>
          <p:cNvPicPr>
            <a:picLocks noChangeAspect="1"/>
          </p:cNvPicPr>
          <p:nvPr/>
        </p:nvPicPr>
        <p:blipFill>
          <a:blip r:embed="rId5"/>
          <a:stretch>
            <a:fillRect/>
          </a:stretch>
        </p:blipFill>
        <p:spPr>
          <a:xfrm>
            <a:off x="3427413" y="5589058"/>
            <a:ext cx="3104093" cy="463551"/>
          </a:xfrm>
          <a:prstGeom prst="rect">
            <a:avLst/>
          </a:prstGeom>
        </p:spPr>
      </p:pic>
      <p:pic>
        <p:nvPicPr>
          <p:cNvPr id="7" name="Picture 6" descr="A group of green squares with red circles&#10;&#10;AI-generated content may be incorrect.">
            <a:extLst>
              <a:ext uri="{FF2B5EF4-FFF2-40B4-BE49-F238E27FC236}">
                <a16:creationId xmlns:a16="http://schemas.microsoft.com/office/drawing/2014/main" id="{986C878D-5F29-D18B-17F0-43834DF938B0}"/>
              </a:ext>
            </a:extLst>
          </p:cNvPr>
          <p:cNvPicPr>
            <a:picLocks noChangeAspect="1"/>
          </p:cNvPicPr>
          <p:nvPr/>
        </p:nvPicPr>
        <p:blipFill>
          <a:blip r:embed="rId6"/>
          <a:srcRect l="150" t="796" b="-1287"/>
          <a:stretch>
            <a:fillRect/>
          </a:stretch>
        </p:blipFill>
        <p:spPr>
          <a:xfrm>
            <a:off x="6443084" y="1198561"/>
            <a:ext cx="3180819" cy="4339172"/>
          </a:xfrm>
          <a:prstGeom prst="rect">
            <a:avLst/>
          </a:prstGeom>
        </p:spPr>
      </p:pic>
      <p:pic>
        <p:nvPicPr>
          <p:cNvPr id="8" name="Picture 7" descr="A green and yellow bar&#10;&#10;AI-generated content may be incorrect.">
            <a:extLst>
              <a:ext uri="{FF2B5EF4-FFF2-40B4-BE49-F238E27FC236}">
                <a16:creationId xmlns:a16="http://schemas.microsoft.com/office/drawing/2014/main" id="{DB52D544-FE60-5D1A-4E14-FEF87AB6788F}"/>
              </a:ext>
            </a:extLst>
          </p:cNvPr>
          <p:cNvPicPr>
            <a:picLocks noChangeAspect="1"/>
          </p:cNvPicPr>
          <p:nvPr/>
        </p:nvPicPr>
        <p:blipFill>
          <a:blip r:embed="rId7"/>
          <a:stretch>
            <a:fillRect/>
          </a:stretch>
        </p:blipFill>
        <p:spPr>
          <a:xfrm>
            <a:off x="6703484" y="5585883"/>
            <a:ext cx="3092451" cy="469901"/>
          </a:xfrm>
          <a:prstGeom prst="rect">
            <a:avLst/>
          </a:prstGeom>
        </p:spPr>
      </p:pic>
      <p:sp>
        <p:nvSpPr>
          <p:cNvPr id="9" name="TextBox 8">
            <a:extLst>
              <a:ext uri="{FF2B5EF4-FFF2-40B4-BE49-F238E27FC236}">
                <a16:creationId xmlns:a16="http://schemas.microsoft.com/office/drawing/2014/main" id="{4BFCDD28-D4E2-501E-A6A4-33DCB07C3294}"/>
              </a:ext>
            </a:extLst>
          </p:cNvPr>
          <p:cNvSpPr txBox="1"/>
          <p:nvPr/>
        </p:nvSpPr>
        <p:spPr>
          <a:xfrm>
            <a:off x="772582" y="910167"/>
            <a:ext cx="227541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solidFill>
                  <a:srgbClr val="FF0000"/>
                </a:solidFill>
              </a:rPr>
              <a:t>Evolution of Vx </a:t>
            </a:r>
            <a:r>
              <a:rPr lang="en-GB" sz="1600" err="1">
                <a:solidFill>
                  <a:srgbClr val="FF0000"/>
                </a:solidFill>
              </a:rPr>
              <a:t>velocit</a:t>
            </a:r>
            <a:r>
              <a:rPr lang="en-GB" sz="1600">
                <a:solidFill>
                  <a:srgbClr val="FF0000"/>
                </a:solidFill>
              </a:rPr>
              <a:t>y</a:t>
            </a:r>
          </a:p>
        </p:txBody>
      </p:sp>
      <p:sp>
        <p:nvSpPr>
          <p:cNvPr id="10" name="TextBox 9">
            <a:extLst>
              <a:ext uri="{FF2B5EF4-FFF2-40B4-BE49-F238E27FC236}">
                <a16:creationId xmlns:a16="http://schemas.microsoft.com/office/drawing/2014/main" id="{B4DD8749-D7A1-781E-32B4-CCAD14F57E07}"/>
              </a:ext>
            </a:extLst>
          </p:cNvPr>
          <p:cNvSpPr txBox="1"/>
          <p:nvPr/>
        </p:nvSpPr>
        <p:spPr>
          <a:xfrm>
            <a:off x="4106333" y="910167"/>
            <a:ext cx="2846916"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solidFill>
                  <a:srgbClr val="FF0000"/>
                </a:solidFill>
              </a:rPr>
              <a:t>Evolution of </a:t>
            </a:r>
            <a:r>
              <a:rPr lang="en-GB" sz="1600" err="1">
                <a:solidFill>
                  <a:srgbClr val="FF0000"/>
                </a:solidFill>
              </a:rPr>
              <a:t>Vz</a:t>
            </a:r>
            <a:r>
              <a:rPr lang="en-GB" sz="1600">
                <a:solidFill>
                  <a:srgbClr val="FF0000"/>
                </a:solidFill>
              </a:rPr>
              <a:t> velocity</a:t>
            </a:r>
          </a:p>
          <a:p>
            <a:pPr algn="l"/>
            <a:endParaRPr lang="en-GB"/>
          </a:p>
        </p:txBody>
      </p:sp>
      <p:sp>
        <p:nvSpPr>
          <p:cNvPr id="11" name="TextBox 10">
            <a:extLst>
              <a:ext uri="{FF2B5EF4-FFF2-40B4-BE49-F238E27FC236}">
                <a16:creationId xmlns:a16="http://schemas.microsoft.com/office/drawing/2014/main" id="{70CE9450-2F11-DB0C-0CC4-5D8522C9367B}"/>
              </a:ext>
            </a:extLst>
          </p:cNvPr>
          <p:cNvSpPr txBox="1"/>
          <p:nvPr/>
        </p:nvSpPr>
        <p:spPr>
          <a:xfrm>
            <a:off x="6953249" y="941916"/>
            <a:ext cx="2931583"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solidFill>
                  <a:srgbClr val="FF0000"/>
                </a:solidFill>
              </a:rPr>
              <a:t>Evolution of Vy velocity</a:t>
            </a:r>
          </a:p>
          <a:p>
            <a:pPr algn="l"/>
            <a:endParaRPr lang="en-GB"/>
          </a:p>
        </p:txBody>
      </p:sp>
      <p:sp>
        <p:nvSpPr>
          <p:cNvPr id="12" name="TextBox 11">
            <a:extLst>
              <a:ext uri="{FF2B5EF4-FFF2-40B4-BE49-F238E27FC236}">
                <a16:creationId xmlns:a16="http://schemas.microsoft.com/office/drawing/2014/main" id="{D3C50BA3-62AC-8BF0-2F1B-7E39363792C6}"/>
              </a:ext>
            </a:extLst>
          </p:cNvPr>
          <p:cNvSpPr txBox="1"/>
          <p:nvPr/>
        </p:nvSpPr>
        <p:spPr>
          <a:xfrm>
            <a:off x="9725025" y="1390650"/>
            <a:ext cx="2466975"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i="0" u="none" strike="noStrike" baseline="0">
                <a:solidFill>
                  <a:srgbClr val="000000"/>
                </a:solidFill>
                <a:latin typeface="Aptos"/>
                <a:ea typeface="Arial"/>
                <a:cs typeface="Arial"/>
              </a:rPr>
              <a:t>CRZ Collapse:</a:t>
            </a:r>
            <a:r>
              <a:rPr lang="en-GB" sz="1400" b="0" i="0" u="none" strike="noStrike" baseline="0">
                <a:solidFill>
                  <a:srgbClr val="000000"/>
                </a:solidFill>
                <a:latin typeface="Aptos"/>
                <a:ea typeface="Arial"/>
                <a:cs typeface="Arial"/>
              </a:rPr>
              <a:t> </a:t>
            </a:r>
            <a:r>
              <a:rPr lang="en-GB" sz="1400">
                <a:solidFill>
                  <a:srgbClr val="000000"/>
                </a:solidFill>
                <a:latin typeface="Aptos"/>
                <a:ea typeface="Arial"/>
                <a:cs typeface="Arial"/>
              </a:rPr>
              <a:t>The opposing</a:t>
            </a:r>
            <a:r>
              <a:rPr lang="en-GB" sz="1400" b="0" i="0" u="none" strike="noStrike" baseline="0">
                <a:solidFill>
                  <a:srgbClr val="000000"/>
                </a:solidFill>
                <a:latin typeface="Aptos"/>
                <a:ea typeface="Arial"/>
                <a:cs typeface="Arial"/>
              </a:rPr>
              <a:t> momentum</a:t>
            </a:r>
            <a:r>
              <a:rPr lang="en-GB" sz="1400">
                <a:solidFill>
                  <a:srgbClr val="000000"/>
                </a:solidFill>
                <a:latin typeface="Aptos"/>
                <a:ea typeface="Arial"/>
                <a:cs typeface="Arial"/>
              </a:rPr>
              <a:t> in counter swirl suppresses</a:t>
            </a:r>
            <a:r>
              <a:rPr lang="en-GB" sz="1400" b="0" i="0" u="none" strike="noStrike" baseline="0">
                <a:solidFill>
                  <a:srgbClr val="000000"/>
                </a:solidFill>
                <a:latin typeface="Aptos"/>
                <a:ea typeface="Arial"/>
                <a:cs typeface="Arial"/>
              </a:rPr>
              <a:t> centrifugal expansion,</a:t>
            </a:r>
            <a:r>
              <a:rPr lang="en-GB" sz="1400">
                <a:solidFill>
                  <a:srgbClr val="000000"/>
                </a:solidFill>
                <a:latin typeface="Aptos"/>
                <a:ea typeface="Arial"/>
                <a:cs typeface="Arial"/>
              </a:rPr>
              <a:t> </a:t>
            </a:r>
            <a:r>
              <a:rPr lang="en-GB" sz="1400" b="0" i="0" u="none" strike="noStrike" baseline="0">
                <a:solidFill>
                  <a:srgbClr val="000000"/>
                </a:solidFill>
                <a:latin typeface="Aptos"/>
                <a:ea typeface="Arial"/>
                <a:cs typeface="Arial"/>
              </a:rPr>
              <a:t>preventing the flow from inducing the strong adverse axial pressure </a:t>
            </a:r>
            <a:r>
              <a:rPr lang="en-GB" sz="1400">
                <a:solidFill>
                  <a:srgbClr val="000000"/>
                </a:solidFill>
                <a:latin typeface="Aptos"/>
                <a:ea typeface="Arial"/>
                <a:cs typeface="Arial"/>
              </a:rPr>
              <a:t>gradient required</a:t>
            </a:r>
            <a:r>
              <a:rPr lang="en-GB" sz="1400" b="0" i="0" u="none" strike="noStrike" baseline="0">
                <a:solidFill>
                  <a:srgbClr val="000000"/>
                </a:solidFill>
                <a:latin typeface="Aptos"/>
                <a:ea typeface="Arial"/>
                <a:cs typeface="Arial"/>
              </a:rPr>
              <a:t> to sustain vortex breakdown, ultimately causing the CRZ to </a:t>
            </a:r>
            <a:r>
              <a:rPr lang="en-GB" sz="1400">
                <a:solidFill>
                  <a:srgbClr val="000000"/>
                </a:solidFill>
                <a:latin typeface="Aptos"/>
                <a:ea typeface="Arial"/>
                <a:cs typeface="Arial"/>
              </a:rPr>
              <a:t>narrow and</a:t>
            </a:r>
            <a:r>
              <a:rPr lang="en-GB" sz="1400" b="0" i="0" u="none" strike="noStrike" baseline="0">
                <a:solidFill>
                  <a:srgbClr val="000000"/>
                </a:solidFill>
                <a:latin typeface="Aptos"/>
                <a:ea typeface="Arial"/>
                <a:cs typeface="Arial"/>
              </a:rPr>
              <a:t> collapse into a forward-moving turbulent jet. </a:t>
            </a:r>
            <a:r>
              <a:rPr lang="en-GB" sz="1400" b="0" i="0">
                <a:solidFill>
                  <a:srgbClr val="000000"/>
                </a:solidFill>
                <a:latin typeface="Aptos"/>
                <a:ea typeface="Arial"/>
                <a:cs typeface="Arial"/>
              </a:rPr>
              <a:t>​</a:t>
            </a:r>
            <a:endParaRPr lang="en-US" sz="1400"/>
          </a:p>
        </p:txBody>
      </p:sp>
      <p:sp>
        <p:nvSpPr>
          <p:cNvPr id="13" name="TextBox 12">
            <a:extLst>
              <a:ext uri="{FF2B5EF4-FFF2-40B4-BE49-F238E27FC236}">
                <a16:creationId xmlns:a16="http://schemas.microsoft.com/office/drawing/2014/main" id="{CC34E0DF-C396-3696-8AFE-3BBCD03F1B39}"/>
              </a:ext>
            </a:extLst>
          </p:cNvPr>
          <p:cNvSpPr txBox="1"/>
          <p:nvPr/>
        </p:nvSpPr>
        <p:spPr>
          <a:xfrm>
            <a:off x="9804400" y="4170680"/>
            <a:ext cx="2306320"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i="0" u="none" strike="noStrike" baseline="0">
                <a:solidFill>
                  <a:srgbClr val="000000"/>
                </a:solidFill>
                <a:latin typeface="Google Sans Text"/>
              </a:rPr>
              <a:t>Result:</a:t>
            </a:r>
            <a:r>
              <a:rPr lang="en-US" sz="1400" b="0" i="0" u="none" strike="noStrike" baseline="0">
                <a:solidFill>
                  <a:srgbClr val="000000"/>
                </a:solidFill>
                <a:latin typeface="Google Sans Text"/>
              </a:rPr>
              <a:t> The wide, aerodynamically stable recirculation zone narrows &amp; weakens, transitioning into a more jet-like, forward-moving core.</a:t>
            </a:r>
            <a:r>
              <a:rPr sz="1400" b="0" i="0">
                <a:solidFill>
                  <a:srgbClr val="000000"/>
                </a:solidFill>
                <a:latin typeface="Google Sans Text"/>
                <a:ea typeface="Google Sans Text"/>
                <a:cs typeface="Google Sans Text"/>
              </a:rPr>
              <a:t>​</a:t>
            </a:r>
            <a:endParaRPr lang="en-GB" sz="1400"/>
          </a:p>
          <a:p>
            <a:pPr algn="ctr"/>
            <a:endParaRPr lang="en-GB"/>
          </a:p>
        </p:txBody>
      </p:sp>
    </p:spTree>
    <p:extLst>
      <p:ext uri="{BB962C8B-B14F-4D97-AF65-F5344CB8AC3E}">
        <p14:creationId xmlns:p14="http://schemas.microsoft.com/office/powerpoint/2010/main" val="17164519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BD0DC-8E9B-343B-34AC-C8B39B393544}"/>
              </a:ext>
            </a:extLst>
          </p:cNvPr>
          <p:cNvSpPr>
            <a:spLocks noGrp="1"/>
          </p:cNvSpPr>
          <p:nvPr>
            <p:ph type="title"/>
          </p:nvPr>
        </p:nvSpPr>
        <p:spPr/>
        <p:txBody>
          <a:bodyPr/>
          <a:lstStyle/>
          <a:p>
            <a:r>
              <a:rPr lang="en-GB"/>
              <a:t>Appendix B: TKE</a:t>
            </a:r>
            <a:endParaRPr lang="en-US"/>
          </a:p>
        </p:txBody>
      </p:sp>
      <p:pic>
        <p:nvPicPr>
          <p:cNvPr id="3" name="Picture 2">
            <a:extLst>
              <a:ext uri="{FF2B5EF4-FFF2-40B4-BE49-F238E27FC236}">
                <a16:creationId xmlns:a16="http://schemas.microsoft.com/office/drawing/2014/main" id="{D0A3DC25-29FA-F052-A547-8FC96F861DC5}"/>
              </a:ext>
            </a:extLst>
          </p:cNvPr>
          <p:cNvPicPr>
            <a:picLocks noChangeAspect="1"/>
          </p:cNvPicPr>
          <p:nvPr/>
        </p:nvPicPr>
        <p:blipFill>
          <a:blip r:embed="rId2"/>
          <a:stretch>
            <a:fillRect/>
          </a:stretch>
        </p:blipFill>
        <p:spPr>
          <a:xfrm>
            <a:off x="530" y="1128183"/>
            <a:ext cx="5713942" cy="2559050"/>
          </a:xfrm>
          <a:prstGeom prst="rect">
            <a:avLst/>
          </a:prstGeom>
        </p:spPr>
      </p:pic>
      <p:pic>
        <p:nvPicPr>
          <p:cNvPr id="4" name="Picture 3">
            <a:extLst>
              <a:ext uri="{FF2B5EF4-FFF2-40B4-BE49-F238E27FC236}">
                <a16:creationId xmlns:a16="http://schemas.microsoft.com/office/drawing/2014/main" id="{05DBA5BC-11CC-1C25-D770-F3F917124FF0}"/>
              </a:ext>
            </a:extLst>
          </p:cNvPr>
          <p:cNvPicPr>
            <a:picLocks noChangeAspect="1"/>
          </p:cNvPicPr>
          <p:nvPr/>
        </p:nvPicPr>
        <p:blipFill>
          <a:blip r:embed="rId3"/>
          <a:stretch>
            <a:fillRect/>
          </a:stretch>
        </p:blipFill>
        <p:spPr>
          <a:xfrm>
            <a:off x="5716588" y="1132417"/>
            <a:ext cx="6473825" cy="1883834"/>
          </a:xfrm>
          <a:prstGeom prst="rect">
            <a:avLst/>
          </a:prstGeom>
        </p:spPr>
      </p:pic>
      <p:pic>
        <p:nvPicPr>
          <p:cNvPr id="5" name="Picture 4">
            <a:extLst>
              <a:ext uri="{FF2B5EF4-FFF2-40B4-BE49-F238E27FC236}">
                <a16:creationId xmlns:a16="http://schemas.microsoft.com/office/drawing/2014/main" id="{ADD74DD4-50E1-EF27-57B0-0C6F15850047}"/>
              </a:ext>
            </a:extLst>
          </p:cNvPr>
          <p:cNvPicPr>
            <a:picLocks noChangeAspect="1"/>
          </p:cNvPicPr>
          <p:nvPr/>
        </p:nvPicPr>
        <p:blipFill>
          <a:blip r:embed="rId4"/>
          <a:stretch>
            <a:fillRect/>
          </a:stretch>
        </p:blipFill>
        <p:spPr>
          <a:xfrm>
            <a:off x="5716058" y="3019955"/>
            <a:ext cx="6474884" cy="1876425"/>
          </a:xfrm>
          <a:prstGeom prst="rect">
            <a:avLst/>
          </a:prstGeom>
        </p:spPr>
      </p:pic>
      <p:sp>
        <p:nvSpPr>
          <p:cNvPr id="6" name="TextBox 5">
            <a:extLst>
              <a:ext uri="{FF2B5EF4-FFF2-40B4-BE49-F238E27FC236}">
                <a16:creationId xmlns:a16="http://schemas.microsoft.com/office/drawing/2014/main" id="{C8071002-B7AB-AE83-EFBD-49923CAE0897}"/>
              </a:ext>
            </a:extLst>
          </p:cNvPr>
          <p:cNvSpPr txBox="1"/>
          <p:nvPr/>
        </p:nvSpPr>
        <p:spPr>
          <a:xfrm>
            <a:off x="6665057" y="5270500"/>
            <a:ext cx="482599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rgbClr val="0070C0"/>
                </a:solidFill>
                <a:ea typeface="+mn-lt"/>
                <a:cs typeface="+mn-lt"/>
              </a:rPr>
              <a:t>Turbulent Kinetic Energy acts as a </a:t>
            </a:r>
            <a:r>
              <a:rPr lang="en-GB" dirty="0">
                <a:solidFill>
                  <a:srgbClr val="0070C0"/>
                </a:solidFill>
                <a:ea typeface="+mn-lt"/>
                <a:cs typeface="+mn-lt"/>
              </a:rPr>
              <a:t>primary indicator of </a:t>
            </a:r>
            <a:r>
              <a:rPr lang="en-GB">
                <a:solidFill>
                  <a:srgbClr val="0070C0"/>
                </a:solidFill>
                <a:ea typeface="+mn-lt"/>
                <a:cs typeface="+mn-lt"/>
              </a:rPr>
              <a:t>momentum dissipation within the flow field.</a:t>
            </a:r>
            <a:endParaRPr lang="en-GB" dirty="0">
              <a:solidFill>
                <a:srgbClr val="0070C0"/>
              </a:solidFill>
              <a:ea typeface="+mn-lt"/>
              <a:cs typeface="+mn-lt"/>
            </a:endParaRPr>
          </a:p>
        </p:txBody>
      </p:sp>
      <p:sp>
        <p:nvSpPr>
          <p:cNvPr id="7" name="TextBox 6">
            <a:extLst>
              <a:ext uri="{FF2B5EF4-FFF2-40B4-BE49-F238E27FC236}">
                <a16:creationId xmlns:a16="http://schemas.microsoft.com/office/drawing/2014/main" id="{90422889-8C3F-3E7E-7480-13532A9F519C}"/>
              </a:ext>
            </a:extLst>
          </p:cNvPr>
          <p:cNvSpPr txBox="1"/>
          <p:nvPr/>
        </p:nvSpPr>
        <p:spPr>
          <a:xfrm>
            <a:off x="0" y="3761154"/>
            <a:ext cx="2686540"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t>Co-Swirl's Sustained Momentum:</a:t>
            </a:r>
            <a:r>
              <a:rPr lang="en-US" sz="1400"/>
              <a:t> In the co-rotating baseline, uniform rotation allows the flow to preserve its angular momentum. As a result, the TKE generation is sustained and actively distributes along the expanding outer shear layers, migrating radially outward as it moves downstream.</a:t>
            </a:r>
          </a:p>
        </p:txBody>
      </p:sp>
      <p:sp>
        <p:nvSpPr>
          <p:cNvPr id="8" name="TextBox 7">
            <a:extLst>
              <a:ext uri="{FF2B5EF4-FFF2-40B4-BE49-F238E27FC236}">
                <a16:creationId xmlns:a16="http://schemas.microsoft.com/office/drawing/2014/main" id="{E46DCB8B-2C79-719E-C7A4-E935C6B307B4}"/>
              </a:ext>
            </a:extLst>
          </p:cNvPr>
          <p:cNvSpPr txBox="1"/>
          <p:nvPr/>
        </p:nvSpPr>
        <p:spPr>
          <a:xfrm>
            <a:off x="2686538" y="3761154"/>
            <a:ext cx="3048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t>Counter-Swirl's Premature Sink:</a:t>
            </a:r>
            <a:r>
              <a:rPr lang="en-US" sz="1400" dirty="0"/>
              <a:t> Reversing the inner swirl creates a region of extreme, localized shear right at the interface of the two jets at the dump plane. This violent velocity gradient acts as a massive, premature "sink", rapidly extracting kinetic energy from the mean swirling flow early in </a:t>
            </a:r>
            <a:r>
              <a:rPr lang="en-US" sz="1400"/>
              <a:t>the domain</a:t>
            </a:r>
            <a:endParaRPr lang="en-US" sz="1400" dirty="0"/>
          </a:p>
        </p:txBody>
      </p:sp>
    </p:spTree>
    <p:extLst>
      <p:ext uri="{BB962C8B-B14F-4D97-AF65-F5344CB8AC3E}">
        <p14:creationId xmlns:p14="http://schemas.microsoft.com/office/powerpoint/2010/main" val="8590445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4C663-931E-64C5-659F-0D17BA80E004}"/>
              </a:ext>
            </a:extLst>
          </p:cNvPr>
          <p:cNvSpPr>
            <a:spLocks noGrp="1"/>
          </p:cNvSpPr>
          <p:nvPr>
            <p:ph type="title"/>
          </p:nvPr>
        </p:nvSpPr>
        <p:spPr>
          <a:xfrm>
            <a:off x="105355" y="90617"/>
            <a:ext cx="8516437" cy="543697"/>
          </a:xfrm>
        </p:spPr>
        <p:txBody>
          <a:bodyPr>
            <a:normAutofit fontScale="90000"/>
          </a:bodyPr>
          <a:lstStyle/>
          <a:p>
            <a:r>
              <a:rPr lang="en-GB"/>
              <a:t>Appendix C: Other Co-swirl configurations with premixing</a:t>
            </a:r>
          </a:p>
        </p:txBody>
      </p:sp>
      <p:pic>
        <p:nvPicPr>
          <p:cNvPr id="5" name="Picture 4" descr="A black and white image of a light&#10;&#10;AI-generated content may be incorrect.">
            <a:extLst>
              <a:ext uri="{FF2B5EF4-FFF2-40B4-BE49-F238E27FC236}">
                <a16:creationId xmlns:a16="http://schemas.microsoft.com/office/drawing/2014/main" id="{2E0A26D9-46A5-20E0-1DAD-5D232E7D0FCD}"/>
              </a:ext>
            </a:extLst>
          </p:cNvPr>
          <p:cNvPicPr>
            <a:picLocks noChangeAspect="1"/>
          </p:cNvPicPr>
          <p:nvPr/>
        </p:nvPicPr>
        <p:blipFill>
          <a:blip r:embed="rId2"/>
          <a:stretch>
            <a:fillRect/>
          </a:stretch>
        </p:blipFill>
        <p:spPr>
          <a:xfrm>
            <a:off x="3493" y="1095375"/>
            <a:ext cx="10335895" cy="3707130"/>
          </a:xfrm>
          <a:prstGeom prst="rect">
            <a:avLst/>
          </a:prstGeom>
        </p:spPr>
      </p:pic>
      <p:sp>
        <p:nvSpPr>
          <p:cNvPr id="3" name="TextBox 2">
            <a:extLst>
              <a:ext uri="{FF2B5EF4-FFF2-40B4-BE49-F238E27FC236}">
                <a16:creationId xmlns:a16="http://schemas.microsoft.com/office/drawing/2014/main" id="{E7CD5BA5-4BC7-1B93-00B4-0E19697C9FD6}"/>
              </a:ext>
            </a:extLst>
          </p:cNvPr>
          <p:cNvSpPr txBox="1"/>
          <p:nvPr/>
        </p:nvSpPr>
        <p:spPr>
          <a:xfrm>
            <a:off x="467360" y="5013960"/>
            <a:ext cx="6096000"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i="0" u="none" strike="noStrike" baseline="0">
                <a:solidFill>
                  <a:srgbClr val="000000"/>
                </a:solidFill>
                <a:latin typeface="Aptos"/>
                <a:ea typeface="Segoe UI"/>
                <a:cs typeface="Segoe UI"/>
              </a:rPr>
              <a:t>The </a:t>
            </a:r>
            <a:r>
              <a:rPr lang="en-GB" sz="1600" b="1" i="0" u="none" strike="noStrike" baseline="0" err="1">
                <a:solidFill>
                  <a:srgbClr val="000000"/>
                </a:solidFill>
                <a:latin typeface="Aptos"/>
                <a:ea typeface="Segoe UI"/>
                <a:cs typeface="Segoe UI"/>
              </a:rPr>
              <a:t>EINOx</a:t>
            </a:r>
            <a:r>
              <a:rPr lang="en-GB" sz="1600" b="1" i="0" u="none" strike="noStrike" baseline="0">
                <a:solidFill>
                  <a:srgbClr val="000000"/>
                </a:solidFill>
                <a:latin typeface="Aptos"/>
                <a:ea typeface="Segoe UI"/>
                <a:cs typeface="Segoe UI"/>
              </a:rPr>
              <a:t> Metric:</a:t>
            </a:r>
            <a:r>
              <a:rPr lang="en-GB" sz="1600" b="0" i="0" u="none" strike="noStrike" baseline="0">
                <a:solidFill>
                  <a:srgbClr val="000000"/>
                </a:solidFill>
                <a:latin typeface="Aptos"/>
                <a:ea typeface="Segoe UI"/>
                <a:cs typeface="Segoe UI"/>
              </a:rPr>
              <a:t> which measures the absolute mass of </a:t>
            </a:r>
            <a:r>
              <a:rPr lang="en-GB" sz="1600">
                <a:solidFill>
                  <a:srgbClr val="000000"/>
                </a:solidFill>
                <a:latin typeface="Aptos"/>
                <a:ea typeface="Segoe UI"/>
                <a:cs typeface="Segoe UI"/>
              </a:rPr>
              <a:t>NOx generated</a:t>
            </a:r>
            <a:r>
              <a:rPr lang="en-GB" sz="1600" b="0" i="0" u="none" strike="noStrike" baseline="0">
                <a:solidFill>
                  <a:srgbClr val="000000"/>
                </a:solidFill>
                <a:latin typeface="Aptos"/>
                <a:ea typeface="Segoe UI"/>
                <a:cs typeface="Segoe UI"/>
              </a:rPr>
              <a:t> per unit mass of fuel consumed (g/kg H₂) to provide </a:t>
            </a:r>
            <a:r>
              <a:rPr lang="en-GB" sz="1600">
                <a:solidFill>
                  <a:srgbClr val="000000"/>
                </a:solidFill>
                <a:latin typeface="Aptos"/>
                <a:ea typeface="Segoe UI"/>
                <a:cs typeface="Segoe UI"/>
              </a:rPr>
              <a:t>a combustor-independent</a:t>
            </a:r>
            <a:r>
              <a:rPr lang="en-GB" sz="1600" b="0" i="0" u="none" strike="noStrike" baseline="0">
                <a:solidFill>
                  <a:srgbClr val="000000"/>
                </a:solidFill>
                <a:latin typeface="Aptos"/>
                <a:ea typeface="Segoe UI"/>
                <a:cs typeface="Segoe UI"/>
              </a:rPr>
              <a:t> comparison</a:t>
            </a:r>
            <a:r>
              <a:rPr sz="1600" b="0" i="0">
                <a:solidFill>
                  <a:srgbClr val="000000"/>
                </a:solidFill>
                <a:latin typeface="Aptos"/>
                <a:ea typeface="Aptos"/>
                <a:cs typeface="Aptos"/>
              </a:rPr>
              <a:t>​</a:t>
            </a:r>
            <a:endParaRPr lang="en-GB"/>
          </a:p>
          <a:p>
            <a:pPr algn="ctr"/>
            <a:endParaRPr lang="en-GB"/>
          </a:p>
        </p:txBody>
      </p:sp>
    </p:spTree>
    <p:extLst>
      <p:ext uri="{BB962C8B-B14F-4D97-AF65-F5344CB8AC3E}">
        <p14:creationId xmlns:p14="http://schemas.microsoft.com/office/powerpoint/2010/main" val="37807661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2358</Words>
  <Application>Microsoft Office PowerPoint</Application>
  <PresentationFormat>Widescreen</PresentationFormat>
  <Paragraphs>280</Paragraphs>
  <Slides>31</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31</vt:i4>
      </vt:variant>
    </vt:vector>
  </HeadingPairs>
  <TitlesOfParts>
    <vt:vector size="43" baseType="lpstr">
      <vt:lpstr>Aptos</vt:lpstr>
      <vt:lpstr>Aptos Display</vt:lpstr>
      <vt:lpstr>Arial</vt:lpstr>
      <vt:lpstr>Arial,Sans-Serif</vt:lpstr>
      <vt:lpstr>Calibri</vt:lpstr>
      <vt:lpstr>Cambria Math</vt:lpstr>
      <vt:lpstr>Courier New</vt:lpstr>
      <vt:lpstr>Google Sans</vt:lpstr>
      <vt:lpstr>Google Sans Text</vt:lpstr>
      <vt:lpstr>Wingdings</vt:lpstr>
      <vt:lpstr>Wingdings,sans-serif</vt:lpstr>
      <vt:lpstr>Office Theme</vt:lpstr>
      <vt:lpstr>Experimental &amp; Numerical Analysis of Flow Dynamics, Flame Morphology and Emissions in a 100% Hydrogen Double-Swirl Burner under Co- &amp; Counter- Swirl Configurations</vt:lpstr>
      <vt:lpstr>Motivation- Decarbonization &amp; Hydrogen Transition</vt:lpstr>
      <vt:lpstr>The Hydrogen Challenge</vt:lpstr>
      <vt:lpstr>Burner Configuration &amp; Original Contribution</vt:lpstr>
      <vt:lpstr> Burner Configuration &amp; Original Contribution</vt:lpstr>
      <vt:lpstr>Operating Parameters summary &amp; Diagnostic tools</vt:lpstr>
      <vt:lpstr>Numerical Methodology: Meshing &amp; Solver</vt:lpstr>
      <vt:lpstr>Results: Co-Swirl Validation with PIV</vt:lpstr>
      <vt:lpstr> Counter-Swirl behaviour with respect to the Co-Swirl</vt:lpstr>
      <vt:lpstr>CRZ development downstream Co- vs Counter- @ y/D=0.75</vt:lpstr>
      <vt:lpstr>Flame Morphology: Counter-swirl with respect to Co-swirl</vt:lpstr>
      <vt:lpstr>EINOx Results &amp; Limitations</vt:lpstr>
      <vt:lpstr>Conclusions and Future Work</vt:lpstr>
      <vt:lpstr>Closing</vt:lpstr>
      <vt:lpstr>Appendix A.0 : Hydrogen Properties</vt:lpstr>
      <vt:lpstr>Appendix A:  Detailed Numerical Methodology</vt:lpstr>
      <vt:lpstr>Appendix A:  Detailed Numerical Methodology</vt:lpstr>
      <vt:lpstr>Appendix A:  Detailed Numerical Methodology</vt:lpstr>
      <vt:lpstr>Appendix A: Detailed  Numerical Methodology</vt:lpstr>
      <vt:lpstr>Appendix A: Detailed  Numerical Methodology</vt:lpstr>
      <vt:lpstr>Appendix A: Detailed  Numerical Methodology</vt:lpstr>
      <vt:lpstr>Appendix A: Mesh Independence</vt:lpstr>
      <vt:lpstr>Appendix B: CFD vs PIV</vt:lpstr>
      <vt:lpstr>Appendix B: CFD vs PIV</vt:lpstr>
      <vt:lpstr>Appendix B: CFD vs PIV</vt:lpstr>
      <vt:lpstr>Appendix B: Co vs Counter</vt:lpstr>
      <vt:lpstr>Appendix B: Co vs Counter</vt:lpstr>
      <vt:lpstr>Appendix B: Co vs Counter</vt:lpstr>
      <vt:lpstr>Appendix B: CRZ development downstream</vt:lpstr>
      <vt:lpstr>Appendix B: TKE</vt:lpstr>
      <vt:lpstr>Appendix C: Other Co-swirl configurations with premixing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Joseph Noel Kiren</cp:lastModifiedBy>
  <cp:revision>890</cp:revision>
  <dcterms:created xsi:type="dcterms:W3CDTF">2013-07-15T20:26:40Z</dcterms:created>
  <dcterms:modified xsi:type="dcterms:W3CDTF">2026-10-21T12:14:42Z</dcterms:modified>
</cp:coreProperties>
</file>